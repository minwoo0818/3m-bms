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1" r:id="rId4"/>
    <p:sldId id="258" r:id="rId5"/>
    <p:sldId id="267" r:id="rId6"/>
    <p:sldId id="259" r:id="rId7"/>
    <p:sldId id="262" r:id="rId8"/>
    <p:sldId id="260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72" y="17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931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5010" y="0"/>
            <a:ext cx="2971800" cy="45931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413164-BCF3-418A-9E0E-C9D0FEACB85D}" type="datetimeFigureOut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2"/>
            <a:ext cx="5486400" cy="360044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4685"/>
            <a:ext cx="2971800" cy="459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5010" y="8684685"/>
            <a:ext cx="2971800" cy="459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F1ADA0-5BC4-48A8-BBB4-030AA8E96F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40010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F1ADA0-5BC4-48A8-BBB4-030AA8E96FC9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3422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F1ADA0-5BC4-48A8-BBB4-030AA8E96FC9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41408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F1ADA0-5BC4-48A8-BBB4-030AA8E96FC9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83749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84B6F9-FCA9-D0CF-013C-5182337984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F7D5E4F-DD04-703E-CF1F-03A154A925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DFCF690-97A6-645E-9BB8-725D41499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4DBBA-DBC1-44CF-846B-32D1F46D80DF}" type="datetimeFigureOut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D3125D-E6EB-5847-48ED-D2E2274D1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2A9DD5-3790-7380-1A1D-7B60E7E80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CDA00-6CB6-49AD-B8D5-AC29739156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4429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FD0698-AB32-7844-C045-E6E6844CB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615FA07-6ED6-93B8-6C38-65B90ABBA1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E164487-89C5-DB4F-3E8E-45BC78F09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4DBBA-DBC1-44CF-846B-32D1F46D80DF}" type="datetimeFigureOut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0CAE56-6EB2-0E2E-D543-91022CBEF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325AB62-7DC9-1C26-82DE-02D681BE8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CDA00-6CB6-49AD-B8D5-AC29739156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2263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E1F8D9-757A-D2B1-EB4B-A39B5E7E9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3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0BF73C1-E5EA-B981-0288-2306D25628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3" y="4589466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7556A5-ED49-1071-3A06-627C59A9E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4DBBA-DBC1-44CF-846B-32D1F46D80DF}" type="datetimeFigureOut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9AC3660-AF46-76A2-3B0A-308C9E2C7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9C46F54-1321-DAF9-7B02-FB4FA1EC5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CDA00-6CB6-49AD-B8D5-AC29739156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2196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DB6AF5-1AEC-A00A-6C70-162333796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B1BE844-1C4D-24C6-D72F-811D7FE941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23B6363-1453-E909-DD22-67D1E89791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1088CBB-098A-7E6B-8417-55EA3246C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4DBBA-DBC1-44CF-846B-32D1F46D80DF}" type="datetimeFigureOut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8A5CD3F-7034-1304-6BF7-BA91C6643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45F0CB2-C409-247D-4153-77F76771D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CDA00-6CB6-49AD-B8D5-AC29739156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60941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1732F6-E90E-F080-5C6B-940B1CA5E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8CAFCB3-D947-B66A-9DE4-9153391B71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93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9983B83-3C32-DF5B-4F5B-822E17C253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93" y="2505076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2305927-7C25-FF10-A207-DB796813D3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3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EB40971-BD60-3EC6-4A19-E0EB595C07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3" y="2505076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28F457B-BA1A-2FE4-4EF2-9B17B25E4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4DBBA-DBC1-44CF-846B-32D1F46D80DF}" type="datetimeFigureOut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568F791-346B-46D5-D1AA-14E85AD59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3D5B8FF-0C7D-D41C-9000-180FEACAC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CDA00-6CB6-49AD-B8D5-AC29739156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8344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8B6A59-EB10-961D-0E7E-95A5A6635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685C771-9DB8-DFD7-7CB1-3D7A8EB68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4DBBA-DBC1-44CF-846B-32D1F46D80DF}" type="datetimeFigureOut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BE3115F-4B31-BC61-8873-ACA8F69FD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20A095C-F1BE-6D72-1D99-B67F88C68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CDA00-6CB6-49AD-B8D5-AC29739156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9905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9FE9B68-7C78-182A-A0B6-8AAAF3E07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4DBBA-DBC1-44CF-846B-32D1F46D80DF}" type="datetimeFigureOut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EF18439-5EB8-97C8-BCC6-4E53E7B2F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755B045-2112-C4C7-1C3E-66E3C5DE0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CDA00-6CB6-49AD-B8D5-AC29739156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6174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8C52C2-BFEC-7266-3744-A42FE357D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1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89BEF43-E684-5ECF-F538-995257A56D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92" y="987425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A3C8234-C0BC-169E-68A2-56041638FE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1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E70B511-47C2-F801-9167-13BAD98FA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4DBBA-DBC1-44CF-846B-32D1F46D80DF}" type="datetimeFigureOut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075E904-F6B2-C76C-FAFA-4744CAE5C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4870C93-B860-6A32-53F6-E1E01ECF3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CDA00-6CB6-49AD-B8D5-AC29739156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4214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657CE4-DF1D-49D3-EB8E-A37B81732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1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43B264F-EA8F-229E-F155-122A7B32E2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92" y="987425"/>
            <a:ext cx="617220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6DB86ED-B63F-FC52-8EC8-F0CBA148CD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1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3574FB8-67E3-9F85-7C61-93E98AFBA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4DBBA-DBC1-44CF-846B-32D1F46D80DF}" type="datetimeFigureOut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E6A05BE-814C-E4D9-0DB1-073773094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830FA17-7B07-A1AF-FD7E-A1FFF2468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CDA00-6CB6-49AD-B8D5-AC29739156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14729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378786-7FC9-6973-8DA5-D7DC639BD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5488C8E-8C9B-157C-5009-9BF4C01386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B24EE04-668F-3B19-6018-51C9A5067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4DBBA-DBC1-44CF-846B-32D1F46D80DF}" type="datetimeFigureOut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0525DB7-4E50-A426-26E3-665E030D5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622C05D-C5DA-4D75-69D6-210380F12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CDA00-6CB6-49AD-B8D5-AC29739156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30946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3056D9A-F478-B8FF-89C4-4EB09BFC25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6985F49-BAA4-2DB4-0FBC-434663FF64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A8A6EF-DF4B-7045-6347-0B66742E3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4DBBA-DBC1-44CF-846B-32D1F46D80DF}" type="datetimeFigureOut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FF5E5EC-31A8-3EBC-45CF-B59CBD76A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15E44D-21B3-5DD9-9AE6-D92A92C46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CDA00-6CB6-49AD-B8D5-AC29739156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2790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A8AD47E-CA31-C9AF-6489-BAB401FCC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5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88DD29F-FFA8-8D03-9BFE-31EB54E22C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5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60717FD-4217-0189-7E13-229D43810E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1" y="635635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54DBBA-DBC1-44CF-846B-32D1F46D80DF}" type="datetimeFigureOut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9D2028C-C364-2D42-5A82-DB75F5EB2A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5" y="635635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C814A4-2663-D5D4-DD2F-B2C4260766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FCDA00-6CB6-49AD-B8D5-AC29739156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6153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AAE2947-36D9-43E4-F9D4-304076690302}"/>
              </a:ext>
            </a:extLst>
          </p:cNvPr>
          <p:cNvSpPr/>
          <p:nvPr/>
        </p:nvSpPr>
        <p:spPr>
          <a:xfrm>
            <a:off x="0" y="0"/>
            <a:ext cx="8651946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sz="2000" dirty="0">
                <a:solidFill>
                  <a:srgbClr val="00B0F0"/>
                </a:solidFill>
              </a:rPr>
              <a:t>대원공업㈜</a:t>
            </a:r>
            <a:endParaRPr lang="en-US" altLang="ko-KR" sz="2000" dirty="0">
              <a:solidFill>
                <a:srgbClr val="00B0F0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sz="2000" dirty="0">
                <a:solidFill>
                  <a:schemeClr val="tx1"/>
                </a:solidFill>
              </a:rPr>
              <a:t>수주 품목</a:t>
            </a:r>
            <a:endParaRPr lang="en-US" altLang="ko-KR" sz="2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-</a:t>
            </a:r>
            <a:r>
              <a:rPr lang="ko-KR" altLang="en-US" sz="1400" dirty="0">
                <a:solidFill>
                  <a:schemeClr val="tx1"/>
                </a:solidFill>
              </a:rPr>
              <a:t>입고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   </a:t>
            </a:r>
            <a:r>
              <a:rPr lang="ko-KR" altLang="en-US" sz="1400" dirty="0">
                <a:solidFill>
                  <a:schemeClr val="tx1"/>
                </a:solidFill>
              </a:rPr>
              <a:t>등록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   </a:t>
            </a:r>
            <a:r>
              <a:rPr lang="ko-KR" altLang="en-US" sz="1400" dirty="0">
                <a:solidFill>
                  <a:schemeClr val="tx1"/>
                </a:solidFill>
              </a:rPr>
              <a:t>이력조회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-</a:t>
            </a:r>
            <a:r>
              <a:rPr lang="ko-KR" altLang="en-US" sz="1400" dirty="0">
                <a:solidFill>
                  <a:schemeClr val="tx1"/>
                </a:solidFill>
              </a:rPr>
              <a:t>출고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   등록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   이력조회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-</a:t>
            </a:r>
            <a:r>
              <a:rPr lang="ko-KR" altLang="en-US" sz="1400" dirty="0">
                <a:solidFill>
                  <a:schemeClr val="tx1"/>
                </a:solidFill>
              </a:rPr>
              <a:t>품목관리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   등록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   </a:t>
            </a:r>
            <a:r>
              <a:rPr lang="ko-KR" altLang="en-US" sz="1400" dirty="0">
                <a:solidFill>
                  <a:schemeClr val="tx1"/>
                </a:solidFill>
              </a:rPr>
              <a:t>조회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2000" dirty="0">
                <a:solidFill>
                  <a:schemeClr val="tx1"/>
                </a:solidFill>
              </a:rPr>
              <a:t>원자재 품목</a:t>
            </a:r>
            <a:endParaRPr lang="en-US" altLang="ko-KR" sz="2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-</a:t>
            </a:r>
            <a:r>
              <a:rPr lang="ko-KR" altLang="en-US" sz="1400" dirty="0">
                <a:solidFill>
                  <a:schemeClr val="tx1"/>
                </a:solidFill>
              </a:rPr>
              <a:t>입고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   </a:t>
            </a:r>
            <a:r>
              <a:rPr lang="ko-KR" altLang="en-US" sz="1400" dirty="0">
                <a:solidFill>
                  <a:schemeClr val="tx1"/>
                </a:solidFill>
              </a:rPr>
              <a:t>등록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   </a:t>
            </a:r>
            <a:r>
              <a:rPr lang="ko-KR" altLang="en-US" sz="1400" dirty="0">
                <a:solidFill>
                  <a:schemeClr val="tx1"/>
                </a:solidFill>
              </a:rPr>
              <a:t>이력조회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-</a:t>
            </a:r>
            <a:r>
              <a:rPr lang="ko-KR" altLang="en-US" sz="1400" dirty="0">
                <a:solidFill>
                  <a:schemeClr val="tx1"/>
                </a:solidFill>
              </a:rPr>
              <a:t>출고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   </a:t>
            </a:r>
            <a:r>
              <a:rPr lang="ko-KR" altLang="en-US" sz="1400" dirty="0">
                <a:solidFill>
                  <a:schemeClr val="tx1"/>
                </a:solidFill>
              </a:rPr>
              <a:t>등록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   </a:t>
            </a:r>
            <a:r>
              <a:rPr lang="ko-KR" altLang="en-US" sz="1400" dirty="0">
                <a:solidFill>
                  <a:schemeClr val="tx1"/>
                </a:solidFill>
              </a:rPr>
              <a:t>이력조회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-</a:t>
            </a:r>
            <a:r>
              <a:rPr lang="ko-KR" altLang="en-US" sz="1400" dirty="0">
                <a:solidFill>
                  <a:schemeClr val="tx1"/>
                </a:solidFill>
              </a:rPr>
              <a:t>재고현황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-</a:t>
            </a:r>
            <a:r>
              <a:rPr lang="ko-KR" altLang="en-US" sz="1400" dirty="0">
                <a:solidFill>
                  <a:schemeClr val="tx1"/>
                </a:solidFill>
              </a:rPr>
              <a:t>품목관리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   등록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   </a:t>
            </a:r>
            <a:r>
              <a:rPr lang="ko-KR" altLang="en-US" sz="1400" dirty="0">
                <a:solidFill>
                  <a:schemeClr val="tx1"/>
                </a:solidFill>
              </a:rPr>
              <a:t>조회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2000" dirty="0">
                <a:solidFill>
                  <a:schemeClr val="tx1"/>
                </a:solidFill>
              </a:rPr>
              <a:t>정보관리</a:t>
            </a:r>
            <a:endParaRPr lang="en-US" altLang="ko-KR" sz="20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  </a:t>
            </a:r>
            <a:r>
              <a:rPr lang="ko-KR" altLang="en-US" sz="1400" dirty="0">
                <a:solidFill>
                  <a:schemeClr val="tx1"/>
                </a:solidFill>
              </a:rPr>
              <a:t>라우팅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  거래처</a:t>
            </a: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CE807C7B-5B01-8EF0-1BC6-E33F9536A63C}"/>
              </a:ext>
            </a:extLst>
          </p:cNvPr>
          <p:cNvSpPr/>
          <p:nvPr/>
        </p:nvSpPr>
        <p:spPr>
          <a:xfrm>
            <a:off x="4868316" y="647975"/>
            <a:ext cx="229302" cy="22249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ysClr val="windowText" lastClr="000000"/>
                </a:solidFill>
              </a:rPr>
              <a:t>1</a:t>
            </a:r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88" name="타원 87">
            <a:extLst>
              <a:ext uri="{FF2B5EF4-FFF2-40B4-BE49-F238E27FC236}">
                <a16:creationId xmlns:a16="http://schemas.microsoft.com/office/drawing/2014/main" id="{EE6FB316-C0BA-E582-17EC-55481340F214}"/>
              </a:ext>
            </a:extLst>
          </p:cNvPr>
          <p:cNvSpPr/>
          <p:nvPr/>
        </p:nvSpPr>
        <p:spPr>
          <a:xfrm>
            <a:off x="3828969" y="916496"/>
            <a:ext cx="229302" cy="22249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ysClr val="windowText" lastClr="000000"/>
                </a:solidFill>
              </a:rPr>
              <a:t>2</a:t>
            </a:r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89" name="타원 88">
            <a:extLst>
              <a:ext uri="{FF2B5EF4-FFF2-40B4-BE49-F238E27FC236}">
                <a16:creationId xmlns:a16="http://schemas.microsoft.com/office/drawing/2014/main" id="{24BB0EE5-84E3-0E30-935A-38F596CB2AA5}"/>
              </a:ext>
            </a:extLst>
          </p:cNvPr>
          <p:cNvSpPr/>
          <p:nvPr/>
        </p:nvSpPr>
        <p:spPr>
          <a:xfrm>
            <a:off x="4628912" y="1119132"/>
            <a:ext cx="229302" cy="22249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ysClr val="windowText" lastClr="000000"/>
                </a:solidFill>
              </a:rPr>
              <a:t>3</a:t>
            </a:r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90" name="타원 89">
            <a:extLst>
              <a:ext uri="{FF2B5EF4-FFF2-40B4-BE49-F238E27FC236}">
                <a16:creationId xmlns:a16="http://schemas.microsoft.com/office/drawing/2014/main" id="{E160947A-616B-E3F7-3207-7E72E8C88606}"/>
              </a:ext>
            </a:extLst>
          </p:cNvPr>
          <p:cNvSpPr/>
          <p:nvPr/>
        </p:nvSpPr>
        <p:spPr>
          <a:xfrm>
            <a:off x="3806588" y="1341622"/>
            <a:ext cx="229302" cy="22249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ysClr val="windowText" lastClr="000000"/>
                </a:solidFill>
              </a:rPr>
              <a:t>4</a:t>
            </a:r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91" name="타원 90">
            <a:extLst>
              <a:ext uri="{FF2B5EF4-FFF2-40B4-BE49-F238E27FC236}">
                <a16:creationId xmlns:a16="http://schemas.microsoft.com/office/drawing/2014/main" id="{F6E223F0-73AC-6204-F3E5-CCFE53EB8141}"/>
              </a:ext>
            </a:extLst>
          </p:cNvPr>
          <p:cNvSpPr/>
          <p:nvPr/>
        </p:nvSpPr>
        <p:spPr>
          <a:xfrm>
            <a:off x="4565146" y="1564112"/>
            <a:ext cx="229302" cy="22249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ysClr val="windowText" lastClr="000000"/>
                </a:solidFill>
              </a:rPr>
              <a:t>5</a:t>
            </a:r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92" name="타원 91">
            <a:extLst>
              <a:ext uri="{FF2B5EF4-FFF2-40B4-BE49-F238E27FC236}">
                <a16:creationId xmlns:a16="http://schemas.microsoft.com/office/drawing/2014/main" id="{14969C7B-D893-C3CE-440B-9D837E41175E}"/>
              </a:ext>
            </a:extLst>
          </p:cNvPr>
          <p:cNvSpPr/>
          <p:nvPr/>
        </p:nvSpPr>
        <p:spPr>
          <a:xfrm>
            <a:off x="3904133" y="1782840"/>
            <a:ext cx="229302" cy="22249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ysClr val="windowText" lastClr="000000"/>
                </a:solidFill>
              </a:rPr>
              <a:t>6</a:t>
            </a:r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93" name="타원 92">
            <a:extLst>
              <a:ext uri="{FF2B5EF4-FFF2-40B4-BE49-F238E27FC236}">
                <a16:creationId xmlns:a16="http://schemas.microsoft.com/office/drawing/2014/main" id="{44FFB64D-CF11-3A3D-6B00-C533AC7AEBA9}"/>
              </a:ext>
            </a:extLst>
          </p:cNvPr>
          <p:cNvSpPr/>
          <p:nvPr/>
        </p:nvSpPr>
        <p:spPr>
          <a:xfrm>
            <a:off x="4804869" y="1976814"/>
            <a:ext cx="229302" cy="22249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ysClr val="windowText" lastClr="000000"/>
                </a:solidFill>
              </a:rPr>
              <a:t>7</a:t>
            </a:r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94" name="타원 93">
            <a:extLst>
              <a:ext uri="{FF2B5EF4-FFF2-40B4-BE49-F238E27FC236}">
                <a16:creationId xmlns:a16="http://schemas.microsoft.com/office/drawing/2014/main" id="{49F01DDA-FD16-DBBB-6239-2F3FE7FFAD53}"/>
              </a:ext>
            </a:extLst>
          </p:cNvPr>
          <p:cNvSpPr/>
          <p:nvPr/>
        </p:nvSpPr>
        <p:spPr>
          <a:xfrm>
            <a:off x="3665594" y="2221665"/>
            <a:ext cx="229302" cy="22249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ysClr val="windowText" lastClr="000000"/>
                </a:solidFill>
              </a:rPr>
              <a:t>8</a:t>
            </a:r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95" name="타원 94">
            <a:extLst>
              <a:ext uri="{FF2B5EF4-FFF2-40B4-BE49-F238E27FC236}">
                <a16:creationId xmlns:a16="http://schemas.microsoft.com/office/drawing/2014/main" id="{A4235E50-7FD8-4390-BB16-4B844FC0EB97}"/>
              </a:ext>
            </a:extLst>
          </p:cNvPr>
          <p:cNvSpPr/>
          <p:nvPr/>
        </p:nvSpPr>
        <p:spPr>
          <a:xfrm>
            <a:off x="4639015" y="2424467"/>
            <a:ext cx="229302" cy="22249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ysClr val="windowText" lastClr="000000"/>
                </a:solidFill>
              </a:rPr>
              <a:t>9</a:t>
            </a:r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96" name="타원 95">
            <a:extLst>
              <a:ext uri="{FF2B5EF4-FFF2-40B4-BE49-F238E27FC236}">
                <a16:creationId xmlns:a16="http://schemas.microsoft.com/office/drawing/2014/main" id="{829EAB1E-6F53-E2AD-9F2A-7C5A77D3ADB3}"/>
              </a:ext>
            </a:extLst>
          </p:cNvPr>
          <p:cNvSpPr/>
          <p:nvPr/>
        </p:nvSpPr>
        <p:spPr>
          <a:xfrm>
            <a:off x="3733627" y="2626817"/>
            <a:ext cx="419986" cy="254938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ysClr val="windowText" lastClr="000000"/>
                </a:solidFill>
              </a:rPr>
              <a:t>10</a:t>
            </a:r>
            <a:endParaRPr lang="ko-KR" altLang="en-US" sz="800" dirty="0">
              <a:solidFill>
                <a:sysClr val="windowText" lastClr="000000"/>
              </a:solidFill>
            </a:endParaRPr>
          </a:p>
        </p:txBody>
      </p:sp>
      <p:sp>
        <p:nvSpPr>
          <p:cNvPr id="97" name="타원 96">
            <a:extLst>
              <a:ext uri="{FF2B5EF4-FFF2-40B4-BE49-F238E27FC236}">
                <a16:creationId xmlns:a16="http://schemas.microsoft.com/office/drawing/2014/main" id="{BE431B7D-8D66-3A47-ACA2-A37448C8D82C}"/>
              </a:ext>
            </a:extLst>
          </p:cNvPr>
          <p:cNvSpPr/>
          <p:nvPr/>
        </p:nvSpPr>
        <p:spPr>
          <a:xfrm>
            <a:off x="5051886" y="3040693"/>
            <a:ext cx="477078" cy="292171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ysClr val="windowText" lastClr="000000"/>
                </a:solidFill>
              </a:rPr>
              <a:t>11</a:t>
            </a:r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98" name="타원 97">
            <a:extLst>
              <a:ext uri="{FF2B5EF4-FFF2-40B4-BE49-F238E27FC236}">
                <a16:creationId xmlns:a16="http://schemas.microsoft.com/office/drawing/2014/main" id="{D360D0A7-1159-AF1A-9147-C8205FA60AF9}"/>
              </a:ext>
            </a:extLst>
          </p:cNvPr>
          <p:cNvSpPr/>
          <p:nvPr/>
        </p:nvSpPr>
        <p:spPr>
          <a:xfrm>
            <a:off x="3590430" y="3339124"/>
            <a:ext cx="477078" cy="249382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ysClr val="windowText" lastClr="000000"/>
                </a:solidFill>
              </a:rPr>
              <a:t>12</a:t>
            </a:r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99" name="타원 98">
            <a:extLst>
              <a:ext uri="{FF2B5EF4-FFF2-40B4-BE49-F238E27FC236}">
                <a16:creationId xmlns:a16="http://schemas.microsoft.com/office/drawing/2014/main" id="{A4E0502E-389B-9386-F8D1-429A55F46C22}"/>
              </a:ext>
            </a:extLst>
          </p:cNvPr>
          <p:cNvSpPr/>
          <p:nvPr/>
        </p:nvSpPr>
        <p:spPr>
          <a:xfrm>
            <a:off x="4639015" y="3541610"/>
            <a:ext cx="467040" cy="249382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ysClr val="windowText" lastClr="000000"/>
                </a:solidFill>
              </a:rPr>
              <a:t>13</a:t>
            </a:r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101" name="타원 100">
            <a:extLst>
              <a:ext uri="{FF2B5EF4-FFF2-40B4-BE49-F238E27FC236}">
                <a16:creationId xmlns:a16="http://schemas.microsoft.com/office/drawing/2014/main" id="{B4374291-CDFB-E238-0075-035784D3F72D}"/>
              </a:ext>
            </a:extLst>
          </p:cNvPr>
          <p:cNvSpPr/>
          <p:nvPr/>
        </p:nvSpPr>
        <p:spPr>
          <a:xfrm>
            <a:off x="3733627" y="5057126"/>
            <a:ext cx="477079" cy="22249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ysClr val="windowText" lastClr="000000"/>
                </a:solidFill>
              </a:rPr>
              <a:t>20</a:t>
            </a:r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102" name="타원 101">
            <a:extLst>
              <a:ext uri="{FF2B5EF4-FFF2-40B4-BE49-F238E27FC236}">
                <a16:creationId xmlns:a16="http://schemas.microsoft.com/office/drawing/2014/main" id="{7FAAA63B-84B4-A122-6E8E-D17E9105B602}"/>
              </a:ext>
            </a:extLst>
          </p:cNvPr>
          <p:cNvSpPr/>
          <p:nvPr/>
        </p:nvSpPr>
        <p:spPr>
          <a:xfrm>
            <a:off x="4753666" y="4816462"/>
            <a:ext cx="477078" cy="22249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ysClr val="windowText" lastClr="000000"/>
                </a:solidFill>
              </a:rPr>
              <a:t>19</a:t>
            </a:r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103" name="타원 102">
            <a:extLst>
              <a:ext uri="{FF2B5EF4-FFF2-40B4-BE49-F238E27FC236}">
                <a16:creationId xmlns:a16="http://schemas.microsoft.com/office/drawing/2014/main" id="{C5790576-7AD1-14F1-A7AE-2D1696AF0FC3}"/>
              </a:ext>
            </a:extLst>
          </p:cNvPr>
          <p:cNvSpPr/>
          <p:nvPr/>
        </p:nvSpPr>
        <p:spPr>
          <a:xfrm>
            <a:off x="3417818" y="4627911"/>
            <a:ext cx="477078" cy="22249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ysClr val="windowText" lastClr="000000"/>
                </a:solidFill>
              </a:rPr>
              <a:t>18</a:t>
            </a:r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104" name="타원 103">
            <a:extLst>
              <a:ext uri="{FF2B5EF4-FFF2-40B4-BE49-F238E27FC236}">
                <a16:creationId xmlns:a16="http://schemas.microsoft.com/office/drawing/2014/main" id="{4385A069-818E-635D-3B52-5A6872251920}"/>
              </a:ext>
            </a:extLst>
          </p:cNvPr>
          <p:cNvSpPr/>
          <p:nvPr/>
        </p:nvSpPr>
        <p:spPr>
          <a:xfrm>
            <a:off x="3665594" y="4175607"/>
            <a:ext cx="477078" cy="22249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ysClr val="windowText" lastClr="000000"/>
                </a:solidFill>
              </a:rPr>
              <a:t>16</a:t>
            </a:r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105" name="타원 104">
            <a:extLst>
              <a:ext uri="{FF2B5EF4-FFF2-40B4-BE49-F238E27FC236}">
                <a16:creationId xmlns:a16="http://schemas.microsoft.com/office/drawing/2014/main" id="{C26DD15B-86A0-A1AA-DDAC-020377CEFF5B}"/>
              </a:ext>
            </a:extLst>
          </p:cNvPr>
          <p:cNvSpPr/>
          <p:nvPr/>
        </p:nvSpPr>
        <p:spPr>
          <a:xfrm>
            <a:off x="4792781" y="4398097"/>
            <a:ext cx="477078" cy="22249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ysClr val="windowText" lastClr="000000"/>
                </a:solidFill>
              </a:rPr>
              <a:t>17</a:t>
            </a:r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106" name="타원 105">
            <a:extLst>
              <a:ext uri="{FF2B5EF4-FFF2-40B4-BE49-F238E27FC236}">
                <a16:creationId xmlns:a16="http://schemas.microsoft.com/office/drawing/2014/main" id="{972E0D0A-63C9-0E56-3A11-FE5998264070}"/>
              </a:ext>
            </a:extLst>
          </p:cNvPr>
          <p:cNvSpPr/>
          <p:nvPr/>
        </p:nvSpPr>
        <p:spPr>
          <a:xfrm>
            <a:off x="4595924" y="3959975"/>
            <a:ext cx="477078" cy="249382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ysClr val="windowText" lastClr="000000"/>
                </a:solidFill>
              </a:rPr>
              <a:t>15</a:t>
            </a:r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107" name="타원 106">
            <a:extLst>
              <a:ext uri="{FF2B5EF4-FFF2-40B4-BE49-F238E27FC236}">
                <a16:creationId xmlns:a16="http://schemas.microsoft.com/office/drawing/2014/main" id="{66F032A9-05F9-C12D-5123-0CDEB7C80138}"/>
              </a:ext>
            </a:extLst>
          </p:cNvPr>
          <p:cNvSpPr/>
          <p:nvPr/>
        </p:nvSpPr>
        <p:spPr>
          <a:xfrm>
            <a:off x="3558812" y="3724699"/>
            <a:ext cx="477078" cy="26859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ysClr val="windowText" lastClr="000000"/>
                </a:solidFill>
              </a:rPr>
              <a:t>14</a:t>
            </a:r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108" name="타원 107">
            <a:extLst>
              <a:ext uri="{FF2B5EF4-FFF2-40B4-BE49-F238E27FC236}">
                <a16:creationId xmlns:a16="http://schemas.microsoft.com/office/drawing/2014/main" id="{6DA46361-128F-69E0-CCA4-8B3193B9EF9C}"/>
              </a:ext>
            </a:extLst>
          </p:cNvPr>
          <p:cNvSpPr/>
          <p:nvPr/>
        </p:nvSpPr>
        <p:spPr>
          <a:xfrm>
            <a:off x="4629778" y="5247698"/>
            <a:ext cx="477077" cy="22249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ysClr val="windowText" lastClr="000000"/>
                </a:solidFill>
              </a:rPr>
              <a:t>21</a:t>
            </a:r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2E474CC5-2090-CDC9-D3B0-30AB352C1034}"/>
              </a:ext>
            </a:extLst>
          </p:cNvPr>
          <p:cNvSpPr/>
          <p:nvPr/>
        </p:nvSpPr>
        <p:spPr>
          <a:xfrm>
            <a:off x="3595302" y="6162457"/>
            <a:ext cx="477077" cy="22249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ysClr val="windowText" lastClr="000000"/>
                </a:solidFill>
              </a:rPr>
              <a:t>24</a:t>
            </a:r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0E9710FA-91E3-093B-CAE0-6F7CFAE6B51D}"/>
              </a:ext>
            </a:extLst>
          </p:cNvPr>
          <p:cNvSpPr/>
          <p:nvPr/>
        </p:nvSpPr>
        <p:spPr>
          <a:xfrm>
            <a:off x="4680981" y="5941604"/>
            <a:ext cx="477077" cy="22249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ysClr val="windowText" lastClr="000000"/>
                </a:solidFill>
              </a:rPr>
              <a:t>23</a:t>
            </a:r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965BCF50-52B9-9D07-43D2-109A8BFF843F}"/>
              </a:ext>
            </a:extLst>
          </p:cNvPr>
          <p:cNvSpPr/>
          <p:nvPr/>
        </p:nvSpPr>
        <p:spPr>
          <a:xfrm>
            <a:off x="3351891" y="5689405"/>
            <a:ext cx="477077" cy="22249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ysClr val="windowText" lastClr="000000"/>
                </a:solidFill>
              </a:rPr>
              <a:t>22</a:t>
            </a:r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0198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표 39">
            <a:extLst>
              <a:ext uri="{FF2B5EF4-FFF2-40B4-BE49-F238E27FC236}">
                <a16:creationId xmlns:a16="http://schemas.microsoft.com/office/drawing/2014/main" id="{D6458FB1-8321-ADB8-73FA-06001B6CF0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2123005"/>
              </p:ext>
            </p:extLst>
          </p:nvPr>
        </p:nvGraphicFramePr>
        <p:xfrm>
          <a:off x="2036618" y="3649779"/>
          <a:ext cx="8128000" cy="22250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18665470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56474627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4062137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50794399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95122123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597149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6916012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9754850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거래처명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품목 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품목명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수량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분류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비고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입고 수량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입고 일자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01754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/>
                        <a:t>코드 하우스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Code-001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 err="1"/>
                        <a:t>핀걸이</a:t>
                      </a:r>
                      <a:r>
                        <a:rPr lang="ko-KR" altLang="en-US" sz="900" dirty="0"/>
                        <a:t> 스프링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500EA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/>
                        <a:t>방산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70930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87972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49933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6380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7709592"/>
                  </a:ext>
                </a:extLst>
              </a:tr>
            </a:tbl>
          </a:graphicData>
        </a:graphic>
      </p:graphicFrame>
      <p:sp>
        <p:nvSpPr>
          <p:cNvPr id="39" name="직사각형 38">
            <a:extLst>
              <a:ext uri="{FF2B5EF4-FFF2-40B4-BE49-F238E27FC236}">
                <a16:creationId xmlns:a16="http://schemas.microsoft.com/office/drawing/2014/main" id="{503D8BB4-3175-9716-E3FE-6393801259F3}"/>
              </a:ext>
            </a:extLst>
          </p:cNvPr>
          <p:cNvSpPr/>
          <p:nvPr/>
        </p:nvSpPr>
        <p:spPr>
          <a:xfrm>
            <a:off x="8834442" y="5961290"/>
            <a:ext cx="1338051" cy="49922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EXCEL</a:t>
            </a:r>
            <a:r>
              <a:rPr lang="ko-KR" altLang="en-US" sz="1200" dirty="0"/>
              <a:t>다운로드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84B31E8-A909-F163-5220-71241273B3FA}"/>
              </a:ext>
            </a:extLst>
          </p:cNvPr>
          <p:cNvSpPr/>
          <p:nvPr/>
        </p:nvSpPr>
        <p:spPr>
          <a:xfrm>
            <a:off x="2193636" y="69705"/>
            <a:ext cx="8619065" cy="4674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dirty="0">
                <a:ln w="0">
                  <a:solidFill>
                    <a:schemeClr val="bg1"/>
                  </a:solidFill>
                </a:ln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수주품목 입고 등록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26F9F5D-D68E-9C15-9510-76DA3F7ED61B}"/>
              </a:ext>
            </a:extLst>
          </p:cNvPr>
          <p:cNvSpPr/>
          <p:nvPr/>
        </p:nvSpPr>
        <p:spPr>
          <a:xfrm>
            <a:off x="0" y="0"/>
            <a:ext cx="18796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2000" dirty="0">
                <a:solidFill>
                  <a:srgbClr val="00B0F0"/>
                </a:solidFill>
              </a:rPr>
              <a:t>대원공업㈜</a:t>
            </a:r>
            <a:endParaRPr lang="en-US" altLang="ko-KR" sz="2000" dirty="0">
              <a:solidFill>
                <a:srgbClr val="00B0F0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r>
              <a:rPr lang="ko-KR" altLang="en-US" dirty="0">
                <a:solidFill>
                  <a:schemeClr val="tx1"/>
                </a:solidFill>
              </a:rPr>
              <a:t>수주품목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-</a:t>
            </a:r>
            <a:r>
              <a:rPr lang="ko-KR" altLang="en-US" sz="1200" dirty="0">
                <a:solidFill>
                  <a:schemeClr val="tx1"/>
                </a:solidFill>
              </a:rPr>
              <a:t>입고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   </a:t>
            </a:r>
            <a:r>
              <a:rPr lang="ko-KR" altLang="en-US" sz="1200" dirty="0">
                <a:solidFill>
                  <a:schemeClr val="tx1"/>
                </a:solidFill>
              </a:rPr>
              <a:t>등록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   </a:t>
            </a:r>
            <a:r>
              <a:rPr lang="ko-KR" altLang="en-US" sz="1200" dirty="0">
                <a:solidFill>
                  <a:schemeClr val="tx1"/>
                </a:solidFill>
              </a:rPr>
              <a:t>이력조회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-</a:t>
            </a:r>
            <a:r>
              <a:rPr lang="ko-KR" altLang="en-US" sz="1200" dirty="0">
                <a:solidFill>
                  <a:schemeClr val="tx1"/>
                </a:solidFill>
              </a:rPr>
              <a:t>출고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sz="1200" dirty="0">
                <a:solidFill>
                  <a:schemeClr val="tx1"/>
                </a:solidFill>
              </a:rPr>
              <a:t>   등록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sz="1200" dirty="0">
                <a:solidFill>
                  <a:schemeClr val="tx1"/>
                </a:solidFill>
              </a:rPr>
              <a:t>   이력조회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-</a:t>
            </a:r>
            <a:r>
              <a:rPr lang="ko-KR" altLang="en-US" sz="1200" dirty="0">
                <a:solidFill>
                  <a:schemeClr val="tx1"/>
                </a:solidFill>
              </a:rPr>
              <a:t>품목관리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sz="1200" dirty="0">
                <a:solidFill>
                  <a:schemeClr val="tx1"/>
                </a:solidFill>
              </a:rPr>
              <a:t>   등록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   </a:t>
            </a:r>
            <a:r>
              <a:rPr lang="ko-KR" altLang="en-US" sz="1200" dirty="0">
                <a:solidFill>
                  <a:schemeClr val="tx1"/>
                </a:solidFill>
              </a:rPr>
              <a:t>조회</a:t>
            </a:r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dirty="0">
                <a:solidFill>
                  <a:schemeClr val="tx1"/>
                </a:solidFill>
              </a:rPr>
              <a:t>원자재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-</a:t>
            </a:r>
            <a:r>
              <a:rPr lang="ko-KR" altLang="en-US" sz="1200" dirty="0">
                <a:solidFill>
                  <a:schemeClr val="tx1"/>
                </a:solidFill>
              </a:rPr>
              <a:t>입고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   </a:t>
            </a:r>
            <a:r>
              <a:rPr lang="ko-KR" altLang="en-US" sz="1200" dirty="0">
                <a:solidFill>
                  <a:schemeClr val="tx1"/>
                </a:solidFill>
              </a:rPr>
              <a:t>등록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   </a:t>
            </a:r>
            <a:r>
              <a:rPr lang="ko-KR" altLang="en-US" sz="1200" dirty="0">
                <a:solidFill>
                  <a:schemeClr val="tx1"/>
                </a:solidFill>
              </a:rPr>
              <a:t>이력조회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-</a:t>
            </a:r>
            <a:r>
              <a:rPr lang="ko-KR" altLang="en-US" sz="1200" dirty="0">
                <a:solidFill>
                  <a:schemeClr val="tx1"/>
                </a:solidFill>
              </a:rPr>
              <a:t>출고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   </a:t>
            </a:r>
            <a:r>
              <a:rPr lang="ko-KR" altLang="en-US" sz="1200" dirty="0">
                <a:solidFill>
                  <a:schemeClr val="tx1"/>
                </a:solidFill>
              </a:rPr>
              <a:t>등록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   </a:t>
            </a:r>
            <a:r>
              <a:rPr lang="ko-KR" altLang="en-US" sz="1200" dirty="0">
                <a:solidFill>
                  <a:schemeClr val="tx1"/>
                </a:solidFill>
              </a:rPr>
              <a:t>이력조회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-</a:t>
            </a:r>
            <a:r>
              <a:rPr lang="ko-KR" altLang="en-US" sz="1200" dirty="0">
                <a:solidFill>
                  <a:schemeClr val="tx1"/>
                </a:solidFill>
              </a:rPr>
              <a:t>재고현황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-</a:t>
            </a:r>
            <a:r>
              <a:rPr lang="ko-KR" altLang="en-US" sz="1200" dirty="0">
                <a:solidFill>
                  <a:schemeClr val="tx1"/>
                </a:solidFill>
              </a:rPr>
              <a:t>품목관리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sz="1200" dirty="0">
                <a:solidFill>
                  <a:schemeClr val="tx1"/>
                </a:solidFill>
              </a:rPr>
              <a:t>   등록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   </a:t>
            </a:r>
            <a:r>
              <a:rPr lang="ko-KR" altLang="en-US" sz="1200" dirty="0">
                <a:solidFill>
                  <a:schemeClr val="tx1"/>
                </a:solidFill>
              </a:rPr>
              <a:t>조회</a:t>
            </a:r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dirty="0">
                <a:solidFill>
                  <a:schemeClr val="tx1"/>
                </a:solidFill>
              </a:rPr>
              <a:t>정보관리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sz="1200" dirty="0">
                <a:solidFill>
                  <a:schemeClr val="tx1"/>
                </a:solidFill>
              </a:rPr>
              <a:t>  라우팅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sz="1200" dirty="0">
                <a:solidFill>
                  <a:schemeClr val="tx1"/>
                </a:solidFill>
              </a:rPr>
              <a:t>  거래처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F7E585C-E1FA-8120-9329-D147FACE2D80}"/>
              </a:ext>
            </a:extLst>
          </p:cNvPr>
          <p:cNvSpPr/>
          <p:nvPr/>
        </p:nvSpPr>
        <p:spPr>
          <a:xfrm>
            <a:off x="10402554" y="4005868"/>
            <a:ext cx="960582" cy="332509"/>
          </a:xfrm>
          <a:prstGeom prst="rect">
            <a:avLst/>
          </a:prstGeom>
          <a:ln>
            <a:noFill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등록</a:t>
            </a: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D8772969-138D-0AD1-B4FB-E5F6FFA0C55D}"/>
              </a:ext>
            </a:extLst>
          </p:cNvPr>
          <p:cNvSpPr/>
          <p:nvPr/>
        </p:nvSpPr>
        <p:spPr>
          <a:xfrm>
            <a:off x="8144420" y="3880507"/>
            <a:ext cx="229302" cy="22249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ysClr val="windowText" lastClr="000000"/>
                </a:solidFill>
              </a:rPr>
              <a:t>4</a:t>
            </a:r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9575AC11-799F-A2D2-AAD4-E64BB2D142D5}"/>
              </a:ext>
            </a:extLst>
          </p:cNvPr>
          <p:cNvSpPr/>
          <p:nvPr/>
        </p:nvSpPr>
        <p:spPr>
          <a:xfrm>
            <a:off x="4055650" y="3894623"/>
            <a:ext cx="229302" cy="22249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ysClr val="windowText" lastClr="000000"/>
                </a:solidFill>
              </a:rPr>
              <a:t>3</a:t>
            </a:r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56ADEEE3-AD72-F71E-76EB-7B892EE4F909}"/>
              </a:ext>
            </a:extLst>
          </p:cNvPr>
          <p:cNvSpPr/>
          <p:nvPr/>
        </p:nvSpPr>
        <p:spPr>
          <a:xfrm>
            <a:off x="8689165" y="6097754"/>
            <a:ext cx="229302" cy="22249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ysClr val="windowText" lastClr="000000"/>
                </a:solidFill>
              </a:rPr>
              <a:t>8</a:t>
            </a:r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B816415-A929-689A-637A-B518E115EF23}"/>
              </a:ext>
            </a:extLst>
          </p:cNvPr>
          <p:cNvSpPr/>
          <p:nvPr/>
        </p:nvSpPr>
        <p:spPr>
          <a:xfrm>
            <a:off x="2398675" y="2740724"/>
            <a:ext cx="1020858" cy="3975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   </a:t>
            </a:r>
            <a:r>
              <a:rPr lang="ko-KR" altLang="en-US" sz="2000" b="1" dirty="0">
                <a:solidFill>
                  <a:schemeClr val="tx1"/>
                </a:solidFill>
              </a:rPr>
              <a:t>검색</a:t>
            </a:r>
          </a:p>
        </p:txBody>
      </p:sp>
      <p:pic>
        <p:nvPicPr>
          <p:cNvPr id="18" name="그래픽 17" descr="돋보기">
            <a:extLst>
              <a:ext uri="{FF2B5EF4-FFF2-40B4-BE49-F238E27FC236}">
                <a16:creationId xmlns:a16="http://schemas.microsoft.com/office/drawing/2014/main" id="{3D960FC0-8997-1273-F9EA-F707AF9A67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74849" y="3187351"/>
            <a:ext cx="427934" cy="427934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F9F62995-920E-EF40-7C97-BA23FCD12D90}"/>
              </a:ext>
            </a:extLst>
          </p:cNvPr>
          <p:cNvSpPr/>
          <p:nvPr/>
        </p:nvSpPr>
        <p:spPr>
          <a:xfrm>
            <a:off x="3552053" y="3196319"/>
            <a:ext cx="5404168" cy="42793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</a:rPr>
              <a:t>     거래처명</a:t>
            </a: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</a:rPr>
              <a:t>품목명</a:t>
            </a: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</a:rPr>
              <a:t>품목 번호로 검색해 주세요</a:t>
            </a:r>
          </a:p>
        </p:txBody>
      </p:sp>
      <p:pic>
        <p:nvPicPr>
          <p:cNvPr id="21" name="그래픽 20" descr="돋보기">
            <a:extLst>
              <a:ext uri="{FF2B5EF4-FFF2-40B4-BE49-F238E27FC236}">
                <a16:creationId xmlns:a16="http://schemas.microsoft.com/office/drawing/2014/main" id="{5B8F163A-4135-51C2-5EA1-B4A853B98C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45051" y="2806960"/>
            <a:ext cx="284258" cy="250929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4ADD22FE-4EE5-7DA5-0C13-7364E9A529AB}"/>
              </a:ext>
            </a:extLst>
          </p:cNvPr>
          <p:cNvSpPr/>
          <p:nvPr/>
        </p:nvSpPr>
        <p:spPr>
          <a:xfrm>
            <a:off x="2045051" y="3196319"/>
            <a:ext cx="1381089" cy="30502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전체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3" name="순서도: 병합 22">
            <a:extLst>
              <a:ext uri="{FF2B5EF4-FFF2-40B4-BE49-F238E27FC236}">
                <a16:creationId xmlns:a16="http://schemas.microsoft.com/office/drawing/2014/main" id="{665564DE-EFDE-B105-E86E-9BDD3C82EBB1}"/>
              </a:ext>
            </a:extLst>
          </p:cNvPr>
          <p:cNvSpPr/>
          <p:nvPr/>
        </p:nvSpPr>
        <p:spPr>
          <a:xfrm>
            <a:off x="2170964" y="3283936"/>
            <a:ext cx="117382" cy="117382"/>
          </a:xfrm>
          <a:prstGeom prst="flowChartMerg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287C5A9-2D81-EFC4-E90D-0480785939BD}"/>
              </a:ext>
            </a:extLst>
          </p:cNvPr>
          <p:cNvSpPr/>
          <p:nvPr/>
        </p:nvSpPr>
        <p:spPr>
          <a:xfrm>
            <a:off x="2045051" y="3488935"/>
            <a:ext cx="1381089" cy="74832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거래처명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품목명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품목번호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0B351C78-ED6B-CE3B-6A30-CB3A9A4817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4206" y="6282943"/>
            <a:ext cx="3657788" cy="539778"/>
          </a:xfrm>
          <a:prstGeom prst="rect">
            <a:avLst/>
          </a:prstGeom>
        </p:spPr>
      </p:pic>
      <p:sp>
        <p:nvSpPr>
          <p:cNvPr id="28" name="타원 27">
            <a:extLst>
              <a:ext uri="{FF2B5EF4-FFF2-40B4-BE49-F238E27FC236}">
                <a16:creationId xmlns:a16="http://schemas.microsoft.com/office/drawing/2014/main" id="{384FB2E9-FFF9-D6F5-4A0A-0F000F0B44C3}"/>
              </a:ext>
            </a:extLst>
          </p:cNvPr>
          <p:cNvSpPr/>
          <p:nvPr/>
        </p:nvSpPr>
        <p:spPr>
          <a:xfrm>
            <a:off x="4570528" y="6302292"/>
            <a:ext cx="229302" cy="22249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ysClr val="windowText" lastClr="000000"/>
                </a:solidFill>
              </a:rPr>
              <a:t>9</a:t>
            </a:r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E04C3246-25C6-4FC0-94CE-D9EB3DF14E3C}"/>
              </a:ext>
            </a:extLst>
          </p:cNvPr>
          <p:cNvSpPr/>
          <p:nvPr/>
        </p:nvSpPr>
        <p:spPr>
          <a:xfrm>
            <a:off x="9154519" y="3892798"/>
            <a:ext cx="229302" cy="22249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ysClr val="windowText" lastClr="000000"/>
                </a:solidFill>
              </a:rPr>
              <a:t>5</a:t>
            </a:r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B46ADACC-9ED6-A067-FF12-7EB2C6D00A0A}"/>
              </a:ext>
            </a:extLst>
          </p:cNvPr>
          <p:cNvSpPr/>
          <p:nvPr/>
        </p:nvSpPr>
        <p:spPr>
          <a:xfrm>
            <a:off x="10325714" y="3863099"/>
            <a:ext cx="229302" cy="22249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ysClr val="windowText" lastClr="000000"/>
                </a:solidFill>
              </a:rPr>
              <a:t>6</a:t>
            </a:r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6C80ADC4-3E2A-D514-E50B-079BF1D801C3}"/>
              </a:ext>
            </a:extLst>
          </p:cNvPr>
          <p:cNvSpPr/>
          <p:nvPr/>
        </p:nvSpPr>
        <p:spPr>
          <a:xfrm>
            <a:off x="10402554" y="4367864"/>
            <a:ext cx="960582" cy="332509"/>
          </a:xfrm>
          <a:prstGeom prst="rect">
            <a:avLst/>
          </a:prstGeom>
          <a:ln>
            <a:noFill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등록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D792C210-4758-5155-8EEF-61269B03015B}"/>
              </a:ext>
            </a:extLst>
          </p:cNvPr>
          <p:cNvSpPr/>
          <p:nvPr/>
        </p:nvSpPr>
        <p:spPr>
          <a:xfrm>
            <a:off x="10402554" y="4759346"/>
            <a:ext cx="960582" cy="332509"/>
          </a:xfrm>
          <a:prstGeom prst="rect">
            <a:avLst/>
          </a:prstGeom>
          <a:ln>
            <a:noFill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등록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F263D010-0FB3-C57D-223C-159C531A85B6}"/>
              </a:ext>
            </a:extLst>
          </p:cNvPr>
          <p:cNvSpPr/>
          <p:nvPr/>
        </p:nvSpPr>
        <p:spPr>
          <a:xfrm>
            <a:off x="10402554" y="5150828"/>
            <a:ext cx="960582" cy="332509"/>
          </a:xfrm>
          <a:prstGeom prst="rect">
            <a:avLst/>
          </a:prstGeom>
          <a:ln>
            <a:noFill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등록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6DE80812-2241-FFA5-4DB7-BFB18744DEDB}"/>
              </a:ext>
            </a:extLst>
          </p:cNvPr>
          <p:cNvSpPr/>
          <p:nvPr/>
        </p:nvSpPr>
        <p:spPr>
          <a:xfrm>
            <a:off x="10402554" y="5542310"/>
            <a:ext cx="960582" cy="332509"/>
          </a:xfrm>
          <a:prstGeom prst="rect">
            <a:avLst/>
          </a:prstGeom>
          <a:ln>
            <a:noFill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등록</a:t>
            </a: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D7F76E98-DB41-7841-13C6-EB43251761A0}"/>
              </a:ext>
            </a:extLst>
          </p:cNvPr>
          <p:cNvSpPr/>
          <p:nvPr/>
        </p:nvSpPr>
        <p:spPr>
          <a:xfrm>
            <a:off x="1895717" y="3052224"/>
            <a:ext cx="229302" cy="22249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ysClr val="windowText" lastClr="000000"/>
                </a:solidFill>
              </a:rPr>
              <a:t>1</a:t>
            </a:r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76E765FB-D467-EEDE-6402-2AE4F846DA2B}"/>
              </a:ext>
            </a:extLst>
          </p:cNvPr>
          <p:cNvSpPr/>
          <p:nvPr/>
        </p:nvSpPr>
        <p:spPr>
          <a:xfrm>
            <a:off x="8834442" y="3067827"/>
            <a:ext cx="229302" cy="22249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ysClr val="windowText" lastClr="000000"/>
                </a:solidFill>
              </a:rPr>
              <a:t>2</a:t>
            </a:r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32803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DB3508E9-2D38-32A8-9D22-EBA12DE612D6}"/>
              </a:ext>
            </a:extLst>
          </p:cNvPr>
          <p:cNvSpPr/>
          <p:nvPr/>
        </p:nvSpPr>
        <p:spPr>
          <a:xfrm>
            <a:off x="1919010" y="733981"/>
            <a:ext cx="9020986" cy="582263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LOT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r>
              <a:rPr lang="en-US" altLang="ko-KR" sz="1000" dirty="0">
                <a:solidFill>
                  <a:schemeClr val="tx1"/>
                </a:solidFill>
              </a:rPr>
              <a:t>NO:                                                                                     </a:t>
            </a:r>
            <a:r>
              <a:rPr lang="ko-KR" altLang="en-US" sz="1000" dirty="0">
                <a:solidFill>
                  <a:schemeClr val="tx1"/>
                </a:solidFill>
              </a:rPr>
              <a:t>품목대표사진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en-US" altLang="ko-KR" sz="1400" dirty="0">
                <a:solidFill>
                  <a:schemeClr val="tx1"/>
                </a:solidFill>
              </a:rPr>
              <a:t>*</a:t>
            </a:r>
            <a:r>
              <a:rPr lang="ko-KR" altLang="en-US" sz="1400" dirty="0">
                <a:solidFill>
                  <a:schemeClr val="tx1"/>
                </a:solidFill>
              </a:rPr>
              <a:t>수주대상 품목 상세정보</a:t>
            </a:r>
            <a:endParaRPr lang="en-US" altLang="ko-KR" sz="1400" dirty="0">
              <a:solidFill>
                <a:schemeClr val="tx1"/>
              </a:solidFill>
            </a:endParaRPr>
          </a:p>
          <a:p>
            <a:r>
              <a:rPr lang="ko-KR" altLang="en-US" sz="1000" dirty="0">
                <a:solidFill>
                  <a:schemeClr val="tx1"/>
                </a:solidFill>
              </a:rPr>
              <a:t>거래처명</a:t>
            </a:r>
            <a:r>
              <a:rPr lang="en-US" altLang="ko-KR" sz="1000" dirty="0">
                <a:solidFill>
                  <a:schemeClr val="tx1"/>
                </a:solidFill>
              </a:rPr>
              <a:t>: </a:t>
            </a:r>
            <a:r>
              <a:rPr lang="ko-KR" altLang="en-US" sz="1000" dirty="0">
                <a:solidFill>
                  <a:schemeClr val="tx1"/>
                </a:solidFill>
              </a:rPr>
              <a:t>코드 하우스</a:t>
            </a:r>
            <a:endParaRPr lang="en-US" altLang="ko-KR" sz="1000" dirty="0">
              <a:solidFill>
                <a:schemeClr val="tx1"/>
              </a:solidFill>
            </a:endParaRPr>
          </a:p>
          <a:p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ko-KR" altLang="en-US" sz="1000" dirty="0">
                <a:solidFill>
                  <a:schemeClr val="tx1"/>
                </a:solidFill>
              </a:rPr>
              <a:t>품목명</a:t>
            </a:r>
            <a:r>
              <a:rPr lang="en-US" altLang="ko-KR" sz="1000" dirty="0">
                <a:solidFill>
                  <a:schemeClr val="tx1"/>
                </a:solidFill>
              </a:rPr>
              <a:t>: </a:t>
            </a:r>
            <a:r>
              <a:rPr lang="ko-KR" altLang="en-US" sz="1000" dirty="0" err="1">
                <a:solidFill>
                  <a:schemeClr val="tx1"/>
                </a:solidFill>
              </a:rPr>
              <a:t>핀걸이</a:t>
            </a:r>
            <a:r>
              <a:rPr lang="ko-KR" altLang="en-US" sz="1000" dirty="0">
                <a:solidFill>
                  <a:schemeClr val="tx1"/>
                </a:solidFill>
              </a:rPr>
              <a:t> 스프링</a:t>
            </a:r>
            <a:endParaRPr lang="en-US" altLang="ko-KR" sz="1000" dirty="0">
              <a:solidFill>
                <a:schemeClr val="tx1"/>
              </a:solidFill>
            </a:endParaRPr>
          </a:p>
          <a:p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ko-KR" altLang="en-US" sz="1000" dirty="0">
                <a:solidFill>
                  <a:schemeClr val="tx1"/>
                </a:solidFill>
              </a:rPr>
              <a:t>품목번호</a:t>
            </a:r>
            <a:r>
              <a:rPr lang="en-US" altLang="ko-KR" sz="1000" dirty="0">
                <a:solidFill>
                  <a:schemeClr val="tx1"/>
                </a:solidFill>
              </a:rPr>
              <a:t>: Code-001</a:t>
            </a:r>
          </a:p>
          <a:p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ko-KR" altLang="en-US" sz="1000" dirty="0">
                <a:solidFill>
                  <a:schemeClr val="tx1"/>
                </a:solidFill>
              </a:rPr>
              <a:t>분류</a:t>
            </a:r>
            <a:r>
              <a:rPr lang="en-US" altLang="ko-KR" sz="1000" dirty="0">
                <a:solidFill>
                  <a:schemeClr val="tx1"/>
                </a:solidFill>
              </a:rPr>
              <a:t>: </a:t>
            </a:r>
            <a:r>
              <a:rPr lang="ko-KR" altLang="en-US" sz="1000" dirty="0">
                <a:solidFill>
                  <a:schemeClr val="tx1"/>
                </a:solidFill>
              </a:rPr>
              <a:t>방산</a:t>
            </a:r>
            <a:endParaRPr lang="en-US" altLang="ko-KR" sz="1000" dirty="0">
              <a:solidFill>
                <a:schemeClr val="tx1"/>
              </a:solidFill>
            </a:endParaRPr>
          </a:p>
          <a:p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ko-KR" altLang="en-US" sz="1000" dirty="0">
                <a:solidFill>
                  <a:schemeClr val="tx1"/>
                </a:solidFill>
              </a:rPr>
              <a:t>색상</a:t>
            </a:r>
            <a:r>
              <a:rPr lang="en-US" altLang="ko-KR" sz="1000" dirty="0">
                <a:solidFill>
                  <a:schemeClr val="tx1"/>
                </a:solidFill>
              </a:rPr>
              <a:t>: Yellow</a:t>
            </a:r>
          </a:p>
          <a:p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ko-KR" altLang="en-US" sz="1000" dirty="0">
                <a:solidFill>
                  <a:schemeClr val="tx1"/>
                </a:solidFill>
              </a:rPr>
              <a:t>도장 방식</a:t>
            </a:r>
            <a:r>
              <a:rPr lang="en-US" altLang="ko-KR" sz="1000" dirty="0">
                <a:solidFill>
                  <a:schemeClr val="tx1"/>
                </a:solidFill>
              </a:rPr>
              <a:t>: </a:t>
            </a:r>
            <a:r>
              <a:rPr lang="ko-KR" altLang="en-US" sz="1000" dirty="0">
                <a:solidFill>
                  <a:schemeClr val="tx1"/>
                </a:solidFill>
              </a:rPr>
              <a:t>입체</a:t>
            </a:r>
            <a:endParaRPr lang="en-US" altLang="ko-KR" sz="1000" dirty="0">
              <a:solidFill>
                <a:schemeClr val="tx1"/>
              </a:solidFill>
            </a:endParaRPr>
          </a:p>
          <a:p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ko-KR" altLang="en-US" sz="1000" dirty="0">
                <a:solidFill>
                  <a:schemeClr val="tx1"/>
                </a:solidFill>
              </a:rPr>
              <a:t>비고</a:t>
            </a:r>
            <a:r>
              <a:rPr lang="en-US" altLang="ko-KR" sz="1000" dirty="0">
                <a:solidFill>
                  <a:schemeClr val="tx1"/>
                </a:solidFill>
              </a:rPr>
              <a:t>: </a:t>
            </a:r>
          </a:p>
          <a:p>
            <a:endParaRPr lang="en-US" altLang="ko-KR" sz="1000" dirty="0">
              <a:solidFill>
                <a:schemeClr val="tx1"/>
              </a:solidFill>
            </a:endParaRPr>
          </a:p>
          <a:p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400" dirty="0">
                <a:solidFill>
                  <a:schemeClr val="tx1"/>
                </a:solidFill>
              </a:rPr>
              <a:t>*</a:t>
            </a:r>
            <a:r>
              <a:rPr lang="ko-KR" altLang="en-US" sz="1400" dirty="0">
                <a:solidFill>
                  <a:schemeClr val="tx1"/>
                </a:solidFill>
              </a:rPr>
              <a:t>라우팅 정보</a:t>
            </a:r>
            <a:endParaRPr lang="en-US" altLang="ko-KR" sz="1400" dirty="0">
              <a:solidFill>
                <a:schemeClr val="tx1"/>
              </a:solidFill>
            </a:endParaRPr>
          </a:p>
          <a:p>
            <a:r>
              <a:rPr lang="ko-KR" altLang="en-US" sz="1000" dirty="0">
                <a:solidFill>
                  <a:schemeClr val="tx1"/>
                </a:solidFill>
              </a:rPr>
              <a:t>필요 공정 및 순서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</a:p>
          <a:p>
            <a:r>
              <a:rPr lang="ko-KR" altLang="en-US" sz="1000" dirty="0">
                <a:solidFill>
                  <a:schemeClr val="tx1"/>
                </a:solidFill>
              </a:rPr>
              <a:t>입고</a:t>
            </a:r>
            <a:r>
              <a:rPr lang="en-US" altLang="ko-KR" sz="1000" dirty="0">
                <a:solidFill>
                  <a:schemeClr val="tx1"/>
                </a:solidFill>
              </a:rPr>
              <a:t>/</a:t>
            </a:r>
            <a:r>
              <a:rPr lang="ko-KR" altLang="en-US" sz="1000" dirty="0">
                <a:solidFill>
                  <a:schemeClr val="tx1"/>
                </a:solidFill>
              </a:rPr>
              <a:t>수입검사 </a:t>
            </a:r>
            <a:r>
              <a:rPr lang="en-US" altLang="ko-KR" sz="1000" dirty="0">
                <a:solidFill>
                  <a:schemeClr val="tx1"/>
                </a:solidFill>
              </a:rPr>
              <a:t>-&gt; </a:t>
            </a:r>
            <a:r>
              <a:rPr lang="ko-KR" altLang="en-US" sz="1000" dirty="0">
                <a:solidFill>
                  <a:schemeClr val="tx1"/>
                </a:solidFill>
              </a:rPr>
              <a:t>이물질 제거 </a:t>
            </a:r>
            <a:r>
              <a:rPr lang="en-US" altLang="ko-KR" sz="1000" dirty="0">
                <a:solidFill>
                  <a:schemeClr val="tx1"/>
                </a:solidFill>
              </a:rPr>
              <a:t>-&gt; </a:t>
            </a:r>
            <a:r>
              <a:rPr lang="ko-KR" altLang="en-US" sz="1000" dirty="0" err="1">
                <a:solidFill>
                  <a:schemeClr val="tx1"/>
                </a:solidFill>
              </a:rPr>
              <a:t>마스킹</a:t>
            </a:r>
            <a:r>
              <a:rPr lang="en-US" altLang="ko-KR" sz="1000" dirty="0">
                <a:solidFill>
                  <a:schemeClr val="tx1"/>
                </a:solidFill>
              </a:rPr>
              <a:t>1 -&gt; </a:t>
            </a:r>
            <a:r>
              <a:rPr lang="ko-KR" altLang="en-US" sz="1000" dirty="0" err="1">
                <a:solidFill>
                  <a:schemeClr val="tx1"/>
                </a:solidFill>
              </a:rPr>
              <a:t>마스킹</a:t>
            </a:r>
            <a:r>
              <a:rPr lang="en-US" altLang="ko-KR" sz="1000" dirty="0">
                <a:solidFill>
                  <a:schemeClr val="tx1"/>
                </a:solidFill>
              </a:rPr>
              <a:t>2 -&gt; Loading/</a:t>
            </a:r>
            <a:r>
              <a:rPr lang="ko-KR" altLang="en-US" sz="1000" dirty="0">
                <a:solidFill>
                  <a:schemeClr val="tx1"/>
                </a:solidFill>
              </a:rPr>
              <a:t>도장 </a:t>
            </a:r>
            <a:r>
              <a:rPr lang="en-US" altLang="ko-KR" sz="1000" dirty="0">
                <a:solidFill>
                  <a:schemeClr val="tx1"/>
                </a:solidFill>
              </a:rPr>
              <a:t>-&gt; </a:t>
            </a:r>
            <a:r>
              <a:rPr lang="ko-KR" altLang="en-US" sz="1000" dirty="0">
                <a:solidFill>
                  <a:schemeClr val="tx1"/>
                </a:solidFill>
              </a:rPr>
              <a:t>건조 </a:t>
            </a:r>
            <a:r>
              <a:rPr lang="en-US" altLang="ko-KR" sz="1000" dirty="0">
                <a:solidFill>
                  <a:schemeClr val="tx1"/>
                </a:solidFill>
              </a:rPr>
              <a:t>-&gt; Loading/</a:t>
            </a:r>
            <a:r>
              <a:rPr lang="ko-KR" altLang="en-US" sz="1000" dirty="0">
                <a:solidFill>
                  <a:schemeClr val="tx1"/>
                </a:solidFill>
              </a:rPr>
              <a:t>도장 </a:t>
            </a:r>
            <a:r>
              <a:rPr lang="en-US" altLang="ko-KR" sz="1000" dirty="0">
                <a:solidFill>
                  <a:schemeClr val="tx1"/>
                </a:solidFill>
              </a:rPr>
              <a:t>-&gt; </a:t>
            </a:r>
            <a:r>
              <a:rPr lang="ko-KR" altLang="en-US" sz="1000" dirty="0">
                <a:solidFill>
                  <a:schemeClr val="tx1"/>
                </a:solidFill>
              </a:rPr>
              <a:t>건조 </a:t>
            </a:r>
            <a:r>
              <a:rPr lang="en-US" altLang="ko-KR" sz="1000" dirty="0">
                <a:solidFill>
                  <a:schemeClr val="tx1"/>
                </a:solidFill>
              </a:rPr>
              <a:t>-&gt; </a:t>
            </a:r>
            <a:r>
              <a:rPr lang="ko-KR" altLang="en-US" sz="1000" dirty="0" err="1">
                <a:solidFill>
                  <a:schemeClr val="tx1"/>
                </a:solidFill>
              </a:rPr>
              <a:t>마스킹</a:t>
            </a:r>
            <a:r>
              <a:rPr lang="ko-KR" altLang="en-US" sz="1000" dirty="0">
                <a:solidFill>
                  <a:schemeClr val="tx1"/>
                </a:solidFill>
              </a:rPr>
              <a:t> 제거 </a:t>
            </a:r>
            <a:r>
              <a:rPr lang="en-US" altLang="ko-KR" sz="1000" dirty="0">
                <a:solidFill>
                  <a:schemeClr val="tx1"/>
                </a:solidFill>
              </a:rPr>
              <a:t>-&gt; </a:t>
            </a:r>
            <a:r>
              <a:rPr lang="ko-KR" altLang="en-US" sz="1000" dirty="0">
                <a:solidFill>
                  <a:schemeClr val="tx1"/>
                </a:solidFill>
              </a:rPr>
              <a:t>포장</a:t>
            </a:r>
            <a:endParaRPr lang="en-US" altLang="ko-KR" sz="1000" dirty="0">
              <a:solidFill>
                <a:schemeClr val="tx1"/>
              </a:solidFill>
            </a:endParaRPr>
          </a:p>
          <a:p>
            <a:endParaRPr lang="en-US" altLang="ko-KR" sz="1000" dirty="0">
              <a:solidFill>
                <a:schemeClr val="tx1"/>
              </a:solidFill>
            </a:endParaRPr>
          </a:p>
          <a:p>
            <a:endParaRPr lang="en-US" altLang="ko-KR" sz="1000" dirty="0">
              <a:solidFill>
                <a:schemeClr val="tx1"/>
              </a:solidFill>
            </a:endParaRPr>
          </a:p>
          <a:p>
            <a:endParaRPr lang="en-US" altLang="ko-KR" sz="1000" dirty="0">
              <a:solidFill>
                <a:schemeClr val="tx1"/>
              </a:solidFill>
            </a:endParaRPr>
          </a:p>
          <a:p>
            <a:endParaRPr lang="en-US" altLang="ko-KR" sz="1000" dirty="0">
              <a:solidFill>
                <a:schemeClr val="tx1"/>
              </a:solidFill>
            </a:endParaRPr>
          </a:p>
          <a:p>
            <a:endParaRPr lang="en-US" altLang="ko-KR" sz="1000" dirty="0">
              <a:solidFill>
                <a:schemeClr val="tx1"/>
              </a:solidFill>
            </a:endParaRPr>
          </a:p>
          <a:p>
            <a:endParaRPr lang="en-US" altLang="ko-KR" sz="1000" dirty="0">
              <a:solidFill>
                <a:schemeClr val="tx1"/>
              </a:solidFill>
            </a:endParaRPr>
          </a:p>
          <a:p>
            <a:endParaRPr lang="en-US" altLang="ko-KR" sz="1000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77D9DAC-F84E-6328-7127-0C89451D0E65}"/>
              </a:ext>
            </a:extLst>
          </p:cNvPr>
          <p:cNvSpPr/>
          <p:nvPr/>
        </p:nvSpPr>
        <p:spPr>
          <a:xfrm>
            <a:off x="2386460" y="807788"/>
            <a:ext cx="4690913" cy="31983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n w="0">
                  <a:solidFill>
                    <a:schemeClr val="bg1"/>
                  </a:solidFill>
                </a:ln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작업 지시서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8555578-41BF-3D1D-050C-2CA5F21B74EE}"/>
              </a:ext>
            </a:extLst>
          </p:cNvPr>
          <p:cNvSpPr/>
          <p:nvPr/>
        </p:nvSpPr>
        <p:spPr>
          <a:xfrm>
            <a:off x="7183985" y="733981"/>
            <a:ext cx="3756011" cy="3284458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품목 대표 사진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368639FF-18C8-3A1D-8A6E-B19449A4A715}"/>
              </a:ext>
            </a:extLst>
          </p:cNvPr>
          <p:cNvSpPr/>
          <p:nvPr/>
        </p:nvSpPr>
        <p:spPr>
          <a:xfrm>
            <a:off x="1995775" y="1204710"/>
            <a:ext cx="229302" cy="22249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ysClr val="windowText" lastClr="000000"/>
                </a:solidFill>
              </a:rPr>
              <a:t>1</a:t>
            </a:r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FA290ABD-C7BD-9FC9-530A-2D3D0D847C5B}"/>
              </a:ext>
            </a:extLst>
          </p:cNvPr>
          <p:cNvSpPr/>
          <p:nvPr/>
        </p:nvSpPr>
        <p:spPr>
          <a:xfrm>
            <a:off x="1765871" y="2943133"/>
            <a:ext cx="229302" cy="22249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ysClr val="windowText" lastClr="000000"/>
                </a:solidFill>
              </a:rPr>
              <a:t>6</a:t>
            </a:r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1A80D07C-D6FC-97F5-9E7B-14D747C5FF49}"/>
              </a:ext>
            </a:extLst>
          </p:cNvPr>
          <p:cNvSpPr/>
          <p:nvPr/>
        </p:nvSpPr>
        <p:spPr>
          <a:xfrm>
            <a:off x="1785670" y="2640626"/>
            <a:ext cx="229302" cy="22249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ysClr val="windowText" lastClr="000000"/>
                </a:solidFill>
              </a:rPr>
              <a:t>5</a:t>
            </a:r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80E3998A-66AE-FA59-07AC-63425448E67E}"/>
              </a:ext>
            </a:extLst>
          </p:cNvPr>
          <p:cNvSpPr/>
          <p:nvPr/>
        </p:nvSpPr>
        <p:spPr>
          <a:xfrm>
            <a:off x="1766473" y="2337395"/>
            <a:ext cx="229302" cy="22249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ysClr val="windowText" lastClr="000000"/>
                </a:solidFill>
              </a:rPr>
              <a:t>4</a:t>
            </a:r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77F17A33-AE7B-AD94-E24F-FB7F4AF01162}"/>
              </a:ext>
            </a:extLst>
          </p:cNvPr>
          <p:cNvSpPr/>
          <p:nvPr/>
        </p:nvSpPr>
        <p:spPr>
          <a:xfrm>
            <a:off x="1766473" y="2009671"/>
            <a:ext cx="229302" cy="22249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ysClr val="windowText" lastClr="000000"/>
                </a:solidFill>
              </a:rPr>
              <a:t>3</a:t>
            </a:r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6B8D36F1-7F13-D6F2-CB52-62C13AA0C066}"/>
              </a:ext>
            </a:extLst>
          </p:cNvPr>
          <p:cNvSpPr/>
          <p:nvPr/>
        </p:nvSpPr>
        <p:spPr>
          <a:xfrm>
            <a:off x="1766473" y="1729707"/>
            <a:ext cx="229302" cy="22249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ysClr val="windowText" lastClr="000000"/>
                </a:solidFill>
              </a:rPr>
              <a:t>2</a:t>
            </a:r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117E77AC-0FF1-65FB-65D3-6397477FB109}"/>
              </a:ext>
            </a:extLst>
          </p:cNvPr>
          <p:cNvSpPr/>
          <p:nvPr/>
        </p:nvSpPr>
        <p:spPr>
          <a:xfrm>
            <a:off x="1761580" y="4036707"/>
            <a:ext cx="229302" cy="22249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ysClr val="windowText" lastClr="000000"/>
                </a:solidFill>
              </a:rPr>
              <a:t>9</a:t>
            </a:r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5D66C957-03AA-6633-259A-C97C2A5766C3}"/>
              </a:ext>
            </a:extLst>
          </p:cNvPr>
          <p:cNvSpPr/>
          <p:nvPr/>
        </p:nvSpPr>
        <p:spPr>
          <a:xfrm>
            <a:off x="1771348" y="3253209"/>
            <a:ext cx="229302" cy="22249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ysClr val="windowText" lastClr="000000"/>
                </a:solidFill>
              </a:rPr>
              <a:t>7</a:t>
            </a:r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F5C8172C-9EB7-1DB7-D27C-55BE95F56427}"/>
              </a:ext>
            </a:extLst>
          </p:cNvPr>
          <p:cNvSpPr/>
          <p:nvPr/>
        </p:nvSpPr>
        <p:spPr>
          <a:xfrm>
            <a:off x="1761580" y="3576458"/>
            <a:ext cx="229302" cy="22249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ysClr val="windowText" lastClr="000000"/>
                </a:solidFill>
              </a:rPr>
              <a:t>8</a:t>
            </a:r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9687468D-D50A-5D78-4133-7C8B2D158C60}"/>
              </a:ext>
            </a:extLst>
          </p:cNvPr>
          <p:cNvSpPr/>
          <p:nvPr/>
        </p:nvSpPr>
        <p:spPr>
          <a:xfrm>
            <a:off x="7077373" y="558972"/>
            <a:ext cx="482646" cy="350017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ysClr val="windowText" lastClr="000000"/>
                </a:solidFill>
              </a:rPr>
              <a:t>10</a:t>
            </a:r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FE79DE3D-D68D-539E-5812-17789BCA8F8B}"/>
              </a:ext>
            </a:extLst>
          </p:cNvPr>
          <p:cNvSpPr/>
          <p:nvPr/>
        </p:nvSpPr>
        <p:spPr>
          <a:xfrm>
            <a:off x="10192725" y="6188095"/>
            <a:ext cx="660398" cy="303344"/>
          </a:xfrm>
          <a:prstGeom prst="rect">
            <a:avLst/>
          </a:prstGeom>
          <a:ln>
            <a:noFill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출력</a:t>
            </a: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B43D0D5E-731F-70AB-800E-7ACE962E72FD}"/>
              </a:ext>
            </a:extLst>
          </p:cNvPr>
          <p:cNvSpPr/>
          <p:nvPr/>
        </p:nvSpPr>
        <p:spPr>
          <a:xfrm>
            <a:off x="9843726" y="5947907"/>
            <a:ext cx="482646" cy="350017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ysClr val="windowText" lastClr="000000"/>
                </a:solidFill>
              </a:rPr>
              <a:t>11</a:t>
            </a:r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62818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직사각형 55">
            <a:extLst>
              <a:ext uri="{FF2B5EF4-FFF2-40B4-BE49-F238E27FC236}">
                <a16:creationId xmlns:a16="http://schemas.microsoft.com/office/drawing/2014/main" id="{F90D618A-7734-A3EC-7078-0418AF6C93E8}"/>
              </a:ext>
            </a:extLst>
          </p:cNvPr>
          <p:cNvSpPr/>
          <p:nvPr/>
        </p:nvSpPr>
        <p:spPr>
          <a:xfrm>
            <a:off x="8256636" y="4995212"/>
            <a:ext cx="1338051" cy="49922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EXCEL</a:t>
            </a:r>
            <a:r>
              <a:rPr lang="ko-KR" altLang="en-US" sz="1200" dirty="0"/>
              <a:t>다운로드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8254C63-04AE-5011-8265-52094411B2DD}"/>
              </a:ext>
            </a:extLst>
          </p:cNvPr>
          <p:cNvSpPr/>
          <p:nvPr/>
        </p:nvSpPr>
        <p:spPr>
          <a:xfrm>
            <a:off x="11182103" y="2265102"/>
            <a:ext cx="927488" cy="28399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작업 지시서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EC0F4C3-FC66-3A48-D013-E33AD254BDA4}"/>
              </a:ext>
            </a:extLst>
          </p:cNvPr>
          <p:cNvSpPr/>
          <p:nvPr/>
        </p:nvSpPr>
        <p:spPr>
          <a:xfrm>
            <a:off x="2315632" y="69706"/>
            <a:ext cx="8619065" cy="4674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dirty="0">
                <a:ln w="0">
                  <a:solidFill>
                    <a:schemeClr val="bg1"/>
                  </a:solidFill>
                </a:ln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수주품목 입고 이력조회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EED70E0F-E4AD-2C99-F1B9-1180022467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9244696"/>
              </p:ext>
            </p:extLst>
          </p:nvPr>
        </p:nvGraphicFramePr>
        <p:xfrm>
          <a:off x="2147449" y="1819983"/>
          <a:ext cx="7439399" cy="31394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29925">
                  <a:extLst>
                    <a:ext uri="{9D8B030D-6E8A-4147-A177-3AD203B41FA5}">
                      <a16:colId xmlns:a16="http://schemas.microsoft.com/office/drawing/2014/main" val="2752746963"/>
                    </a:ext>
                  </a:extLst>
                </a:gridCol>
                <a:gridCol w="929925">
                  <a:extLst>
                    <a:ext uri="{9D8B030D-6E8A-4147-A177-3AD203B41FA5}">
                      <a16:colId xmlns:a16="http://schemas.microsoft.com/office/drawing/2014/main" val="3589502162"/>
                    </a:ext>
                  </a:extLst>
                </a:gridCol>
                <a:gridCol w="929925">
                  <a:extLst>
                    <a:ext uri="{9D8B030D-6E8A-4147-A177-3AD203B41FA5}">
                      <a16:colId xmlns:a16="http://schemas.microsoft.com/office/drawing/2014/main" val="3393502706"/>
                    </a:ext>
                  </a:extLst>
                </a:gridCol>
                <a:gridCol w="1059467">
                  <a:extLst>
                    <a:ext uri="{9D8B030D-6E8A-4147-A177-3AD203B41FA5}">
                      <a16:colId xmlns:a16="http://schemas.microsoft.com/office/drawing/2014/main" val="3734340409"/>
                    </a:ext>
                  </a:extLst>
                </a:gridCol>
                <a:gridCol w="1195771">
                  <a:extLst>
                    <a:ext uri="{9D8B030D-6E8A-4147-A177-3AD203B41FA5}">
                      <a16:colId xmlns:a16="http://schemas.microsoft.com/office/drawing/2014/main" val="509698463"/>
                    </a:ext>
                  </a:extLst>
                </a:gridCol>
                <a:gridCol w="930840">
                  <a:extLst>
                    <a:ext uri="{9D8B030D-6E8A-4147-A177-3AD203B41FA5}">
                      <a16:colId xmlns:a16="http://schemas.microsoft.com/office/drawing/2014/main" val="3001115829"/>
                    </a:ext>
                  </a:extLst>
                </a:gridCol>
                <a:gridCol w="533621">
                  <a:extLst>
                    <a:ext uri="{9D8B030D-6E8A-4147-A177-3AD203B41FA5}">
                      <a16:colId xmlns:a16="http://schemas.microsoft.com/office/drawing/2014/main" val="2025121195"/>
                    </a:ext>
                  </a:extLst>
                </a:gridCol>
                <a:gridCol w="929925">
                  <a:extLst>
                    <a:ext uri="{9D8B030D-6E8A-4147-A177-3AD203B41FA5}">
                      <a16:colId xmlns:a16="http://schemas.microsoft.com/office/drawing/2014/main" val="18010052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입고 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거래처명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품목 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품목명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입고 수량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입고 일자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도장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분류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2583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58130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0242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LOT-20251009-001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코드 하우스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Code-001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/>
                        <a:t>핀걸이</a:t>
                      </a:r>
                      <a:r>
                        <a:rPr lang="ko-KR" altLang="en-US" sz="1200" dirty="0"/>
                        <a:t> 스프링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500EA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2025-10-09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분체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방산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74191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LOT-20251010-002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코드 하우스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Code-002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FAN COVER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100EA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2025-10-10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입체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자동차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5784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82142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00333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5921126"/>
                  </a:ext>
                </a:extLst>
              </a:tr>
            </a:tbl>
          </a:graphicData>
        </a:graphic>
      </p:graphicFrame>
      <p:sp>
        <p:nvSpPr>
          <p:cNvPr id="24" name="직사각형 23">
            <a:extLst>
              <a:ext uri="{FF2B5EF4-FFF2-40B4-BE49-F238E27FC236}">
                <a16:creationId xmlns:a16="http://schemas.microsoft.com/office/drawing/2014/main" id="{42AFA72E-6A29-A390-5CC9-47DF59073909}"/>
              </a:ext>
            </a:extLst>
          </p:cNvPr>
          <p:cNvSpPr/>
          <p:nvPr/>
        </p:nvSpPr>
        <p:spPr>
          <a:xfrm>
            <a:off x="9718970" y="2608851"/>
            <a:ext cx="651162" cy="303344"/>
          </a:xfrm>
          <a:prstGeom prst="rect">
            <a:avLst/>
          </a:prstGeom>
          <a:ln>
            <a:noFill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수정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DE2EBF9B-946A-8333-EAD2-8D19BA768656}"/>
              </a:ext>
            </a:extLst>
          </p:cNvPr>
          <p:cNvSpPr/>
          <p:nvPr/>
        </p:nvSpPr>
        <p:spPr>
          <a:xfrm>
            <a:off x="9723335" y="3518721"/>
            <a:ext cx="651162" cy="303344"/>
          </a:xfrm>
          <a:prstGeom prst="rect">
            <a:avLst/>
          </a:prstGeom>
          <a:ln>
            <a:noFill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수정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D572606A-748A-4588-A569-0524FE72332F}"/>
              </a:ext>
            </a:extLst>
          </p:cNvPr>
          <p:cNvSpPr/>
          <p:nvPr/>
        </p:nvSpPr>
        <p:spPr>
          <a:xfrm>
            <a:off x="9714262" y="3895043"/>
            <a:ext cx="651162" cy="303344"/>
          </a:xfrm>
          <a:prstGeom prst="rect">
            <a:avLst/>
          </a:prstGeom>
          <a:ln>
            <a:noFill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수정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6E1BA4EA-CD2E-9B79-109B-64A43B41B580}"/>
              </a:ext>
            </a:extLst>
          </p:cNvPr>
          <p:cNvSpPr/>
          <p:nvPr/>
        </p:nvSpPr>
        <p:spPr>
          <a:xfrm>
            <a:off x="9714262" y="4258120"/>
            <a:ext cx="651162" cy="303344"/>
          </a:xfrm>
          <a:prstGeom prst="rect">
            <a:avLst/>
          </a:prstGeom>
          <a:ln>
            <a:noFill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수정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589A5A8-1526-0BBB-969F-8D6CFB26AB7A}"/>
              </a:ext>
            </a:extLst>
          </p:cNvPr>
          <p:cNvSpPr/>
          <p:nvPr/>
        </p:nvSpPr>
        <p:spPr>
          <a:xfrm>
            <a:off x="9723335" y="4647688"/>
            <a:ext cx="651162" cy="303344"/>
          </a:xfrm>
          <a:prstGeom prst="rect">
            <a:avLst/>
          </a:prstGeom>
          <a:ln>
            <a:noFill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수정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BA052A12-D1C2-EE7C-581E-C4DFFA9234E4}"/>
              </a:ext>
            </a:extLst>
          </p:cNvPr>
          <p:cNvSpPr/>
          <p:nvPr/>
        </p:nvSpPr>
        <p:spPr>
          <a:xfrm>
            <a:off x="9706541" y="2217282"/>
            <a:ext cx="651162" cy="303344"/>
          </a:xfrm>
          <a:prstGeom prst="rect">
            <a:avLst/>
          </a:prstGeom>
          <a:ln>
            <a:noFill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수정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1D28E0E7-9A70-957C-625A-8F1295B9EEFA}"/>
              </a:ext>
            </a:extLst>
          </p:cNvPr>
          <p:cNvSpPr/>
          <p:nvPr/>
        </p:nvSpPr>
        <p:spPr>
          <a:xfrm>
            <a:off x="9720189" y="3076470"/>
            <a:ext cx="651162" cy="303344"/>
          </a:xfrm>
          <a:prstGeom prst="rect">
            <a:avLst/>
          </a:prstGeom>
          <a:ln>
            <a:noFill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수정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CAA5042-E762-6982-D25F-D8DFD0787E98}"/>
              </a:ext>
            </a:extLst>
          </p:cNvPr>
          <p:cNvSpPr/>
          <p:nvPr/>
        </p:nvSpPr>
        <p:spPr>
          <a:xfrm>
            <a:off x="0" y="0"/>
            <a:ext cx="18796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2000" dirty="0">
                <a:solidFill>
                  <a:srgbClr val="00B0F0"/>
                </a:solidFill>
              </a:rPr>
              <a:t>대원공업㈜</a:t>
            </a:r>
            <a:endParaRPr lang="en-US" altLang="ko-KR" sz="2000" dirty="0">
              <a:solidFill>
                <a:srgbClr val="00B0F0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r>
              <a:rPr lang="ko-KR" altLang="en-US" dirty="0">
                <a:solidFill>
                  <a:schemeClr val="tx1"/>
                </a:solidFill>
              </a:rPr>
              <a:t>수주품목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-</a:t>
            </a:r>
            <a:r>
              <a:rPr lang="ko-KR" altLang="en-US" sz="1200" dirty="0">
                <a:solidFill>
                  <a:schemeClr val="tx1"/>
                </a:solidFill>
              </a:rPr>
              <a:t>입고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   </a:t>
            </a:r>
            <a:r>
              <a:rPr lang="ko-KR" altLang="en-US" sz="1200" dirty="0">
                <a:solidFill>
                  <a:schemeClr val="tx1"/>
                </a:solidFill>
              </a:rPr>
              <a:t>등록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   </a:t>
            </a:r>
            <a:r>
              <a:rPr lang="ko-KR" altLang="en-US" sz="1200" dirty="0">
                <a:solidFill>
                  <a:schemeClr val="tx1"/>
                </a:solidFill>
              </a:rPr>
              <a:t>이력조회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-</a:t>
            </a:r>
            <a:r>
              <a:rPr lang="ko-KR" altLang="en-US" sz="1200" dirty="0">
                <a:solidFill>
                  <a:schemeClr val="tx1"/>
                </a:solidFill>
              </a:rPr>
              <a:t>출고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sz="1200" dirty="0">
                <a:solidFill>
                  <a:schemeClr val="tx1"/>
                </a:solidFill>
              </a:rPr>
              <a:t>   등록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sz="1200" dirty="0">
                <a:solidFill>
                  <a:schemeClr val="tx1"/>
                </a:solidFill>
              </a:rPr>
              <a:t>   이력조회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-</a:t>
            </a:r>
            <a:r>
              <a:rPr lang="ko-KR" altLang="en-US" sz="1200" dirty="0">
                <a:solidFill>
                  <a:schemeClr val="tx1"/>
                </a:solidFill>
              </a:rPr>
              <a:t>품목관리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sz="1200" dirty="0">
                <a:solidFill>
                  <a:schemeClr val="tx1"/>
                </a:solidFill>
              </a:rPr>
              <a:t>   등록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   </a:t>
            </a:r>
            <a:r>
              <a:rPr lang="ko-KR" altLang="en-US" sz="1200" dirty="0">
                <a:solidFill>
                  <a:schemeClr val="tx1"/>
                </a:solidFill>
              </a:rPr>
              <a:t>조회</a:t>
            </a:r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dirty="0">
                <a:solidFill>
                  <a:schemeClr val="tx1"/>
                </a:solidFill>
              </a:rPr>
              <a:t>원자재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-</a:t>
            </a:r>
            <a:r>
              <a:rPr lang="ko-KR" altLang="en-US" sz="1200" dirty="0">
                <a:solidFill>
                  <a:schemeClr val="tx1"/>
                </a:solidFill>
              </a:rPr>
              <a:t>입고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   </a:t>
            </a:r>
            <a:r>
              <a:rPr lang="ko-KR" altLang="en-US" sz="1200" dirty="0">
                <a:solidFill>
                  <a:schemeClr val="tx1"/>
                </a:solidFill>
              </a:rPr>
              <a:t>등록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   </a:t>
            </a:r>
            <a:r>
              <a:rPr lang="ko-KR" altLang="en-US" sz="1200" dirty="0">
                <a:solidFill>
                  <a:schemeClr val="tx1"/>
                </a:solidFill>
              </a:rPr>
              <a:t>이력조회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-</a:t>
            </a:r>
            <a:r>
              <a:rPr lang="ko-KR" altLang="en-US" sz="1200" dirty="0">
                <a:solidFill>
                  <a:schemeClr val="tx1"/>
                </a:solidFill>
              </a:rPr>
              <a:t>출고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   </a:t>
            </a:r>
            <a:r>
              <a:rPr lang="ko-KR" altLang="en-US" sz="1200" dirty="0">
                <a:solidFill>
                  <a:schemeClr val="tx1"/>
                </a:solidFill>
              </a:rPr>
              <a:t>등록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   </a:t>
            </a:r>
            <a:r>
              <a:rPr lang="ko-KR" altLang="en-US" sz="1200" dirty="0">
                <a:solidFill>
                  <a:schemeClr val="tx1"/>
                </a:solidFill>
              </a:rPr>
              <a:t>이력조회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-</a:t>
            </a:r>
            <a:r>
              <a:rPr lang="ko-KR" altLang="en-US" sz="1200" dirty="0">
                <a:solidFill>
                  <a:schemeClr val="tx1"/>
                </a:solidFill>
              </a:rPr>
              <a:t>재고현황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-</a:t>
            </a:r>
            <a:r>
              <a:rPr lang="ko-KR" altLang="en-US" sz="1200" dirty="0">
                <a:solidFill>
                  <a:schemeClr val="tx1"/>
                </a:solidFill>
              </a:rPr>
              <a:t>품목관리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sz="1200" dirty="0">
                <a:solidFill>
                  <a:schemeClr val="tx1"/>
                </a:solidFill>
              </a:rPr>
              <a:t>   등록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   </a:t>
            </a:r>
            <a:r>
              <a:rPr lang="ko-KR" altLang="en-US" sz="1200" dirty="0">
                <a:solidFill>
                  <a:schemeClr val="tx1"/>
                </a:solidFill>
              </a:rPr>
              <a:t>조회</a:t>
            </a:r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dirty="0">
                <a:solidFill>
                  <a:schemeClr val="tx1"/>
                </a:solidFill>
              </a:rPr>
              <a:t>정보관리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sz="1200" dirty="0">
                <a:solidFill>
                  <a:schemeClr val="tx1"/>
                </a:solidFill>
              </a:rPr>
              <a:t>  라우팅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sz="1200" dirty="0">
                <a:solidFill>
                  <a:schemeClr val="tx1"/>
                </a:solidFill>
              </a:rPr>
              <a:t>  거래처</a:t>
            </a: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6E7D2627-BCA7-3953-7CB1-BA38E90F772C}"/>
              </a:ext>
            </a:extLst>
          </p:cNvPr>
          <p:cNvSpPr/>
          <p:nvPr/>
        </p:nvSpPr>
        <p:spPr>
          <a:xfrm>
            <a:off x="1999293" y="2915951"/>
            <a:ext cx="229302" cy="22249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ysClr val="windowText" lastClr="000000"/>
                </a:solidFill>
              </a:rPr>
              <a:t>2</a:t>
            </a:r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31F0DF8C-2F93-9898-C363-E623E7C31FF0}"/>
              </a:ext>
            </a:extLst>
          </p:cNvPr>
          <p:cNvSpPr/>
          <p:nvPr/>
        </p:nvSpPr>
        <p:spPr>
          <a:xfrm>
            <a:off x="6139486" y="2847033"/>
            <a:ext cx="229302" cy="22249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ysClr val="windowText" lastClr="000000"/>
                </a:solidFill>
              </a:rPr>
              <a:t>3</a:t>
            </a:r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F61D8CAA-91A8-7247-33C6-842C137D79E4}"/>
              </a:ext>
            </a:extLst>
          </p:cNvPr>
          <p:cNvSpPr/>
          <p:nvPr/>
        </p:nvSpPr>
        <p:spPr>
          <a:xfrm>
            <a:off x="7209691" y="2804706"/>
            <a:ext cx="229302" cy="22249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ysClr val="windowText" lastClr="000000"/>
                </a:solidFill>
              </a:rPr>
              <a:t>4</a:t>
            </a:r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1D9CE51-A631-8850-6539-1ED657C359A8}"/>
              </a:ext>
            </a:extLst>
          </p:cNvPr>
          <p:cNvSpPr/>
          <p:nvPr/>
        </p:nvSpPr>
        <p:spPr>
          <a:xfrm>
            <a:off x="11182103" y="2641916"/>
            <a:ext cx="927488" cy="28399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작업 지시서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503B023-EE36-343D-B490-B4208479BEB5}"/>
              </a:ext>
            </a:extLst>
          </p:cNvPr>
          <p:cNvSpPr/>
          <p:nvPr/>
        </p:nvSpPr>
        <p:spPr>
          <a:xfrm>
            <a:off x="11194857" y="3091080"/>
            <a:ext cx="927488" cy="28399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작업 지시서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7F0DB7C-1D3F-466A-A945-0F74530137FD}"/>
              </a:ext>
            </a:extLst>
          </p:cNvPr>
          <p:cNvSpPr/>
          <p:nvPr/>
        </p:nvSpPr>
        <p:spPr>
          <a:xfrm>
            <a:off x="11194857" y="4657361"/>
            <a:ext cx="927488" cy="28399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작업 지시서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9EDDD82-EA97-01E8-8E70-A81B41B23977}"/>
              </a:ext>
            </a:extLst>
          </p:cNvPr>
          <p:cNvSpPr/>
          <p:nvPr/>
        </p:nvSpPr>
        <p:spPr>
          <a:xfrm>
            <a:off x="11194857" y="3518229"/>
            <a:ext cx="927488" cy="28399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작업 지시서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53DAE0E7-3C6A-FD44-2588-E0C33C3841BA}"/>
              </a:ext>
            </a:extLst>
          </p:cNvPr>
          <p:cNvSpPr/>
          <p:nvPr/>
        </p:nvSpPr>
        <p:spPr>
          <a:xfrm>
            <a:off x="11194857" y="3895043"/>
            <a:ext cx="927488" cy="28399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작업 지시서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5131A0BD-8535-E14E-1F4D-1925A6B23297}"/>
              </a:ext>
            </a:extLst>
          </p:cNvPr>
          <p:cNvSpPr/>
          <p:nvPr/>
        </p:nvSpPr>
        <p:spPr>
          <a:xfrm>
            <a:off x="11194857" y="4280547"/>
            <a:ext cx="927488" cy="28399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작업 지시서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4720106-5F8A-5595-7D37-BC0134C19A68}"/>
              </a:ext>
            </a:extLst>
          </p:cNvPr>
          <p:cNvSpPr/>
          <p:nvPr/>
        </p:nvSpPr>
        <p:spPr>
          <a:xfrm>
            <a:off x="10417670" y="2215729"/>
            <a:ext cx="651161" cy="303344"/>
          </a:xfrm>
          <a:prstGeom prst="rect">
            <a:avLst/>
          </a:prstGeom>
          <a:ln>
            <a:noFill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삭제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B1CAFDB-A995-0D99-D7A0-2E5C2D3793B9}"/>
              </a:ext>
            </a:extLst>
          </p:cNvPr>
          <p:cNvSpPr/>
          <p:nvPr/>
        </p:nvSpPr>
        <p:spPr>
          <a:xfrm>
            <a:off x="10427751" y="2608851"/>
            <a:ext cx="651161" cy="303344"/>
          </a:xfrm>
          <a:prstGeom prst="rect">
            <a:avLst/>
          </a:prstGeom>
          <a:ln>
            <a:noFill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삭제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E813B36-23EE-917D-EDAE-4A62AB5B2DA4}"/>
              </a:ext>
            </a:extLst>
          </p:cNvPr>
          <p:cNvSpPr/>
          <p:nvPr/>
        </p:nvSpPr>
        <p:spPr>
          <a:xfrm>
            <a:off x="10435726" y="3071218"/>
            <a:ext cx="651161" cy="303344"/>
          </a:xfrm>
          <a:prstGeom prst="rect">
            <a:avLst/>
          </a:prstGeom>
          <a:ln>
            <a:noFill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삭제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AC0BB3A-E85E-582A-9B20-BC5301A41245}"/>
              </a:ext>
            </a:extLst>
          </p:cNvPr>
          <p:cNvSpPr/>
          <p:nvPr/>
        </p:nvSpPr>
        <p:spPr>
          <a:xfrm>
            <a:off x="10427751" y="3518721"/>
            <a:ext cx="651161" cy="303344"/>
          </a:xfrm>
          <a:prstGeom prst="rect">
            <a:avLst/>
          </a:prstGeom>
          <a:ln>
            <a:noFill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삭제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E9A09524-B13F-65FC-758F-389C3D5D4A33}"/>
              </a:ext>
            </a:extLst>
          </p:cNvPr>
          <p:cNvSpPr/>
          <p:nvPr/>
        </p:nvSpPr>
        <p:spPr>
          <a:xfrm>
            <a:off x="10427751" y="3895043"/>
            <a:ext cx="651161" cy="303344"/>
          </a:xfrm>
          <a:prstGeom prst="rect">
            <a:avLst/>
          </a:prstGeom>
          <a:ln>
            <a:noFill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삭제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1F1A4F6-B9E4-C021-D08A-7822DBB29264}"/>
              </a:ext>
            </a:extLst>
          </p:cNvPr>
          <p:cNvSpPr/>
          <p:nvPr/>
        </p:nvSpPr>
        <p:spPr>
          <a:xfrm>
            <a:off x="10417670" y="4255109"/>
            <a:ext cx="651161" cy="303344"/>
          </a:xfrm>
          <a:prstGeom prst="rect">
            <a:avLst/>
          </a:prstGeom>
          <a:ln>
            <a:noFill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삭제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276C02E5-BDC9-FDEA-E616-046853396398}"/>
              </a:ext>
            </a:extLst>
          </p:cNvPr>
          <p:cNvSpPr/>
          <p:nvPr/>
        </p:nvSpPr>
        <p:spPr>
          <a:xfrm>
            <a:off x="10427751" y="4647688"/>
            <a:ext cx="651161" cy="303344"/>
          </a:xfrm>
          <a:prstGeom prst="rect">
            <a:avLst/>
          </a:prstGeom>
          <a:ln>
            <a:noFill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삭제</a:t>
            </a: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B797B316-BF8F-E023-29A8-480B6FFEEEB2}"/>
              </a:ext>
            </a:extLst>
          </p:cNvPr>
          <p:cNvSpPr/>
          <p:nvPr/>
        </p:nvSpPr>
        <p:spPr>
          <a:xfrm>
            <a:off x="9696141" y="2052413"/>
            <a:ext cx="229302" cy="22249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ysClr val="windowText" lastClr="000000"/>
                </a:solidFill>
              </a:rPr>
              <a:t>6</a:t>
            </a:r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A0CE1C83-99BC-C591-D514-AD526264F5BD}"/>
              </a:ext>
            </a:extLst>
          </p:cNvPr>
          <p:cNvSpPr/>
          <p:nvPr/>
        </p:nvSpPr>
        <p:spPr>
          <a:xfrm>
            <a:off x="11138958" y="2054924"/>
            <a:ext cx="229302" cy="22249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ysClr val="windowText" lastClr="000000"/>
                </a:solidFill>
              </a:rPr>
              <a:t>8</a:t>
            </a:r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4A53C976-2D18-254F-B514-AAE36B979BB6}"/>
              </a:ext>
            </a:extLst>
          </p:cNvPr>
          <p:cNvSpPr/>
          <p:nvPr/>
        </p:nvSpPr>
        <p:spPr>
          <a:xfrm>
            <a:off x="2329308" y="699298"/>
            <a:ext cx="1020858" cy="3975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   </a:t>
            </a:r>
            <a:r>
              <a:rPr lang="ko-KR" altLang="en-US" sz="2000" b="1" dirty="0">
                <a:solidFill>
                  <a:schemeClr val="tx1"/>
                </a:solidFill>
              </a:rPr>
              <a:t>검색</a:t>
            </a:r>
          </a:p>
        </p:txBody>
      </p:sp>
      <p:pic>
        <p:nvPicPr>
          <p:cNvPr id="40" name="그래픽 39" descr="돋보기">
            <a:extLst>
              <a:ext uri="{FF2B5EF4-FFF2-40B4-BE49-F238E27FC236}">
                <a16:creationId xmlns:a16="http://schemas.microsoft.com/office/drawing/2014/main" id="{C6BE91F2-8C28-6CE5-2A73-C30964F5DB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91036" y="1245590"/>
            <a:ext cx="427934" cy="427934"/>
          </a:xfrm>
          <a:prstGeom prst="rect">
            <a:avLst/>
          </a:prstGeom>
        </p:spPr>
      </p:pic>
      <p:sp>
        <p:nvSpPr>
          <p:cNvPr id="45" name="직사각형 44">
            <a:extLst>
              <a:ext uri="{FF2B5EF4-FFF2-40B4-BE49-F238E27FC236}">
                <a16:creationId xmlns:a16="http://schemas.microsoft.com/office/drawing/2014/main" id="{F472F972-B668-F40B-9F6E-F42A1EACEB62}"/>
              </a:ext>
            </a:extLst>
          </p:cNvPr>
          <p:cNvSpPr/>
          <p:nvPr/>
        </p:nvSpPr>
        <p:spPr>
          <a:xfrm>
            <a:off x="3552053" y="1229563"/>
            <a:ext cx="5706248" cy="42793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거래처명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품목명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품목 번호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입고 번호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입고 일자 로 검색해 주세요</a:t>
            </a:r>
          </a:p>
        </p:txBody>
      </p:sp>
      <p:pic>
        <p:nvPicPr>
          <p:cNvPr id="46" name="그래픽 45" descr="돋보기">
            <a:extLst>
              <a:ext uri="{FF2B5EF4-FFF2-40B4-BE49-F238E27FC236}">
                <a16:creationId xmlns:a16="http://schemas.microsoft.com/office/drawing/2014/main" id="{47D4383F-BB8B-DF6B-693A-42DC493619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45050" y="784922"/>
            <a:ext cx="284258" cy="250929"/>
          </a:xfrm>
          <a:prstGeom prst="rect">
            <a:avLst/>
          </a:prstGeom>
        </p:spPr>
      </p:pic>
      <p:sp>
        <p:nvSpPr>
          <p:cNvPr id="47" name="직사각형 46">
            <a:extLst>
              <a:ext uri="{FF2B5EF4-FFF2-40B4-BE49-F238E27FC236}">
                <a16:creationId xmlns:a16="http://schemas.microsoft.com/office/drawing/2014/main" id="{8C771B08-3EBB-AF80-8172-5D09EB9E1F20}"/>
              </a:ext>
            </a:extLst>
          </p:cNvPr>
          <p:cNvSpPr/>
          <p:nvPr/>
        </p:nvSpPr>
        <p:spPr>
          <a:xfrm>
            <a:off x="2045051" y="1229563"/>
            <a:ext cx="1381089" cy="30502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전체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8" name="순서도: 병합 47">
            <a:extLst>
              <a:ext uri="{FF2B5EF4-FFF2-40B4-BE49-F238E27FC236}">
                <a16:creationId xmlns:a16="http://schemas.microsoft.com/office/drawing/2014/main" id="{9C66DF37-2005-7CCC-04E6-357147E9EC2B}"/>
              </a:ext>
            </a:extLst>
          </p:cNvPr>
          <p:cNvSpPr/>
          <p:nvPr/>
        </p:nvSpPr>
        <p:spPr>
          <a:xfrm>
            <a:off x="2170964" y="1317180"/>
            <a:ext cx="117382" cy="117382"/>
          </a:xfrm>
          <a:prstGeom prst="flowChartMerg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8CD45A25-63E9-33D1-A8EB-D21F37C6BF8D}"/>
              </a:ext>
            </a:extLst>
          </p:cNvPr>
          <p:cNvSpPr/>
          <p:nvPr/>
        </p:nvSpPr>
        <p:spPr>
          <a:xfrm>
            <a:off x="2045050" y="1543303"/>
            <a:ext cx="1381089" cy="123819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거래처명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품목명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품목번호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입고번호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입고일자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5F238840-D61C-BFD1-D5E5-4A4FCB2E7794}"/>
              </a:ext>
            </a:extLst>
          </p:cNvPr>
          <p:cNvSpPr/>
          <p:nvPr/>
        </p:nvSpPr>
        <p:spPr>
          <a:xfrm>
            <a:off x="1952014" y="1075117"/>
            <a:ext cx="229302" cy="22249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ysClr val="windowText" lastClr="000000"/>
                </a:solidFill>
              </a:rPr>
              <a:t>1</a:t>
            </a:r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5EC607C8-0485-8EE2-979C-4153305E02A1}"/>
              </a:ext>
            </a:extLst>
          </p:cNvPr>
          <p:cNvSpPr/>
          <p:nvPr/>
        </p:nvSpPr>
        <p:spPr>
          <a:xfrm>
            <a:off x="9105031" y="1015034"/>
            <a:ext cx="229302" cy="22249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ysClr val="windowText" lastClr="000000"/>
                </a:solidFill>
              </a:rPr>
              <a:t>5</a:t>
            </a:r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EC1E823C-9F2E-24E6-F883-D3554E807969}"/>
              </a:ext>
            </a:extLst>
          </p:cNvPr>
          <p:cNvSpPr/>
          <p:nvPr/>
        </p:nvSpPr>
        <p:spPr>
          <a:xfrm>
            <a:off x="10368103" y="2043114"/>
            <a:ext cx="229302" cy="22249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ysClr val="windowText" lastClr="000000"/>
                </a:solidFill>
              </a:rPr>
              <a:t>7</a:t>
            </a:r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810D81FD-1303-BCA0-AFD7-DE6BE3678BC0}"/>
              </a:ext>
            </a:extLst>
          </p:cNvPr>
          <p:cNvSpPr/>
          <p:nvPr/>
        </p:nvSpPr>
        <p:spPr>
          <a:xfrm>
            <a:off x="8083031" y="5124858"/>
            <a:ext cx="229302" cy="22249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ysClr val="windowText" lastClr="000000"/>
                </a:solidFill>
              </a:rPr>
              <a:t>9</a:t>
            </a:r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pic>
        <p:nvPicPr>
          <p:cNvPr id="54" name="그림 53">
            <a:extLst>
              <a:ext uri="{FF2B5EF4-FFF2-40B4-BE49-F238E27FC236}">
                <a16:creationId xmlns:a16="http://schemas.microsoft.com/office/drawing/2014/main" id="{43413E00-6E52-75D2-7395-922F0AF65F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9894" y="6078836"/>
            <a:ext cx="3657788" cy="539778"/>
          </a:xfrm>
          <a:prstGeom prst="rect">
            <a:avLst/>
          </a:prstGeom>
        </p:spPr>
      </p:pic>
      <p:sp>
        <p:nvSpPr>
          <p:cNvPr id="55" name="타원 54">
            <a:extLst>
              <a:ext uri="{FF2B5EF4-FFF2-40B4-BE49-F238E27FC236}">
                <a16:creationId xmlns:a16="http://schemas.microsoft.com/office/drawing/2014/main" id="{26C409FD-6BC5-9C05-3BFB-3D176442B4F8}"/>
              </a:ext>
            </a:extLst>
          </p:cNvPr>
          <p:cNvSpPr/>
          <p:nvPr/>
        </p:nvSpPr>
        <p:spPr>
          <a:xfrm>
            <a:off x="4351564" y="5919107"/>
            <a:ext cx="482217" cy="374045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ysClr val="windowText" lastClr="000000"/>
                </a:solidFill>
              </a:rPr>
              <a:t>10</a:t>
            </a:r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8226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EA6A7847-3C2A-3085-D1D6-F1383D58B64C}"/>
              </a:ext>
            </a:extLst>
          </p:cNvPr>
          <p:cNvSpPr/>
          <p:nvPr/>
        </p:nvSpPr>
        <p:spPr>
          <a:xfrm>
            <a:off x="2315632" y="69706"/>
            <a:ext cx="8619065" cy="4674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>
                <a:ln w="0">
                  <a:solidFill>
                    <a:schemeClr val="bg1"/>
                  </a:solidFill>
                </a:ln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공정 진행현황 조회</a:t>
            </a:r>
            <a:endParaRPr lang="ko-KR" altLang="en-US" dirty="0">
              <a:ln w="0">
                <a:solidFill>
                  <a:schemeClr val="bg1"/>
                </a:solidFill>
              </a:ln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E184D38-70D6-FEE5-D161-8AB68E1603FF}"/>
              </a:ext>
            </a:extLst>
          </p:cNvPr>
          <p:cNvSpPr txBox="1"/>
          <p:nvPr/>
        </p:nvSpPr>
        <p:spPr>
          <a:xfrm>
            <a:off x="2366187" y="433222"/>
            <a:ext cx="6126070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>
                <a:solidFill>
                  <a:schemeClr val="tx1"/>
                </a:solidFill>
              </a:rPr>
              <a:t>LOT</a:t>
            </a:r>
            <a:r>
              <a:rPr lang="ko-KR" altLang="en-US" sz="1100" dirty="0">
                <a:solidFill>
                  <a:schemeClr val="tx1"/>
                </a:solidFill>
              </a:rPr>
              <a:t> </a:t>
            </a:r>
            <a:r>
              <a:rPr lang="en-US" altLang="ko-KR" sz="1100" dirty="0">
                <a:solidFill>
                  <a:schemeClr val="tx1"/>
                </a:solidFill>
              </a:rPr>
              <a:t>NO: LOT-20251009-001</a:t>
            </a:r>
          </a:p>
          <a:p>
            <a:endParaRPr lang="en-US" altLang="ko-KR" sz="1400" dirty="0">
              <a:solidFill>
                <a:schemeClr val="tx1"/>
              </a:solidFill>
            </a:endParaRPr>
          </a:p>
          <a:p>
            <a:r>
              <a:rPr lang="ko-KR" altLang="en-US" sz="1400" dirty="0">
                <a:solidFill>
                  <a:schemeClr val="tx1"/>
                </a:solidFill>
              </a:rPr>
              <a:t>품목명</a:t>
            </a:r>
            <a:r>
              <a:rPr lang="en-US" altLang="ko-KR" sz="1400" dirty="0">
                <a:solidFill>
                  <a:schemeClr val="tx1"/>
                </a:solidFill>
              </a:rPr>
              <a:t>: </a:t>
            </a:r>
            <a:r>
              <a:rPr lang="ko-KR" altLang="en-US" sz="1400" dirty="0" err="1">
                <a:solidFill>
                  <a:schemeClr val="tx1"/>
                </a:solidFill>
              </a:rPr>
              <a:t>핀걸이</a:t>
            </a:r>
            <a:r>
              <a:rPr lang="ko-KR" altLang="en-US" sz="1400" dirty="0">
                <a:solidFill>
                  <a:schemeClr val="tx1"/>
                </a:solidFill>
              </a:rPr>
              <a:t> 스프링</a:t>
            </a:r>
            <a:endParaRPr lang="en-US" altLang="ko-KR" sz="1400" dirty="0">
              <a:solidFill>
                <a:schemeClr val="tx1"/>
              </a:solidFill>
            </a:endParaRPr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1FCDCDC4-45AC-DD96-19EE-25FFE25372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963222"/>
              </p:ext>
            </p:extLst>
          </p:nvPr>
        </p:nvGraphicFramePr>
        <p:xfrm>
          <a:off x="2425644" y="1125719"/>
          <a:ext cx="7759065" cy="40792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586355">
                  <a:extLst>
                    <a:ext uri="{9D8B030D-6E8A-4147-A177-3AD203B41FA5}">
                      <a16:colId xmlns:a16="http://schemas.microsoft.com/office/drawing/2014/main" val="2971634787"/>
                    </a:ext>
                  </a:extLst>
                </a:gridCol>
                <a:gridCol w="2586355">
                  <a:extLst>
                    <a:ext uri="{9D8B030D-6E8A-4147-A177-3AD203B41FA5}">
                      <a16:colId xmlns:a16="http://schemas.microsoft.com/office/drawing/2014/main" val="2384581397"/>
                    </a:ext>
                  </a:extLst>
                </a:gridCol>
                <a:gridCol w="2586355">
                  <a:extLst>
                    <a:ext uri="{9D8B030D-6E8A-4147-A177-3AD203B41FA5}">
                      <a16:colId xmlns:a16="http://schemas.microsoft.com/office/drawing/2014/main" val="6213659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NO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공정명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시작시간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22657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입고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수입검사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highlight>
                            <a:srgbClr val="00FF00"/>
                          </a:highlight>
                        </a:rPr>
                        <a:t>08:00</a:t>
                      </a:r>
                      <a:endParaRPr lang="ko-KR" altLang="en-US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44991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이물질 제거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highlight>
                            <a:srgbClr val="00FF00"/>
                          </a:highlight>
                        </a:rPr>
                        <a:t>08:20</a:t>
                      </a:r>
                      <a:endParaRPr lang="ko-KR" altLang="en-US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37898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마스킹</a:t>
                      </a:r>
                      <a:r>
                        <a:rPr lang="en-US" altLang="ko-KR" dirty="0"/>
                        <a:t> 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highlight>
                            <a:srgbClr val="00FF00"/>
                          </a:highlight>
                        </a:rPr>
                        <a:t>09:00</a:t>
                      </a:r>
                      <a:endParaRPr lang="ko-KR" altLang="en-US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0586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마스킹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highlight>
                            <a:srgbClr val="00FF00"/>
                          </a:highlight>
                        </a:rPr>
                        <a:t>10:00</a:t>
                      </a:r>
                      <a:endParaRPr lang="ko-KR" altLang="en-US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56685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Loading/</a:t>
                      </a:r>
                      <a:r>
                        <a:rPr lang="ko-KR" altLang="en-US" dirty="0"/>
                        <a:t>도장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highlight>
                            <a:srgbClr val="00FF00"/>
                          </a:highlight>
                        </a:rPr>
                        <a:t>11:00</a:t>
                      </a:r>
                      <a:endParaRPr lang="ko-KR" altLang="en-US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29019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건조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52155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7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Loading/</a:t>
                      </a:r>
                      <a:r>
                        <a:rPr lang="ko-KR" altLang="en-US" dirty="0"/>
                        <a:t>도장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18623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건조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35735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마스킹</a:t>
                      </a:r>
                      <a:r>
                        <a:rPr lang="ko-KR" altLang="en-US" dirty="0"/>
                        <a:t> 제거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1835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포장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2848507"/>
                  </a:ext>
                </a:extLst>
              </a:tr>
            </a:tbl>
          </a:graphicData>
        </a:graphic>
      </p:graphicFrame>
      <p:sp>
        <p:nvSpPr>
          <p:cNvPr id="22" name="직사각형 21">
            <a:extLst>
              <a:ext uri="{FF2B5EF4-FFF2-40B4-BE49-F238E27FC236}">
                <a16:creationId xmlns:a16="http://schemas.microsoft.com/office/drawing/2014/main" id="{826CF2B9-3B53-9456-E3EC-471038D2B97F}"/>
              </a:ext>
            </a:extLst>
          </p:cNvPr>
          <p:cNvSpPr/>
          <p:nvPr/>
        </p:nvSpPr>
        <p:spPr>
          <a:xfrm>
            <a:off x="0" y="0"/>
            <a:ext cx="18796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2000" dirty="0">
                <a:solidFill>
                  <a:srgbClr val="00B0F0"/>
                </a:solidFill>
              </a:rPr>
              <a:t>대원공업㈜</a:t>
            </a:r>
            <a:endParaRPr lang="en-US" altLang="ko-KR" sz="2000" dirty="0">
              <a:solidFill>
                <a:srgbClr val="00B0F0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r>
              <a:rPr lang="ko-KR" altLang="en-US" dirty="0">
                <a:solidFill>
                  <a:schemeClr val="tx1"/>
                </a:solidFill>
              </a:rPr>
              <a:t>수주품목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-</a:t>
            </a:r>
            <a:r>
              <a:rPr lang="ko-KR" altLang="en-US" sz="1200" dirty="0">
                <a:solidFill>
                  <a:schemeClr val="tx1"/>
                </a:solidFill>
              </a:rPr>
              <a:t>입고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   </a:t>
            </a:r>
            <a:r>
              <a:rPr lang="ko-KR" altLang="en-US" sz="1200" dirty="0">
                <a:solidFill>
                  <a:schemeClr val="tx1"/>
                </a:solidFill>
              </a:rPr>
              <a:t>등록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   </a:t>
            </a:r>
            <a:r>
              <a:rPr lang="ko-KR" altLang="en-US" sz="1200" dirty="0">
                <a:solidFill>
                  <a:schemeClr val="tx1"/>
                </a:solidFill>
              </a:rPr>
              <a:t>이력조회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-</a:t>
            </a:r>
            <a:r>
              <a:rPr lang="ko-KR" altLang="en-US" sz="1200" dirty="0">
                <a:solidFill>
                  <a:schemeClr val="tx1"/>
                </a:solidFill>
              </a:rPr>
              <a:t>출고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sz="1200" dirty="0">
                <a:solidFill>
                  <a:schemeClr val="tx1"/>
                </a:solidFill>
              </a:rPr>
              <a:t>   등록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sz="1200" dirty="0">
                <a:solidFill>
                  <a:schemeClr val="tx1"/>
                </a:solidFill>
              </a:rPr>
              <a:t>   이력조회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-</a:t>
            </a:r>
            <a:r>
              <a:rPr lang="ko-KR" altLang="en-US" sz="1200" dirty="0">
                <a:solidFill>
                  <a:schemeClr val="tx1"/>
                </a:solidFill>
              </a:rPr>
              <a:t>품목관리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sz="1200" dirty="0">
                <a:solidFill>
                  <a:schemeClr val="tx1"/>
                </a:solidFill>
              </a:rPr>
              <a:t>   등록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   </a:t>
            </a:r>
            <a:r>
              <a:rPr lang="ko-KR" altLang="en-US" sz="1200" dirty="0">
                <a:solidFill>
                  <a:schemeClr val="tx1"/>
                </a:solidFill>
              </a:rPr>
              <a:t>조회</a:t>
            </a:r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dirty="0">
                <a:solidFill>
                  <a:schemeClr val="tx1"/>
                </a:solidFill>
              </a:rPr>
              <a:t>원자재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-</a:t>
            </a:r>
            <a:r>
              <a:rPr lang="ko-KR" altLang="en-US" sz="1200" dirty="0">
                <a:solidFill>
                  <a:schemeClr val="tx1"/>
                </a:solidFill>
              </a:rPr>
              <a:t>입고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   </a:t>
            </a:r>
            <a:r>
              <a:rPr lang="ko-KR" altLang="en-US" sz="1200" dirty="0">
                <a:solidFill>
                  <a:schemeClr val="tx1"/>
                </a:solidFill>
              </a:rPr>
              <a:t>등록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   </a:t>
            </a:r>
            <a:r>
              <a:rPr lang="ko-KR" altLang="en-US" sz="1200" dirty="0">
                <a:solidFill>
                  <a:schemeClr val="tx1"/>
                </a:solidFill>
              </a:rPr>
              <a:t>이력조회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-</a:t>
            </a:r>
            <a:r>
              <a:rPr lang="ko-KR" altLang="en-US" sz="1200" dirty="0">
                <a:solidFill>
                  <a:schemeClr val="tx1"/>
                </a:solidFill>
              </a:rPr>
              <a:t>출고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   </a:t>
            </a:r>
            <a:r>
              <a:rPr lang="ko-KR" altLang="en-US" sz="1200" dirty="0">
                <a:solidFill>
                  <a:schemeClr val="tx1"/>
                </a:solidFill>
              </a:rPr>
              <a:t>등록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   </a:t>
            </a:r>
            <a:r>
              <a:rPr lang="ko-KR" altLang="en-US" sz="1200" dirty="0">
                <a:solidFill>
                  <a:schemeClr val="tx1"/>
                </a:solidFill>
              </a:rPr>
              <a:t>이력조회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-</a:t>
            </a:r>
            <a:r>
              <a:rPr lang="ko-KR" altLang="en-US" sz="1200" dirty="0">
                <a:solidFill>
                  <a:schemeClr val="tx1"/>
                </a:solidFill>
              </a:rPr>
              <a:t>재고현황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-</a:t>
            </a:r>
            <a:r>
              <a:rPr lang="ko-KR" altLang="en-US" sz="1200" dirty="0">
                <a:solidFill>
                  <a:schemeClr val="tx1"/>
                </a:solidFill>
              </a:rPr>
              <a:t>품목관리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sz="1200" dirty="0">
                <a:solidFill>
                  <a:schemeClr val="tx1"/>
                </a:solidFill>
              </a:rPr>
              <a:t>   등록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   </a:t>
            </a:r>
            <a:r>
              <a:rPr lang="ko-KR" altLang="en-US" sz="1200" dirty="0">
                <a:solidFill>
                  <a:schemeClr val="tx1"/>
                </a:solidFill>
              </a:rPr>
              <a:t>조회</a:t>
            </a:r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dirty="0">
                <a:solidFill>
                  <a:schemeClr val="tx1"/>
                </a:solidFill>
              </a:rPr>
              <a:t>정보관리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sz="1200" dirty="0">
                <a:solidFill>
                  <a:schemeClr val="tx1"/>
                </a:solidFill>
              </a:rPr>
              <a:t>  라우팅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sz="1200" dirty="0">
                <a:solidFill>
                  <a:schemeClr val="tx1"/>
                </a:solidFill>
              </a:rPr>
              <a:t>  거래처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6BFCF296-D18C-DBB3-A2B1-AC6CBBE6CD88}"/>
              </a:ext>
            </a:extLst>
          </p:cNvPr>
          <p:cNvSpPr/>
          <p:nvPr/>
        </p:nvSpPr>
        <p:spPr>
          <a:xfrm>
            <a:off x="2226259" y="433222"/>
            <a:ext cx="229302" cy="22249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ysClr val="windowText" lastClr="000000"/>
                </a:solidFill>
              </a:rPr>
              <a:t>1</a:t>
            </a:r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1F54ED81-F235-1B74-0742-83D755AC7F69}"/>
              </a:ext>
            </a:extLst>
          </p:cNvPr>
          <p:cNvSpPr/>
          <p:nvPr/>
        </p:nvSpPr>
        <p:spPr>
          <a:xfrm>
            <a:off x="2226259" y="861746"/>
            <a:ext cx="229302" cy="22249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ysClr val="windowText" lastClr="000000"/>
                </a:solidFill>
              </a:rPr>
              <a:t>2</a:t>
            </a:r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A2E21BB5-ECA6-4C4A-A308-287DA6687B33}"/>
              </a:ext>
            </a:extLst>
          </p:cNvPr>
          <p:cNvSpPr/>
          <p:nvPr/>
        </p:nvSpPr>
        <p:spPr>
          <a:xfrm>
            <a:off x="7746599" y="1373236"/>
            <a:ext cx="229302" cy="22249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ysClr val="windowText" lastClr="000000"/>
                </a:solidFill>
              </a:rPr>
              <a:t>3</a:t>
            </a:r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1D8E9E3-9F08-A625-40CA-4FB089593F93}"/>
              </a:ext>
            </a:extLst>
          </p:cNvPr>
          <p:cNvSpPr/>
          <p:nvPr/>
        </p:nvSpPr>
        <p:spPr>
          <a:xfrm>
            <a:off x="9251369" y="5246442"/>
            <a:ext cx="933340" cy="303344"/>
          </a:xfrm>
          <a:prstGeom prst="rect">
            <a:avLst/>
          </a:prstGeom>
          <a:ln>
            <a:noFill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다음 공정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8E521764-F8C9-C83B-8864-56F53F453C3D}"/>
              </a:ext>
            </a:extLst>
          </p:cNvPr>
          <p:cNvSpPr/>
          <p:nvPr/>
        </p:nvSpPr>
        <p:spPr>
          <a:xfrm>
            <a:off x="8221029" y="5246442"/>
            <a:ext cx="845062" cy="303344"/>
          </a:xfrm>
          <a:prstGeom prst="rect">
            <a:avLst/>
          </a:prstGeom>
          <a:ln>
            <a:noFill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수정</a:t>
            </a:r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E51EA4F7-2E8C-AE34-4A78-282FD8307219}"/>
              </a:ext>
            </a:extLst>
          </p:cNvPr>
          <p:cNvSpPr/>
          <p:nvPr/>
        </p:nvSpPr>
        <p:spPr>
          <a:xfrm>
            <a:off x="10031548" y="5474424"/>
            <a:ext cx="229302" cy="22249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ysClr val="windowText" lastClr="000000"/>
                </a:solidFill>
              </a:rPr>
              <a:t>5</a:t>
            </a:r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C0E983C8-E0DE-44CB-BE28-F879BCFC6C00}"/>
              </a:ext>
            </a:extLst>
          </p:cNvPr>
          <p:cNvSpPr/>
          <p:nvPr/>
        </p:nvSpPr>
        <p:spPr>
          <a:xfrm>
            <a:off x="8062838" y="5452476"/>
            <a:ext cx="229302" cy="22249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ysClr val="windowText" lastClr="000000"/>
                </a:solidFill>
              </a:rPr>
              <a:t>4</a:t>
            </a:r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0901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그림 30">
            <a:extLst>
              <a:ext uri="{FF2B5EF4-FFF2-40B4-BE49-F238E27FC236}">
                <a16:creationId xmlns:a16="http://schemas.microsoft.com/office/drawing/2014/main" id="{5A640D60-E241-DADD-900A-727982F4A7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4206" y="6282943"/>
            <a:ext cx="3657788" cy="539778"/>
          </a:xfrm>
          <a:prstGeom prst="rect">
            <a:avLst/>
          </a:prstGeom>
        </p:spPr>
      </p:pic>
      <p:graphicFrame>
        <p:nvGraphicFramePr>
          <p:cNvPr id="37" name="표 36">
            <a:extLst>
              <a:ext uri="{FF2B5EF4-FFF2-40B4-BE49-F238E27FC236}">
                <a16:creationId xmlns:a16="http://schemas.microsoft.com/office/drawing/2014/main" id="{C083B321-0BE4-32E8-9202-987F276650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6668778"/>
              </p:ext>
            </p:extLst>
          </p:nvPr>
        </p:nvGraphicFramePr>
        <p:xfrm>
          <a:off x="2167917" y="3969110"/>
          <a:ext cx="8127999" cy="19862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03111">
                  <a:extLst>
                    <a:ext uri="{9D8B030D-6E8A-4147-A177-3AD203B41FA5}">
                      <a16:colId xmlns:a16="http://schemas.microsoft.com/office/drawing/2014/main" val="2243892041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389686006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66038042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215125603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801620817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640933005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638501057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469601735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6425668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입고 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거래처명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품목 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품목명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입고 일자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입고 수량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분류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출고 수량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출고 일자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70156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LOT-20251009-001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코드 하우스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Code-001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/>
                        <a:t>핀걸이</a:t>
                      </a:r>
                      <a:r>
                        <a:rPr lang="ko-KR" altLang="en-US" sz="900" dirty="0"/>
                        <a:t> 스프링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2025-10-09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500EA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방산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70677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46707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61099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879786"/>
                  </a:ext>
                </a:extLst>
              </a:tr>
            </a:tbl>
          </a:graphicData>
        </a:graphic>
      </p:graphicFrame>
      <p:sp>
        <p:nvSpPr>
          <p:cNvPr id="22" name="직사각형 21">
            <a:extLst>
              <a:ext uri="{FF2B5EF4-FFF2-40B4-BE49-F238E27FC236}">
                <a16:creationId xmlns:a16="http://schemas.microsoft.com/office/drawing/2014/main" id="{41E18D03-EF6D-54A7-CC3A-9C8E6079AB0B}"/>
              </a:ext>
            </a:extLst>
          </p:cNvPr>
          <p:cNvSpPr/>
          <p:nvPr/>
        </p:nvSpPr>
        <p:spPr>
          <a:xfrm>
            <a:off x="8945978" y="6132326"/>
            <a:ext cx="1338051" cy="49922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EXCEL</a:t>
            </a:r>
            <a:r>
              <a:rPr lang="ko-KR" altLang="en-US" sz="1200" dirty="0"/>
              <a:t>다운로드</a:t>
            </a:r>
          </a:p>
        </p:txBody>
      </p:sp>
      <p:sp>
        <p:nvSpPr>
          <p:cNvPr id="3" name="순서도: 병합 2">
            <a:extLst>
              <a:ext uri="{FF2B5EF4-FFF2-40B4-BE49-F238E27FC236}">
                <a16:creationId xmlns:a16="http://schemas.microsoft.com/office/drawing/2014/main" id="{14B16A84-3AC9-C651-EC1C-8F3405E8D251}"/>
              </a:ext>
            </a:extLst>
          </p:cNvPr>
          <p:cNvSpPr/>
          <p:nvPr/>
        </p:nvSpPr>
        <p:spPr>
          <a:xfrm>
            <a:off x="2355552" y="237836"/>
            <a:ext cx="194733" cy="131190"/>
          </a:xfrm>
          <a:prstGeom prst="flowChartMerg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27EA866-5D88-D4EF-23CC-41128BB3AE9F}"/>
              </a:ext>
            </a:extLst>
          </p:cNvPr>
          <p:cNvSpPr/>
          <p:nvPr/>
        </p:nvSpPr>
        <p:spPr>
          <a:xfrm>
            <a:off x="2315632" y="69706"/>
            <a:ext cx="8619065" cy="4674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dirty="0">
                <a:ln w="0">
                  <a:solidFill>
                    <a:schemeClr val="bg1"/>
                  </a:solidFill>
                </a:ln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수주품목 출고 등록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987F44C-2BD0-A70C-EA05-7C8A5DDB407F}"/>
              </a:ext>
            </a:extLst>
          </p:cNvPr>
          <p:cNvSpPr/>
          <p:nvPr/>
        </p:nvSpPr>
        <p:spPr>
          <a:xfrm>
            <a:off x="10368768" y="4424812"/>
            <a:ext cx="960582" cy="332509"/>
          </a:xfrm>
          <a:prstGeom prst="rect">
            <a:avLst/>
          </a:prstGeom>
          <a:ln>
            <a:noFill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등록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FB63399-E450-8BE0-9699-707124CD4520}"/>
              </a:ext>
            </a:extLst>
          </p:cNvPr>
          <p:cNvSpPr/>
          <p:nvPr/>
        </p:nvSpPr>
        <p:spPr>
          <a:xfrm>
            <a:off x="0" y="0"/>
            <a:ext cx="18796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2000" dirty="0">
                <a:solidFill>
                  <a:srgbClr val="00B0F0"/>
                </a:solidFill>
              </a:rPr>
              <a:t>대원공업㈜</a:t>
            </a:r>
            <a:endParaRPr lang="en-US" altLang="ko-KR" sz="2000" dirty="0">
              <a:solidFill>
                <a:srgbClr val="00B0F0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r>
              <a:rPr lang="ko-KR" altLang="en-US" dirty="0">
                <a:solidFill>
                  <a:schemeClr val="tx1"/>
                </a:solidFill>
              </a:rPr>
              <a:t>수주품목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-</a:t>
            </a:r>
            <a:r>
              <a:rPr lang="ko-KR" altLang="en-US" sz="1200" dirty="0">
                <a:solidFill>
                  <a:schemeClr val="tx1"/>
                </a:solidFill>
              </a:rPr>
              <a:t>입고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   </a:t>
            </a:r>
            <a:r>
              <a:rPr lang="ko-KR" altLang="en-US" sz="1200" dirty="0">
                <a:solidFill>
                  <a:schemeClr val="tx1"/>
                </a:solidFill>
              </a:rPr>
              <a:t>등록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   </a:t>
            </a:r>
            <a:r>
              <a:rPr lang="ko-KR" altLang="en-US" sz="1200" dirty="0">
                <a:solidFill>
                  <a:schemeClr val="tx1"/>
                </a:solidFill>
              </a:rPr>
              <a:t>이력조회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-</a:t>
            </a:r>
            <a:r>
              <a:rPr lang="ko-KR" altLang="en-US" sz="1200" dirty="0">
                <a:solidFill>
                  <a:schemeClr val="tx1"/>
                </a:solidFill>
              </a:rPr>
              <a:t>출고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sz="1200" dirty="0">
                <a:solidFill>
                  <a:schemeClr val="tx1"/>
                </a:solidFill>
              </a:rPr>
              <a:t>   등록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sz="1200" dirty="0">
                <a:solidFill>
                  <a:schemeClr val="tx1"/>
                </a:solidFill>
              </a:rPr>
              <a:t>   이력조회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-</a:t>
            </a:r>
            <a:r>
              <a:rPr lang="ko-KR" altLang="en-US" sz="1200" dirty="0">
                <a:solidFill>
                  <a:schemeClr val="tx1"/>
                </a:solidFill>
              </a:rPr>
              <a:t>품목관리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sz="1200" dirty="0">
                <a:solidFill>
                  <a:schemeClr val="tx1"/>
                </a:solidFill>
              </a:rPr>
              <a:t>   등록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   </a:t>
            </a:r>
            <a:r>
              <a:rPr lang="ko-KR" altLang="en-US" sz="1200" dirty="0">
                <a:solidFill>
                  <a:schemeClr val="tx1"/>
                </a:solidFill>
              </a:rPr>
              <a:t>조회</a:t>
            </a:r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dirty="0">
                <a:solidFill>
                  <a:schemeClr val="tx1"/>
                </a:solidFill>
              </a:rPr>
              <a:t>원자재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-</a:t>
            </a:r>
            <a:r>
              <a:rPr lang="ko-KR" altLang="en-US" sz="1200" dirty="0">
                <a:solidFill>
                  <a:schemeClr val="tx1"/>
                </a:solidFill>
              </a:rPr>
              <a:t>입고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   </a:t>
            </a:r>
            <a:r>
              <a:rPr lang="ko-KR" altLang="en-US" sz="1200" dirty="0">
                <a:solidFill>
                  <a:schemeClr val="tx1"/>
                </a:solidFill>
              </a:rPr>
              <a:t>등록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   </a:t>
            </a:r>
            <a:r>
              <a:rPr lang="ko-KR" altLang="en-US" sz="1200" dirty="0">
                <a:solidFill>
                  <a:schemeClr val="tx1"/>
                </a:solidFill>
              </a:rPr>
              <a:t>이력조회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-</a:t>
            </a:r>
            <a:r>
              <a:rPr lang="ko-KR" altLang="en-US" sz="1200" dirty="0">
                <a:solidFill>
                  <a:schemeClr val="tx1"/>
                </a:solidFill>
              </a:rPr>
              <a:t>출고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   </a:t>
            </a:r>
            <a:r>
              <a:rPr lang="ko-KR" altLang="en-US" sz="1200" dirty="0">
                <a:solidFill>
                  <a:schemeClr val="tx1"/>
                </a:solidFill>
              </a:rPr>
              <a:t>등록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   </a:t>
            </a:r>
            <a:r>
              <a:rPr lang="ko-KR" altLang="en-US" sz="1200" dirty="0">
                <a:solidFill>
                  <a:schemeClr val="tx1"/>
                </a:solidFill>
              </a:rPr>
              <a:t>이력조회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-</a:t>
            </a:r>
            <a:r>
              <a:rPr lang="ko-KR" altLang="en-US" sz="1200" dirty="0">
                <a:solidFill>
                  <a:schemeClr val="tx1"/>
                </a:solidFill>
              </a:rPr>
              <a:t>재고현황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-</a:t>
            </a:r>
            <a:r>
              <a:rPr lang="ko-KR" altLang="en-US" sz="1200" dirty="0">
                <a:solidFill>
                  <a:schemeClr val="tx1"/>
                </a:solidFill>
              </a:rPr>
              <a:t>품목관리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sz="1200" dirty="0">
                <a:solidFill>
                  <a:schemeClr val="tx1"/>
                </a:solidFill>
              </a:rPr>
              <a:t>   등록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   </a:t>
            </a:r>
            <a:r>
              <a:rPr lang="ko-KR" altLang="en-US" sz="1200" dirty="0">
                <a:solidFill>
                  <a:schemeClr val="tx1"/>
                </a:solidFill>
              </a:rPr>
              <a:t>조회</a:t>
            </a:r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dirty="0">
                <a:solidFill>
                  <a:schemeClr val="tx1"/>
                </a:solidFill>
              </a:rPr>
              <a:t>정보관리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sz="1200" dirty="0">
                <a:solidFill>
                  <a:schemeClr val="tx1"/>
                </a:solidFill>
              </a:rPr>
              <a:t>  라우팅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sz="1200" dirty="0">
                <a:solidFill>
                  <a:schemeClr val="tx1"/>
                </a:solidFill>
              </a:rPr>
              <a:t>  거래처</a:t>
            </a: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B9C571FE-B497-4B30-987E-9A2576A84640}"/>
              </a:ext>
            </a:extLst>
          </p:cNvPr>
          <p:cNvSpPr/>
          <p:nvPr/>
        </p:nvSpPr>
        <p:spPr>
          <a:xfrm>
            <a:off x="9491784" y="4248138"/>
            <a:ext cx="229302" cy="22249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ysClr val="windowText" lastClr="000000"/>
                </a:solidFill>
              </a:rPr>
              <a:t>4</a:t>
            </a:r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B59A4B98-4D0B-D2CC-319B-C610EA3A3143}"/>
              </a:ext>
            </a:extLst>
          </p:cNvPr>
          <p:cNvSpPr/>
          <p:nvPr/>
        </p:nvSpPr>
        <p:spPr>
          <a:xfrm>
            <a:off x="8520583" y="4202732"/>
            <a:ext cx="229302" cy="22249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ysClr val="windowText" lastClr="000000"/>
                </a:solidFill>
              </a:rPr>
              <a:t>3</a:t>
            </a:r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F9D53766-EE1B-4CF1-0FBE-3E1E7A748083}"/>
              </a:ext>
            </a:extLst>
          </p:cNvPr>
          <p:cNvSpPr/>
          <p:nvPr/>
        </p:nvSpPr>
        <p:spPr>
          <a:xfrm>
            <a:off x="8831327" y="6248886"/>
            <a:ext cx="229302" cy="22249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ysClr val="windowText" lastClr="000000"/>
                </a:solidFill>
              </a:rPr>
              <a:t>6</a:t>
            </a:r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EFD997B-95B2-8785-E854-EB5DB0D34E00}"/>
              </a:ext>
            </a:extLst>
          </p:cNvPr>
          <p:cNvSpPr/>
          <p:nvPr/>
        </p:nvSpPr>
        <p:spPr>
          <a:xfrm>
            <a:off x="2529303" y="3047491"/>
            <a:ext cx="1020858" cy="3975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   </a:t>
            </a:r>
            <a:r>
              <a:rPr lang="ko-KR" altLang="en-US" sz="2000" b="1" dirty="0">
                <a:solidFill>
                  <a:schemeClr val="tx1"/>
                </a:solidFill>
              </a:rPr>
              <a:t>검색</a:t>
            </a:r>
          </a:p>
        </p:txBody>
      </p:sp>
      <p:pic>
        <p:nvPicPr>
          <p:cNvPr id="10" name="그래픽 9" descr="돋보기">
            <a:extLst>
              <a:ext uri="{FF2B5EF4-FFF2-40B4-BE49-F238E27FC236}">
                <a16:creationId xmlns:a16="http://schemas.microsoft.com/office/drawing/2014/main" id="{77E183C8-1F03-CE53-2093-A652C1A310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34235" y="3530102"/>
            <a:ext cx="427934" cy="427934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21BCA107-27C4-D272-92D5-3C589974382C}"/>
              </a:ext>
            </a:extLst>
          </p:cNvPr>
          <p:cNvSpPr/>
          <p:nvPr/>
        </p:nvSpPr>
        <p:spPr>
          <a:xfrm>
            <a:off x="3682680" y="3503086"/>
            <a:ext cx="5725643" cy="42793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거래처명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품목명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품목 번호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입고 번호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입고 일자 로 검색해 주세요</a:t>
            </a:r>
          </a:p>
        </p:txBody>
      </p:sp>
      <p:pic>
        <p:nvPicPr>
          <p:cNvPr id="13" name="그래픽 12" descr="돋보기">
            <a:extLst>
              <a:ext uri="{FF2B5EF4-FFF2-40B4-BE49-F238E27FC236}">
                <a16:creationId xmlns:a16="http://schemas.microsoft.com/office/drawing/2014/main" id="{CA8F66D2-5D3D-3C3E-D7E0-522C011A28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75679" y="3113727"/>
            <a:ext cx="284258" cy="250929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5FF36D07-292E-2C70-AC79-62E5A5913105}"/>
              </a:ext>
            </a:extLst>
          </p:cNvPr>
          <p:cNvSpPr/>
          <p:nvPr/>
        </p:nvSpPr>
        <p:spPr>
          <a:xfrm>
            <a:off x="2175679" y="3503086"/>
            <a:ext cx="1381089" cy="30502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전체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5" name="순서도: 병합 14">
            <a:extLst>
              <a:ext uri="{FF2B5EF4-FFF2-40B4-BE49-F238E27FC236}">
                <a16:creationId xmlns:a16="http://schemas.microsoft.com/office/drawing/2014/main" id="{5DAAAF09-D7E4-6DF3-4E1E-4CD21F8E5375}"/>
              </a:ext>
            </a:extLst>
          </p:cNvPr>
          <p:cNvSpPr/>
          <p:nvPr/>
        </p:nvSpPr>
        <p:spPr>
          <a:xfrm>
            <a:off x="2301592" y="3590703"/>
            <a:ext cx="117382" cy="117382"/>
          </a:xfrm>
          <a:prstGeom prst="flowChartMerg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67C8D34-45C1-DEAB-34B9-92111FA34337}"/>
              </a:ext>
            </a:extLst>
          </p:cNvPr>
          <p:cNvSpPr/>
          <p:nvPr/>
        </p:nvSpPr>
        <p:spPr>
          <a:xfrm>
            <a:off x="2175679" y="3795702"/>
            <a:ext cx="1381089" cy="1127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거래처명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품목명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품목번호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입고 번호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입고 일자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28DD1935-E366-EAC8-21CA-A8B64E4B758E}"/>
              </a:ext>
            </a:extLst>
          </p:cNvPr>
          <p:cNvSpPr/>
          <p:nvPr/>
        </p:nvSpPr>
        <p:spPr>
          <a:xfrm>
            <a:off x="10310863" y="4248138"/>
            <a:ext cx="229302" cy="22249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ysClr val="windowText" lastClr="000000"/>
                </a:solidFill>
              </a:rPr>
              <a:t>5</a:t>
            </a:r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7D94EF89-B7FC-B61D-2B50-E1917CF0000F}"/>
              </a:ext>
            </a:extLst>
          </p:cNvPr>
          <p:cNvSpPr/>
          <p:nvPr/>
        </p:nvSpPr>
        <p:spPr>
          <a:xfrm>
            <a:off x="4507292" y="6338347"/>
            <a:ext cx="229302" cy="22249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ysClr val="windowText" lastClr="000000"/>
                </a:solidFill>
              </a:rPr>
              <a:t>7</a:t>
            </a:r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ECADE7FA-9001-F03B-83E9-AF51517840D1}"/>
              </a:ext>
            </a:extLst>
          </p:cNvPr>
          <p:cNvSpPr/>
          <p:nvPr/>
        </p:nvSpPr>
        <p:spPr>
          <a:xfrm>
            <a:off x="10368768" y="4843652"/>
            <a:ext cx="960582" cy="332509"/>
          </a:xfrm>
          <a:prstGeom prst="rect">
            <a:avLst/>
          </a:prstGeom>
          <a:ln>
            <a:noFill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등록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99C658C3-F619-4DF2-97A6-9402B2F836D6}"/>
              </a:ext>
            </a:extLst>
          </p:cNvPr>
          <p:cNvSpPr/>
          <p:nvPr/>
        </p:nvSpPr>
        <p:spPr>
          <a:xfrm>
            <a:off x="10368768" y="5202969"/>
            <a:ext cx="960582" cy="332509"/>
          </a:xfrm>
          <a:prstGeom prst="rect">
            <a:avLst/>
          </a:prstGeom>
          <a:ln>
            <a:noFill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등록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0E845D6C-C3B4-73B1-32E0-6638A77DEFD4}"/>
              </a:ext>
            </a:extLst>
          </p:cNvPr>
          <p:cNvSpPr/>
          <p:nvPr/>
        </p:nvSpPr>
        <p:spPr>
          <a:xfrm>
            <a:off x="10368768" y="5562286"/>
            <a:ext cx="960582" cy="332509"/>
          </a:xfrm>
          <a:prstGeom prst="rect">
            <a:avLst/>
          </a:prstGeom>
          <a:ln>
            <a:noFill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등록</a:t>
            </a: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283AB5C9-8901-804C-85C8-0BD8D09825DE}"/>
              </a:ext>
            </a:extLst>
          </p:cNvPr>
          <p:cNvSpPr/>
          <p:nvPr/>
        </p:nvSpPr>
        <p:spPr>
          <a:xfrm>
            <a:off x="2072290" y="3341879"/>
            <a:ext cx="229302" cy="22249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ysClr val="windowText" lastClr="000000"/>
                </a:solidFill>
              </a:rPr>
              <a:t>1</a:t>
            </a:r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8C98F910-D348-5DA1-A289-1802FF337F94}"/>
              </a:ext>
            </a:extLst>
          </p:cNvPr>
          <p:cNvSpPr/>
          <p:nvPr/>
        </p:nvSpPr>
        <p:spPr>
          <a:xfrm>
            <a:off x="9179021" y="3363663"/>
            <a:ext cx="229302" cy="22249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ysClr val="windowText" lastClr="000000"/>
                </a:solidFill>
              </a:rPr>
              <a:t>2</a:t>
            </a:r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34540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1DBDE2E3-A45E-7A13-8695-5DBF26CC933D}"/>
              </a:ext>
            </a:extLst>
          </p:cNvPr>
          <p:cNvSpPr/>
          <p:nvPr/>
        </p:nvSpPr>
        <p:spPr>
          <a:xfrm>
            <a:off x="3116341" y="500254"/>
            <a:ext cx="5597111" cy="560531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1000" dirty="0">
              <a:solidFill>
                <a:schemeClr val="tx1"/>
              </a:solidFill>
            </a:endParaRPr>
          </a:p>
          <a:p>
            <a:endParaRPr lang="en-US" altLang="ko-KR" sz="1000" dirty="0">
              <a:solidFill>
                <a:schemeClr val="tx1"/>
              </a:solidFill>
            </a:endParaRPr>
          </a:p>
          <a:p>
            <a:endParaRPr lang="en-US" altLang="ko-KR" sz="1000" dirty="0">
              <a:solidFill>
                <a:schemeClr val="tx1"/>
              </a:solidFill>
            </a:endParaRPr>
          </a:p>
          <a:p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ko-KR" altLang="en-US" sz="1200" dirty="0">
                <a:solidFill>
                  <a:schemeClr val="tx1"/>
                </a:solidFill>
              </a:rPr>
              <a:t>입고 일자</a:t>
            </a:r>
            <a:r>
              <a:rPr lang="en-US" altLang="ko-KR" sz="1200" dirty="0">
                <a:solidFill>
                  <a:schemeClr val="tx1"/>
                </a:solidFill>
              </a:rPr>
              <a:t>: 2025-10-09</a:t>
            </a:r>
          </a:p>
          <a:p>
            <a:r>
              <a:rPr lang="en-US" altLang="ko-KR" sz="1200" dirty="0">
                <a:solidFill>
                  <a:schemeClr val="tx1"/>
                </a:solidFill>
              </a:rPr>
              <a:t> </a:t>
            </a: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sz="1200" dirty="0">
                <a:solidFill>
                  <a:schemeClr val="tx1"/>
                </a:solidFill>
              </a:rPr>
              <a:t>출고 일자</a:t>
            </a:r>
            <a:r>
              <a:rPr lang="en-US" altLang="ko-KR" sz="1200" dirty="0">
                <a:solidFill>
                  <a:schemeClr val="tx1"/>
                </a:solidFill>
              </a:rPr>
              <a:t>: 2025-10-10</a:t>
            </a: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sz="1200" dirty="0">
                <a:solidFill>
                  <a:schemeClr val="tx1"/>
                </a:solidFill>
              </a:rPr>
              <a:t>출고 번호</a:t>
            </a:r>
            <a:r>
              <a:rPr lang="en-US" altLang="ko-KR" sz="1200" dirty="0">
                <a:solidFill>
                  <a:schemeClr val="tx1"/>
                </a:solidFill>
              </a:rPr>
              <a:t>: OUT-20251010-001</a:t>
            </a: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sz="1200" dirty="0">
                <a:solidFill>
                  <a:schemeClr val="tx1"/>
                </a:solidFill>
              </a:rPr>
              <a:t>거래처명</a:t>
            </a:r>
            <a:r>
              <a:rPr lang="en-US" altLang="ko-KR" sz="1200" dirty="0">
                <a:solidFill>
                  <a:schemeClr val="tx1"/>
                </a:solidFill>
              </a:rPr>
              <a:t>: </a:t>
            </a:r>
            <a:r>
              <a:rPr lang="ko-KR" altLang="en-US" sz="1200" dirty="0">
                <a:solidFill>
                  <a:schemeClr val="tx1"/>
                </a:solidFill>
              </a:rPr>
              <a:t>코드하우스</a:t>
            </a:r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sz="1200" dirty="0">
                <a:solidFill>
                  <a:schemeClr val="tx1"/>
                </a:solidFill>
              </a:rPr>
              <a:t>품목 번호</a:t>
            </a:r>
            <a:r>
              <a:rPr lang="en-US" altLang="ko-KR" sz="1200" dirty="0">
                <a:solidFill>
                  <a:schemeClr val="tx1"/>
                </a:solidFill>
              </a:rPr>
              <a:t>: Code-001</a:t>
            </a: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sz="1200" dirty="0">
                <a:solidFill>
                  <a:schemeClr val="tx1"/>
                </a:solidFill>
              </a:rPr>
              <a:t>품목명</a:t>
            </a:r>
            <a:r>
              <a:rPr lang="en-US" altLang="ko-KR" sz="1200" dirty="0">
                <a:solidFill>
                  <a:schemeClr val="tx1"/>
                </a:solidFill>
              </a:rPr>
              <a:t>: </a:t>
            </a:r>
            <a:r>
              <a:rPr lang="ko-KR" altLang="en-US" sz="1200" dirty="0" err="1">
                <a:solidFill>
                  <a:schemeClr val="tx1"/>
                </a:solidFill>
              </a:rPr>
              <a:t>핀걸이</a:t>
            </a:r>
            <a:r>
              <a:rPr lang="ko-KR" altLang="en-US" sz="1200" dirty="0">
                <a:solidFill>
                  <a:schemeClr val="tx1"/>
                </a:solidFill>
              </a:rPr>
              <a:t> 스프링</a:t>
            </a:r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sz="1200" dirty="0">
                <a:solidFill>
                  <a:schemeClr val="tx1"/>
                </a:solidFill>
              </a:rPr>
              <a:t>출고 수량</a:t>
            </a:r>
            <a:r>
              <a:rPr lang="en-US" altLang="ko-KR" sz="1200" dirty="0">
                <a:solidFill>
                  <a:schemeClr val="tx1"/>
                </a:solidFill>
              </a:rPr>
              <a:t>: 500EA</a:t>
            </a:r>
          </a:p>
          <a:p>
            <a:endParaRPr lang="en-US" altLang="ko-KR" sz="1000" dirty="0">
              <a:solidFill>
                <a:schemeClr val="tx1"/>
              </a:solidFill>
            </a:endParaRPr>
          </a:p>
          <a:p>
            <a:endParaRPr lang="en-US" altLang="ko-KR" sz="1000" dirty="0">
              <a:solidFill>
                <a:schemeClr val="tx1"/>
              </a:solidFill>
            </a:endParaRPr>
          </a:p>
          <a:p>
            <a:endParaRPr lang="en-US" altLang="ko-KR" sz="1000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7A98868-0F4E-E476-167A-B1381417B0C5}"/>
              </a:ext>
            </a:extLst>
          </p:cNvPr>
          <p:cNvSpPr/>
          <p:nvPr/>
        </p:nvSpPr>
        <p:spPr>
          <a:xfrm>
            <a:off x="3460778" y="631984"/>
            <a:ext cx="4854932" cy="4674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ln w="0">
                  <a:solidFill>
                    <a:schemeClr val="bg1"/>
                  </a:solidFill>
                </a:ln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출하증</a:t>
            </a:r>
            <a:endParaRPr lang="ko-KR" altLang="en-US" dirty="0">
              <a:ln w="0">
                <a:solidFill>
                  <a:schemeClr val="bg1"/>
                </a:solidFill>
              </a:ln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D3ED556F-2445-D773-18F4-7696E53FF54E}"/>
              </a:ext>
            </a:extLst>
          </p:cNvPr>
          <p:cNvSpPr/>
          <p:nvPr/>
        </p:nvSpPr>
        <p:spPr>
          <a:xfrm>
            <a:off x="2954772" y="1479957"/>
            <a:ext cx="229302" cy="22249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ysClr val="windowText" lastClr="000000"/>
                </a:solidFill>
              </a:rPr>
              <a:t>1</a:t>
            </a:r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E065893B-54BB-EA9B-DB68-1EE049304C58}"/>
              </a:ext>
            </a:extLst>
          </p:cNvPr>
          <p:cNvSpPr/>
          <p:nvPr/>
        </p:nvSpPr>
        <p:spPr>
          <a:xfrm>
            <a:off x="2954772" y="3139841"/>
            <a:ext cx="229302" cy="22249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ysClr val="windowText" lastClr="000000"/>
                </a:solidFill>
              </a:rPr>
              <a:t>4</a:t>
            </a:r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732F3154-6B76-BB46-F6B1-D634B8B18187}"/>
              </a:ext>
            </a:extLst>
          </p:cNvPr>
          <p:cNvSpPr/>
          <p:nvPr/>
        </p:nvSpPr>
        <p:spPr>
          <a:xfrm>
            <a:off x="2954772" y="3673943"/>
            <a:ext cx="229302" cy="22249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ysClr val="windowText" lastClr="000000"/>
                </a:solidFill>
              </a:rPr>
              <a:t>5</a:t>
            </a:r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D27547D9-28C1-8580-5DEC-71646368486D}"/>
              </a:ext>
            </a:extLst>
          </p:cNvPr>
          <p:cNvSpPr/>
          <p:nvPr/>
        </p:nvSpPr>
        <p:spPr>
          <a:xfrm>
            <a:off x="2954772" y="4232287"/>
            <a:ext cx="229302" cy="22249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ysClr val="windowText" lastClr="000000"/>
                </a:solidFill>
              </a:rPr>
              <a:t>6</a:t>
            </a:r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5E9C70F2-A904-CA71-3698-D273CE1B82B5}"/>
              </a:ext>
            </a:extLst>
          </p:cNvPr>
          <p:cNvSpPr/>
          <p:nvPr/>
        </p:nvSpPr>
        <p:spPr>
          <a:xfrm>
            <a:off x="2954772" y="4790631"/>
            <a:ext cx="229302" cy="22249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ysClr val="windowText" lastClr="000000"/>
                </a:solidFill>
              </a:rPr>
              <a:t>7</a:t>
            </a:r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9F56ACC7-5E32-93AB-4A20-3860C425829F}"/>
              </a:ext>
            </a:extLst>
          </p:cNvPr>
          <p:cNvSpPr/>
          <p:nvPr/>
        </p:nvSpPr>
        <p:spPr>
          <a:xfrm>
            <a:off x="2954772" y="2581497"/>
            <a:ext cx="229302" cy="22249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ysClr val="windowText" lastClr="000000"/>
                </a:solidFill>
              </a:rPr>
              <a:t>3</a:t>
            </a:r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6A79FA26-8D4B-4522-F088-730E6896635C}"/>
              </a:ext>
            </a:extLst>
          </p:cNvPr>
          <p:cNvSpPr/>
          <p:nvPr/>
        </p:nvSpPr>
        <p:spPr>
          <a:xfrm>
            <a:off x="2954772" y="2047395"/>
            <a:ext cx="229302" cy="22249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ysClr val="windowText" lastClr="000000"/>
                </a:solidFill>
              </a:rPr>
              <a:t>2</a:t>
            </a:r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761DE09-D346-9EE4-9391-0110E3348971}"/>
              </a:ext>
            </a:extLst>
          </p:cNvPr>
          <p:cNvSpPr/>
          <p:nvPr/>
        </p:nvSpPr>
        <p:spPr>
          <a:xfrm>
            <a:off x="7887839" y="5708342"/>
            <a:ext cx="660398" cy="303344"/>
          </a:xfrm>
          <a:prstGeom prst="rect">
            <a:avLst/>
          </a:prstGeom>
          <a:ln>
            <a:noFill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출력</a:t>
            </a: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7222179A-DE15-3E95-0F2D-9BDA8349D760}"/>
              </a:ext>
            </a:extLst>
          </p:cNvPr>
          <p:cNvSpPr/>
          <p:nvPr/>
        </p:nvSpPr>
        <p:spPr>
          <a:xfrm>
            <a:off x="7773188" y="5583310"/>
            <a:ext cx="229302" cy="22249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ysClr val="windowText" lastClr="000000"/>
                </a:solidFill>
              </a:rPr>
              <a:t>8</a:t>
            </a:r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42882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BA880EE-88A8-EA9E-BAFA-1FB03463F117}"/>
              </a:ext>
            </a:extLst>
          </p:cNvPr>
          <p:cNvSpPr/>
          <p:nvPr/>
        </p:nvSpPr>
        <p:spPr>
          <a:xfrm>
            <a:off x="2096269" y="46615"/>
            <a:ext cx="8619065" cy="4674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dirty="0">
                <a:ln w="0">
                  <a:solidFill>
                    <a:schemeClr val="bg1"/>
                  </a:solidFill>
                </a:ln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수주품목 출고 이력조회</a:t>
            </a: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01D676C2-C35C-37DB-78AB-1CBFB043CB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0668014"/>
              </p:ext>
            </p:extLst>
          </p:nvPr>
        </p:nvGraphicFramePr>
        <p:xfrm>
          <a:off x="2096269" y="2096311"/>
          <a:ext cx="7957987" cy="298765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48552">
                  <a:extLst>
                    <a:ext uri="{9D8B030D-6E8A-4147-A177-3AD203B41FA5}">
                      <a16:colId xmlns:a16="http://schemas.microsoft.com/office/drawing/2014/main" val="840625375"/>
                    </a:ext>
                  </a:extLst>
                </a:gridCol>
                <a:gridCol w="1148552">
                  <a:extLst>
                    <a:ext uri="{9D8B030D-6E8A-4147-A177-3AD203B41FA5}">
                      <a16:colId xmlns:a16="http://schemas.microsoft.com/office/drawing/2014/main" val="993184149"/>
                    </a:ext>
                  </a:extLst>
                </a:gridCol>
                <a:gridCol w="1148552">
                  <a:extLst>
                    <a:ext uri="{9D8B030D-6E8A-4147-A177-3AD203B41FA5}">
                      <a16:colId xmlns:a16="http://schemas.microsoft.com/office/drawing/2014/main" val="1095808542"/>
                    </a:ext>
                  </a:extLst>
                </a:gridCol>
                <a:gridCol w="1148552">
                  <a:extLst>
                    <a:ext uri="{9D8B030D-6E8A-4147-A177-3AD203B41FA5}">
                      <a16:colId xmlns:a16="http://schemas.microsoft.com/office/drawing/2014/main" val="755449179"/>
                    </a:ext>
                  </a:extLst>
                </a:gridCol>
                <a:gridCol w="1148552">
                  <a:extLst>
                    <a:ext uri="{9D8B030D-6E8A-4147-A177-3AD203B41FA5}">
                      <a16:colId xmlns:a16="http://schemas.microsoft.com/office/drawing/2014/main" val="1033820382"/>
                    </a:ext>
                  </a:extLst>
                </a:gridCol>
                <a:gridCol w="1148552">
                  <a:extLst>
                    <a:ext uri="{9D8B030D-6E8A-4147-A177-3AD203B41FA5}">
                      <a16:colId xmlns:a16="http://schemas.microsoft.com/office/drawing/2014/main" val="2836124418"/>
                    </a:ext>
                  </a:extLst>
                </a:gridCol>
                <a:gridCol w="1066675">
                  <a:extLst>
                    <a:ext uri="{9D8B030D-6E8A-4147-A177-3AD203B41FA5}">
                      <a16:colId xmlns:a16="http://schemas.microsoft.com/office/drawing/2014/main" val="2201389075"/>
                    </a:ext>
                  </a:extLst>
                </a:gridCol>
              </a:tblGrid>
              <a:tr h="3054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출고 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거래처명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품목 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품목명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출고 수량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출고 일자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분류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94134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OUT-20251009-001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코드 하우스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Code-001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 err="1"/>
                        <a:t>핀걸이</a:t>
                      </a:r>
                      <a:r>
                        <a:rPr lang="ko-KR" altLang="en-US" sz="1200" dirty="0"/>
                        <a:t> 스프링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500EA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2025-10-10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방산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79995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OUT-20251010-001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코드 하우스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Code-002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FAN COVER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100EA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2025-10-10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자동차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47842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96259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732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85816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5432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9083036"/>
                  </a:ext>
                </a:extLst>
              </a:tr>
            </a:tbl>
          </a:graphicData>
        </a:graphic>
      </p:graphicFrame>
      <p:sp>
        <p:nvSpPr>
          <p:cNvPr id="20" name="직사각형 19">
            <a:extLst>
              <a:ext uri="{FF2B5EF4-FFF2-40B4-BE49-F238E27FC236}">
                <a16:creationId xmlns:a16="http://schemas.microsoft.com/office/drawing/2014/main" id="{4AF5BD28-8D35-CEF7-FEDF-D16572CFD27B}"/>
              </a:ext>
            </a:extLst>
          </p:cNvPr>
          <p:cNvSpPr/>
          <p:nvPr/>
        </p:nvSpPr>
        <p:spPr>
          <a:xfrm>
            <a:off x="10132018" y="2540748"/>
            <a:ext cx="583316" cy="303344"/>
          </a:xfrm>
          <a:prstGeom prst="rect">
            <a:avLst/>
          </a:prstGeom>
          <a:ln>
            <a:noFill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수정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7FD5EE0-D440-B089-3454-68C0CED3E378}"/>
              </a:ext>
            </a:extLst>
          </p:cNvPr>
          <p:cNvSpPr/>
          <p:nvPr/>
        </p:nvSpPr>
        <p:spPr>
          <a:xfrm>
            <a:off x="10143566" y="4767434"/>
            <a:ext cx="583316" cy="303344"/>
          </a:xfrm>
          <a:prstGeom prst="rect">
            <a:avLst/>
          </a:prstGeom>
          <a:ln>
            <a:noFill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수정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81FB23E-6AB9-E0FC-97E5-BF93B7B6D184}"/>
              </a:ext>
            </a:extLst>
          </p:cNvPr>
          <p:cNvSpPr/>
          <p:nvPr/>
        </p:nvSpPr>
        <p:spPr>
          <a:xfrm>
            <a:off x="10145878" y="3690674"/>
            <a:ext cx="583316" cy="303344"/>
          </a:xfrm>
          <a:prstGeom prst="rect">
            <a:avLst/>
          </a:prstGeom>
          <a:ln>
            <a:noFill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수정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56AF01D-2ABD-8BED-12C2-E99D98EC30BB}"/>
              </a:ext>
            </a:extLst>
          </p:cNvPr>
          <p:cNvSpPr/>
          <p:nvPr/>
        </p:nvSpPr>
        <p:spPr>
          <a:xfrm>
            <a:off x="10132018" y="2910753"/>
            <a:ext cx="583316" cy="303344"/>
          </a:xfrm>
          <a:prstGeom prst="rect">
            <a:avLst/>
          </a:prstGeom>
          <a:ln>
            <a:noFill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수정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DD4971D-FA40-9D23-96F6-520D536AB7FC}"/>
              </a:ext>
            </a:extLst>
          </p:cNvPr>
          <p:cNvSpPr/>
          <p:nvPr/>
        </p:nvSpPr>
        <p:spPr>
          <a:xfrm>
            <a:off x="10143566" y="3305653"/>
            <a:ext cx="583316" cy="303344"/>
          </a:xfrm>
          <a:prstGeom prst="rect">
            <a:avLst/>
          </a:prstGeom>
          <a:ln>
            <a:noFill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수정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CA828C9-E759-6981-3C28-1F5A6BCD937B}"/>
              </a:ext>
            </a:extLst>
          </p:cNvPr>
          <p:cNvSpPr/>
          <p:nvPr/>
        </p:nvSpPr>
        <p:spPr>
          <a:xfrm>
            <a:off x="10143566" y="4032614"/>
            <a:ext cx="583316" cy="303344"/>
          </a:xfrm>
          <a:prstGeom prst="rect">
            <a:avLst/>
          </a:prstGeom>
          <a:ln>
            <a:noFill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수정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CC45CF2-ECC6-933F-E052-61F2DAFDE515}"/>
              </a:ext>
            </a:extLst>
          </p:cNvPr>
          <p:cNvSpPr/>
          <p:nvPr/>
        </p:nvSpPr>
        <p:spPr>
          <a:xfrm>
            <a:off x="10143566" y="4400024"/>
            <a:ext cx="583316" cy="303344"/>
          </a:xfrm>
          <a:prstGeom prst="rect">
            <a:avLst/>
          </a:prstGeom>
          <a:ln>
            <a:noFill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수정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B44250B-4A9C-2032-0CBC-F7C0E43301D7}"/>
              </a:ext>
            </a:extLst>
          </p:cNvPr>
          <p:cNvSpPr/>
          <p:nvPr/>
        </p:nvSpPr>
        <p:spPr>
          <a:xfrm>
            <a:off x="0" y="0"/>
            <a:ext cx="18796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2000" dirty="0">
                <a:solidFill>
                  <a:srgbClr val="00B0F0"/>
                </a:solidFill>
              </a:rPr>
              <a:t>대원공업㈜</a:t>
            </a:r>
            <a:endParaRPr lang="en-US" altLang="ko-KR" sz="2000" dirty="0">
              <a:solidFill>
                <a:srgbClr val="00B0F0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r>
              <a:rPr lang="ko-KR" altLang="en-US" dirty="0">
                <a:solidFill>
                  <a:schemeClr val="tx1"/>
                </a:solidFill>
              </a:rPr>
              <a:t>수주품목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-</a:t>
            </a:r>
            <a:r>
              <a:rPr lang="ko-KR" altLang="en-US" sz="1200" dirty="0">
                <a:solidFill>
                  <a:schemeClr val="tx1"/>
                </a:solidFill>
              </a:rPr>
              <a:t>입고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   </a:t>
            </a:r>
            <a:r>
              <a:rPr lang="ko-KR" altLang="en-US" sz="1200" dirty="0">
                <a:solidFill>
                  <a:schemeClr val="tx1"/>
                </a:solidFill>
              </a:rPr>
              <a:t>등록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   </a:t>
            </a:r>
            <a:r>
              <a:rPr lang="ko-KR" altLang="en-US" sz="1200" dirty="0">
                <a:solidFill>
                  <a:schemeClr val="tx1"/>
                </a:solidFill>
              </a:rPr>
              <a:t>이력조회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-</a:t>
            </a:r>
            <a:r>
              <a:rPr lang="ko-KR" altLang="en-US" sz="1200" dirty="0">
                <a:solidFill>
                  <a:schemeClr val="tx1"/>
                </a:solidFill>
              </a:rPr>
              <a:t>출고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sz="1200" dirty="0">
                <a:solidFill>
                  <a:schemeClr val="tx1"/>
                </a:solidFill>
              </a:rPr>
              <a:t>   등록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sz="1200" dirty="0">
                <a:solidFill>
                  <a:schemeClr val="tx1"/>
                </a:solidFill>
              </a:rPr>
              <a:t>   이력조회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-</a:t>
            </a:r>
            <a:r>
              <a:rPr lang="ko-KR" altLang="en-US" sz="1200" dirty="0">
                <a:solidFill>
                  <a:schemeClr val="tx1"/>
                </a:solidFill>
              </a:rPr>
              <a:t>품목관리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sz="1200" dirty="0">
                <a:solidFill>
                  <a:schemeClr val="tx1"/>
                </a:solidFill>
              </a:rPr>
              <a:t>   등록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   </a:t>
            </a:r>
            <a:r>
              <a:rPr lang="ko-KR" altLang="en-US" sz="1200" dirty="0">
                <a:solidFill>
                  <a:schemeClr val="tx1"/>
                </a:solidFill>
              </a:rPr>
              <a:t>조회</a:t>
            </a:r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dirty="0">
                <a:solidFill>
                  <a:schemeClr val="tx1"/>
                </a:solidFill>
              </a:rPr>
              <a:t>원자재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-</a:t>
            </a:r>
            <a:r>
              <a:rPr lang="ko-KR" altLang="en-US" sz="1200" dirty="0">
                <a:solidFill>
                  <a:schemeClr val="tx1"/>
                </a:solidFill>
              </a:rPr>
              <a:t>입고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   </a:t>
            </a:r>
            <a:r>
              <a:rPr lang="ko-KR" altLang="en-US" sz="1200" dirty="0">
                <a:solidFill>
                  <a:schemeClr val="tx1"/>
                </a:solidFill>
              </a:rPr>
              <a:t>등록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   </a:t>
            </a:r>
            <a:r>
              <a:rPr lang="ko-KR" altLang="en-US" sz="1200" dirty="0">
                <a:solidFill>
                  <a:schemeClr val="tx1"/>
                </a:solidFill>
              </a:rPr>
              <a:t>이력조회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-</a:t>
            </a:r>
            <a:r>
              <a:rPr lang="ko-KR" altLang="en-US" sz="1200" dirty="0">
                <a:solidFill>
                  <a:schemeClr val="tx1"/>
                </a:solidFill>
              </a:rPr>
              <a:t>출고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   </a:t>
            </a:r>
            <a:r>
              <a:rPr lang="ko-KR" altLang="en-US" sz="1200" dirty="0">
                <a:solidFill>
                  <a:schemeClr val="tx1"/>
                </a:solidFill>
              </a:rPr>
              <a:t>등록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   </a:t>
            </a:r>
            <a:r>
              <a:rPr lang="ko-KR" altLang="en-US" sz="1200" dirty="0">
                <a:solidFill>
                  <a:schemeClr val="tx1"/>
                </a:solidFill>
              </a:rPr>
              <a:t>이력조회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-</a:t>
            </a:r>
            <a:r>
              <a:rPr lang="ko-KR" altLang="en-US" sz="1200" dirty="0">
                <a:solidFill>
                  <a:schemeClr val="tx1"/>
                </a:solidFill>
              </a:rPr>
              <a:t>재고현황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-</a:t>
            </a:r>
            <a:r>
              <a:rPr lang="ko-KR" altLang="en-US" sz="1200" dirty="0">
                <a:solidFill>
                  <a:schemeClr val="tx1"/>
                </a:solidFill>
              </a:rPr>
              <a:t>품목관리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sz="1200" dirty="0">
                <a:solidFill>
                  <a:schemeClr val="tx1"/>
                </a:solidFill>
              </a:rPr>
              <a:t>   등록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   </a:t>
            </a:r>
            <a:r>
              <a:rPr lang="ko-KR" altLang="en-US" sz="1200" dirty="0">
                <a:solidFill>
                  <a:schemeClr val="tx1"/>
                </a:solidFill>
              </a:rPr>
              <a:t>조회</a:t>
            </a:r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dirty="0">
                <a:solidFill>
                  <a:schemeClr val="tx1"/>
                </a:solidFill>
              </a:rPr>
              <a:t>정보관리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sz="1200" dirty="0">
                <a:solidFill>
                  <a:schemeClr val="tx1"/>
                </a:solidFill>
              </a:rPr>
              <a:t>  라우팅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sz="1200" dirty="0">
                <a:solidFill>
                  <a:schemeClr val="tx1"/>
                </a:solidFill>
              </a:rPr>
              <a:t>  거래처</a:t>
            </a: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C8D64E67-CCD0-87F3-4830-1C51DCEEA67F}"/>
              </a:ext>
            </a:extLst>
          </p:cNvPr>
          <p:cNvSpPr/>
          <p:nvPr/>
        </p:nvSpPr>
        <p:spPr>
          <a:xfrm>
            <a:off x="10109341" y="2362842"/>
            <a:ext cx="205411" cy="22249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ysClr val="windowText" lastClr="000000"/>
                </a:solidFill>
              </a:rPr>
              <a:t>5</a:t>
            </a:r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5FE4DFE5-1978-39CB-53EE-AACFAE581CDF}"/>
              </a:ext>
            </a:extLst>
          </p:cNvPr>
          <p:cNvSpPr/>
          <p:nvPr/>
        </p:nvSpPr>
        <p:spPr>
          <a:xfrm>
            <a:off x="7860275" y="2284332"/>
            <a:ext cx="229302" cy="22249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ysClr val="windowText" lastClr="000000"/>
                </a:solidFill>
              </a:rPr>
              <a:t>3</a:t>
            </a:r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2C7B3C8C-8C84-1D41-4E56-E5E8FB2AA3A5}"/>
              </a:ext>
            </a:extLst>
          </p:cNvPr>
          <p:cNvSpPr/>
          <p:nvPr/>
        </p:nvSpPr>
        <p:spPr>
          <a:xfrm>
            <a:off x="6712833" y="2284332"/>
            <a:ext cx="229302" cy="22249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ysClr val="windowText" lastClr="000000"/>
                </a:solidFill>
              </a:rPr>
              <a:t>2</a:t>
            </a:r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29F2D600-0C7F-5DE8-16D7-ACB2F1DDF776}"/>
              </a:ext>
            </a:extLst>
          </p:cNvPr>
          <p:cNvSpPr/>
          <p:nvPr/>
        </p:nvSpPr>
        <p:spPr>
          <a:xfrm>
            <a:off x="11508391" y="2557961"/>
            <a:ext cx="651163" cy="28972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/>
              <a:t>출하증</a:t>
            </a:r>
            <a:endParaRPr lang="ko-KR" altLang="en-US" sz="1200" dirty="0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D1A9D85D-C7C4-2603-C822-009FD780B8F5}"/>
              </a:ext>
            </a:extLst>
          </p:cNvPr>
          <p:cNvSpPr/>
          <p:nvPr/>
        </p:nvSpPr>
        <p:spPr>
          <a:xfrm>
            <a:off x="11508390" y="2933473"/>
            <a:ext cx="651164" cy="27104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/>
              <a:t>출하증</a:t>
            </a:r>
            <a:endParaRPr lang="ko-KR" altLang="en-US" sz="1200" dirty="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F4E4AB8E-3D69-BA0E-3EBB-0BB54ECBA83A}"/>
              </a:ext>
            </a:extLst>
          </p:cNvPr>
          <p:cNvSpPr/>
          <p:nvPr/>
        </p:nvSpPr>
        <p:spPr>
          <a:xfrm>
            <a:off x="11508389" y="3313935"/>
            <a:ext cx="651165" cy="27104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/>
              <a:t>출하증</a:t>
            </a:r>
            <a:endParaRPr lang="ko-KR" altLang="en-US" sz="1200" dirty="0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E2B56D2B-0345-91D6-8B6B-218A48F2C8F8}"/>
              </a:ext>
            </a:extLst>
          </p:cNvPr>
          <p:cNvSpPr/>
          <p:nvPr/>
        </p:nvSpPr>
        <p:spPr>
          <a:xfrm>
            <a:off x="11508389" y="3694397"/>
            <a:ext cx="651166" cy="28972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/>
              <a:t>출하증</a:t>
            </a:r>
            <a:endParaRPr lang="ko-KR" altLang="en-US" sz="1200" dirty="0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6907EB7E-793D-FF73-A740-3E78F3AD87A4}"/>
              </a:ext>
            </a:extLst>
          </p:cNvPr>
          <p:cNvSpPr/>
          <p:nvPr/>
        </p:nvSpPr>
        <p:spPr>
          <a:xfrm>
            <a:off x="11508389" y="4040896"/>
            <a:ext cx="651166" cy="25533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/>
              <a:t>출하증</a:t>
            </a:r>
            <a:endParaRPr lang="ko-KR" altLang="en-US" sz="1200" dirty="0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610BAAA8-3D35-33EA-9904-401855EE0151}"/>
              </a:ext>
            </a:extLst>
          </p:cNvPr>
          <p:cNvSpPr/>
          <p:nvPr/>
        </p:nvSpPr>
        <p:spPr>
          <a:xfrm>
            <a:off x="11508389" y="4408306"/>
            <a:ext cx="651166" cy="25533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/>
              <a:t>출하증</a:t>
            </a:r>
            <a:endParaRPr lang="ko-KR" altLang="en-US" sz="1200" dirty="0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87AE1FD8-13CF-0AE7-8C4F-E3888BDE6284}"/>
              </a:ext>
            </a:extLst>
          </p:cNvPr>
          <p:cNvSpPr/>
          <p:nvPr/>
        </p:nvSpPr>
        <p:spPr>
          <a:xfrm>
            <a:off x="11508389" y="4767434"/>
            <a:ext cx="651166" cy="25533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/>
              <a:t>출하증</a:t>
            </a:r>
            <a:endParaRPr lang="ko-KR" altLang="en-US" sz="1200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9712B94-7B34-30C5-1EB4-97CB106D3198}"/>
              </a:ext>
            </a:extLst>
          </p:cNvPr>
          <p:cNvSpPr/>
          <p:nvPr/>
        </p:nvSpPr>
        <p:spPr>
          <a:xfrm>
            <a:off x="2450791" y="816847"/>
            <a:ext cx="1020858" cy="3975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   </a:t>
            </a:r>
            <a:r>
              <a:rPr lang="ko-KR" altLang="en-US" sz="2000" b="1" dirty="0">
                <a:solidFill>
                  <a:schemeClr val="tx1"/>
                </a:solidFill>
              </a:rPr>
              <a:t>검색</a:t>
            </a:r>
          </a:p>
        </p:txBody>
      </p:sp>
      <p:pic>
        <p:nvPicPr>
          <p:cNvPr id="6" name="그래픽 5" descr="돋보기">
            <a:extLst>
              <a:ext uri="{FF2B5EF4-FFF2-40B4-BE49-F238E27FC236}">
                <a16:creationId xmlns:a16="http://schemas.microsoft.com/office/drawing/2014/main" id="{D95629D3-CC94-B5AB-C1CC-F1FF5B4214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55723" y="1299458"/>
            <a:ext cx="427934" cy="427934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D78437C8-75D3-2704-D38D-A79F3513EB04}"/>
              </a:ext>
            </a:extLst>
          </p:cNvPr>
          <p:cNvSpPr/>
          <p:nvPr/>
        </p:nvSpPr>
        <p:spPr>
          <a:xfrm>
            <a:off x="3604168" y="1272442"/>
            <a:ext cx="5725643" cy="42793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거래처명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품목명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품목 번호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출고 번호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출고 일자 로 검색해 주세요</a:t>
            </a:r>
          </a:p>
        </p:txBody>
      </p:sp>
      <p:pic>
        <p:nvPicPr>
          <p:cNvPr id="13" name="그래픽 12" descr="돋보기">
            <a:extLst>
              <a:ext uri="{FF2B5EF4-FFF2-40B4-BE49-F238E27FC236}">
                <a16:creationId xmlns:a16="http://schemas.microsoft.com/office/drawing/2014/main" id="{6E9F702B-F765-506A-C6FE-F18AF69376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97167" y="883083"/>
            <a:ext cx="284258" cy="250929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148ACC8F-831D-E089-1943-C8F04B73A241}"/>
              </a:ext>
            </a:extLst>
          </p:cNvPr>
          <p:cNvSpPr/>
          <p:nvPr/>
        </p:nvSpPr>
        <p:spPr>
          <a:xfrm>
            <a:off x="2097167" y="1272442"/>
            <a:ext cx="1381089" cy="30502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전체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5" name="순서도: 병합 14">
            <a:extLst>
              <a:ext uri="{FF2B5EF4-FFF2-40B4-BE49-F238E27FC236}">
                <a16:creationId xmlns:a16="http://schemas.microsoft.com/office/drawing/2014/main" id="{E9689C4C-6F95-DC9F-E474-EC7A3B208406}"/>
              </a:ext>
            </a:extLst>
          </p:cNvPr>
          <p:cNvSpPr/>
          <p:nvPr/>
        </p:nvSpPr>
        <p:spPr>
          <a:xfrm>
            <a:off x="2223080" y="1360059"/>
            <a:ext cx="117382" cy="117382"/>
          </a:xfrm>
          <a:prstGeom prst="flowChartMerg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3F7AA26-308F-5F52-0086-F741920ED28E}"/>
              </a:ext>
            </a:extLst>
          </p:cNvPr>
          <p:cNvSpPr/>
          <p:nvPr/>
        </p:nvSpPr>
        <p:spPr>
          <a:xfrm>
            <a:off x="2097167" y="1565058"/>
            <a:ext cx="1381089" cy="1127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거래처명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품목명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품목번호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출고 번호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출고 일자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FE97F4D8-D550-FC3E-C491-896CB7E993B2}"/>
              </a:ext>
            </a:extLst>
          </p:cNvPr>
          <p:cNvSpPr/>
          <p:nvPr/>
        </p:nvSpPr>
        <p:spPr>
          <a:xfrm>
            <a:off x="1972447" y="1076968"/>
            <a:ext cx="229302" cy="22249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ysClr val="windowText" lastClr="000000"/>
                </a:solidFill>
              </a:rPr>
              <a:t>1</a:t>
            </a:r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9513233D-F7FE-A861-6308-B36F6D15D7D9}"/>
              </a:ext>
            </a:extLst>
          </p:cNvPr>
          <p:cNvSpPr/>
          <p:nvPr/>
        </p:nvSpPr>
        <p:spPr>
          <a:xfrm>
            <a:off x="9226421" y="1122747"/>
            <a:ext cx="229302" cy="22249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ysClr val="windowText" lastClr="000000"/>
                </a:solidFill>
              </a:rPr>
              <a:t>4</a:t>
            </a:r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B351F4E7-93F2-2AD9-161F-EBF1839DB0AC}"/>
              </a:ext>
            </a:extLst>
          </p:cNvPr>
          <p:cNvSpPr/>
          <p:nvPr/>
        </p:nvSpPr>
        <p:spPr>
          <a:xfrm>
            <a:off x="11442242" y="2386206"/>
            <a:ext cx="229302" cy="22249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ysClr val="windowText" lastClr="000000"/>
                </a:solidFill>
              </a:rPr>
              <a:t>7</a:t>
            </a:r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4ADF255C-0BA6-958E-1927-9F1F54F15C1A}"/>
              </a:ext>
            </a:extLst>
          </p:cNvPr>
          <p:cNvSpPr/>
          <p:nvPr/>
        </p:nvSpPr>
        <p:spPr>
          <a:xfrm>
            <a:off x="8716205" y="5121218"/>
            <a:ext cx="1338051" cy="49922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EXCEL</a:t>
            </a:r>
            <a:r>
              <a:rPr lang="ko-KR" altLang="en-US" sz="1200" dirty="0"/>
              <a:t>다운로드</a:t>
            </a:r>
          </a:p>
        </p:txBody>
      </p:sp>
      <p:pic>
        <p:nvPicPr>
          <p:cNvPr id="41" name="그림 40">
            <a:extLst>
              <a:ext uri="{FF2B5EF4-FFF2-40B4-BE49-F238E27FC236}">
                <a16:creationId xmlns:a16="http://schemas.microsoft.com/office/drawing/2014/main" id="{D113CE1A-C5D8-9488-853F-5563E9BDB5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4206" y="6282943"/>
            <a:ext cx="3657788" cy="539778"/>
          </a:xfrm>
          <a:prstGeom prst="rect">
            <a:avLst/>
          </a:prstGeom>
        </p:spPr>
      </p:pic>
      <p:sp>
        <p:nvSpPr>
          <p:cNvPr id="43" name="타원 42">
            <a:extLst>
              <a:ext uri="{FF2B5EF4-FFF2-40B4-BE49-F238E27FC236}">
                <a16:creationId xmlns:a16="http://schemas.microsoft.com/office/drawing/2014/main" id="{76AAD297-6255-D572-AFD6-A500FE3FB43C}"/>
              </a:ext>
            </a:extLst>
          </p:cNvPr>
          <p:cNvSpPr/>
          <p:nvPr/>
        </p:nvSpPr>
        <p:spPr>
          <a:xfrm>
            <a:off x="8553180" y="5259583"/>
            <a:ext cx="229302" cy="22249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ysClr val="windowText" lastClr="000000"/>
                </a:solidFill>
              </a:rPr>
              <a:t>8</a:t>
            </a:r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E087A08B-D3C3-84F2-DEFA-4D2F6B774D13}"/>
              </a:ext>
            </a:extLst>
          </p:cNvPr>
          <p:cNvSpPr/>
          <p:nvPr/>
        </p:nvSpPr>
        <p:spPr>
          <a:xfrm>
            <a:off x="4564206" y="6282943"/>
            <a:ext cx="229302" cy="22249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ysClr val="windowText" lastClr="000000"/>
                </a:solidFill>
              </a:rPr>
              <a:t>9</a:t>
            </a:r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23ADDAA0-CBAB-2BFD-B1E2-65825B78F57A}"/>
              </a:ext>
            </a:extLst>
          </p:cNvPr>
          <p:cNvSpPr/>
          <p:nvPr/>
        </p:nvSpPr>
        <p:spPr>
          <a:xfrm>
            <a:off x="10860942" y="2543229"/>
            <a:ext cx="583316" cy="303344"/>
          </a:xfrm>
          <a:prstGeom prst="rect">
            <a:avLst/>
          </a:prstGeom>
          <a:ln>
            <a:noFill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삭제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DEF314BA-8F85-83B1-76AD-01FEE0DDE59C}"/>
              </a:ext>
            </a:extLst>
          </p:cNvPr>
          <p:cNvSpPr/>
          <p:nvPr/>
        </p:nvSpPr>
        <p:spPr>
          <a:xfrm>
            <a:off x="10872490" y="4769915"/>
            <a:ext cx="583316" cy="303344"/>
          </a:xfrm>
          <a:prstGeom prst="rect">
            <a:avLst/>
          </a:prstGeom>
          <a:ln>
            <a:noFill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삭제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80A0AE8A-BED3-4EE8-2B76-32272C4076A3}"/>
              </a:ext>
            </a:extLst>
          </p:cNvPr>
          <p:cNvSpPr/>
          <p:nvPr/>
        </p:nvSpPr>
        <p:spPr>
          <a:xfrm>
            <a:off x="10874802" y="3693155"/>
            <a:ext cx="583316" cy="303344"/>
          </a:xfrm>
          <a:prstGeom prst="rect">
            <a:avLst/>
          </a:prstGeom>
          <a:ln>
            <a:noFill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삭제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68BD0D51-4FAB-2422-9F1B-3D2E8E0DD6A4}"/>
              </a:ext>
            </a:extLst>
          </p:cNvPr>
          <p:cNvSpPr/>
          <p:nvPr/>
        </p:nvSpPr>
        <p:spPr>
          <a:xfrm>
            <a:off x="10860942" y="2913234"/>
            <a:ext cx="583316" cy="303344"/>
          </a:xfrm>
          <a:prstGeom prst="rect">
            <a:avLst/>
          </a:prstGeom>
          <a:ln>
            <a:noFill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삭제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8877EBF7-8B9D-F124-D8A1-CC356E2424B0}"/>
              </a:ext>
            </a:extLst>
          </p:cNvPr>
          <p:cNvSpPr/>
          <p:nvPr/>
        </p:nvSpPr>
        <p:spPr>
          <a:xfrm>
            <a:off x="10872490" y="3308134"/>
            <a:ext cx="583316" cy="303344"/>
          </a:xfrm>
          <a:prstGeom prst="rect">
            <a:avLst/>
          </a:prstGeom>
          <a:ln>
            <a:noFill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tx1"/>
                </a:solidFill>
              </a:rPr>
              <a:t>삭제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0E0B8087-BB46-3B14-F970-00F02CFB4DE4}"/>
              </a:ext>
            </a:extLst>
          </p:cNvPr>
          <p:cNvSpPr/>
          <p:nvPr/>
        </p:nvSpPr>
        <p:spPr>
          <a:xfrm>
            <a:off x="10872490" y="4035095"/>
            <a:ext cx="583316" cy="303344"/>
          </a:xfrm>
          <a:prstGeom prst="rect">
            <a:avLst/>
          </a:prstGeom>
          <a:ln>
            <a:noFill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삭제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A6294E87-E069-14E0-E8A1-61854105C40F}"/>
              </a:ext>
            </a:extLst>
          </p:cNvPr>
          <p:cNvSpPr/>
          <p:nvPr/>
        </p:nvSpPr>
        <p:spPr>
          <a:xfrm>
            <a:off x="10872490" y="4402505"/>
            <a:ext cx="583316" cy="303344"/>
          </a:xfrm>
          <a:prstGeom prst="rect">
            <a:avLst/>
          </a:prstGeom>
          <a:ln>
            <a:noFill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tx1"/>
                </a:solidFill>
              </a:rPr>
              <a:t>삭제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74EE84F5-0C5C-E11F-2B28-4D1D704EEEC7}"/>
              </a:ext>
            </a:extLst>
          </p:cNvPr>
          <p:cNvSpPr/>
          <p:nvPr/>
        </p:nvSpPr>
        <p:spPr>
          <a:xfrm>
            <a:off x="10807293" y="2386206"/>
            <a:ext cx="229302" cy="22249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ysClr val="windowText" lastClr="000000"/>
                </a:solidFill>
              </a:rPr>
              <a:t>6</a:t>
            </a:r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1035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D01220F7-3B88-28F6-C465-E687AEFF8B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4206" y="6282943"/>
            <a:ext cx="3657788" cy="539778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2A784B81-8FB7-31E8-9067-620191A0F178}"/>
              </a:ext>
            </a:extLst>
          </p:cNvPr>
          <p:cNvSpPr/>
          <p:nvPr/>
        </p:nvSpPr>
        <p:spPr>
          <a:xfrm>
            <a:off x="2355552" y="50716"/>
            <a:ext cx="8153508" cy="4674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dirty="0">
                <a:ln w="0">
                  <a:solidFill>
                    <a:schemeClr val="bg1"/>
                  </a:solidFill>
                </a:ln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원자재 품목 입고 등록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25280F5D-D1DD-CFB5-1551-5DB4CBB55D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5042505"/>
              </p:ext>
            </p:extLst>
          </p:nvPr>
        </p:nvGraphicFramePr>
        <p:xfrm>
          <a:off x="2188984" y="3717809"/>
          <a:ext cx="9005240" cy="19100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25655">
                  <a:extLst>
                    <a:ext uri="{9D8B030D-6E8A-4147-A177-3AD203B41FA5}">
                      <a16:colId xmlns:a16="http://schemas.microsoft.com/office/drawing/2014/main" val="777581757"/>
                    </a:ext>
                  </a:extLst>
                </a:gridCol>
                <a:gridCol w="1125655">
                  <a:extLst>
                    <a:ext uri="{9D8B030D-6E8A-4147-A177-3AD203B41FA5}">
                      <a16:colId xmlns:a16="http://schemas.microsoft.com/office/drawing/2014/main" val="3198678330"/>
                    </a:ext>
                  </a:extLst>
                </a:gridCol>
                <a:gridCol w="1125655">
                  <a:extLst>
                    <a:ext uri="{9D8B030D-6E8A-4147-A177-3AD203B41FA5}">
                      <a16:colId xmlns:a16="http://schemas.microsoft.com/office/drawing/2014/main" val="1097396861"/>
                    </a:ext>
                  </a:extLst>
                </a:gridCol>
                <a:gridCol w="1125655">
                  <a:extLst>
                    <a:ext uri="{9D8B030D-6E8A-4147-A177-3AD203B41FA5}">
                      <a16:colId xmlns:a16="http://schemas.microsoft.com/office/drawing/2014/main" val="1172099191"/>
                    </a:ext>
                  </a:extLst>
                </a:gridCol>
                <a:gridCol w="1125655">
                  <a:extLst>
                    <a:ext uri="{9D8B030D-6E8A-4147-A177-3AD203B41FA5}">
                      <a16:colId xmlns:a16="http://schemas.microsoft.com/office/drawing/2014/main" val="2602383293"/>
                    </a:ext>
                  </a:extLst>
                </a:gridCol>
                <a:gridCol w="1125655">
                  <a:extLst>
                    <a:ext uri="{9D8B030D-6E8A-4147-A177-3AD203B41FA5}">
                      <a16:colId xmlns:a16="http://schemas.microsoft.com/office/drawing/2014/main" val="1963939094"/>
                    </a:ext>
                  </a:extLst>
                </a:gridCol>
                <a:gridCol w="1125655">
                  <a:extLst>
                    <a:ext uri="{9D8B030D-6E8A-4147-A177-3AD203B41FA5}">
                      <a16:colId xmlns:a16="http://schemas.microsoft.com/office/drawing/2014/main" val="566446463"/>
                    </a:ext>
                  </a:extLst>
                </a:gridCol>
                <a:gridCol w="1125655">
                  <a:extLst>
                    <a:ext uri="{9D8B030D-6E8A-4147-A177-3AD203B41FA5}">
                      <a16:colId xmlns:a16="http://schemas.microsoft.com/office/drawing/2014/main" val="42561560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err="1"/>
                        <a:t>매입처명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품목 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품목명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원자재 규격</a:t>
                      </a:r>
                      <a:r>
                        <a:rPr lang="en-US" altLang="ko-KR" sz="1100" dirty="0"/>
                        <a:t>(</a:t>
                      </a:r>
                      <a:r>
                        <a:rPr lang="ko-KR" altLang="en-US" sz="1100" dirty="0"/>
                        <a:t>양</a:t>
                      </a:r>
                      <a:r>
                        <a:rPr lang="en-US" altLang="ko-KR" sz="1100" dirty="0"/>
                        <a:t>/</a:t>
                      </a:r>
                      <a:r>
                        <a:rPr lang="ko-KR" altLang="en-US" sz="1100" dirty="0"/>
                        <a:t>단위</a:t>
                      </a:r>
                      <a:r>
                        <a:rPr lang="en-US" altLang="ko-KR" sz="1100" dirty="0"/>
                        <a:t>)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제조사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입고 수량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입고 일자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제조 일자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34768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err="1"/>
                        <a:t>Abc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Abc-001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err="1"/>
                        <a:t>마스킹</a:t>
                      </a:r>
                      <a:r>
                        <a:rPr lang="ko-KR" altLang="en-US" sz="1100" dirty="0"/>
                        <a:t> 테이프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88kg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err="1"/>
                        <a:t>Abc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62609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36981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1383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5693761"/>
                  </a:ext>
                </a:extLst>
              </a:tr>
            </a:tbl>
          </a:graphicData>
        </a:graphic>
      </p:graphicFrame>
      <p:sp>
        <p:nvSpPr>
          <p:cNvPr id="10" name="직사각형 9">
            <a:extLst>
              <a:ext uri="{FF2B5EF4-FFF2-40B4-BE49-F238E27FC236}">
                <a16:creationId xmlns:a16="http://schemas.microsoft.com/office/drawing/2014/main" id="{0C2B2F2F-0A82-ED51-9F5E-FC382CBB4BF2}"/>
              </a:ext>
            </a:extLst>
          </p:cNvPr>
          <p:cNvSpPr/>
          <p:nvPr/>
        </p:nvSpPr>
        <p:spPr>
          <a:xfrm>
            <a:off x="11265990" y="4157309"/>
            <a:ext cx="880844" cy="332509"/>
          </a:xfrm>
          <a:prstGeom prst="rect">
            <a:avLst/>
          </a:prstGeom>
          <a:ln>
            <a:noFill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등록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184BF47-DC49-4C07-2885-8A35D6A63928}"/>
              </a:ext>
            </a:extLst>
          </p:cNvPr>
          <p:cNvSpPr/>
          <p:nvPr/>
        </p:nvSpPr>
        <p:spPr>
          <a:xfrm>
            <a:off x="0" y="0"/>
            <a:ext cx="18796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2000" dirty="0">
                <a:solidFill>
                  <a:srgbClr val="00B0F0"/>
                </a:solidFill>
              </a:rPr>
              <a:t>대원공업㈜</a:t>
            </a:r>
            <a:endParaRPr lang="en-US" altLang="ko-KR" sz="2000" dirty="0">
              <a:solidFill>
                <a:srgbClr val="00B0F0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r>
              <a:rPr lang="ko-KR" altLang="en-US" dirty="0">
                <a:solidFill>
                  <a:schemeClr val="tx1"/>
                </a:solidFill>
              </a:rPr>
              <a:t>수주품목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-</a:t>
            </a:r>
            <a:r>
              <a:rPr lang="ko-KR" altLang="en-US" sz="1200" dirty="0">
                <a:solidFill>
                  <a:schemeClr val="tx1"/>
                </a:solidFill>
              </a:rPr>
              <a:t>입고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   </a:t>
            </a:r>
            <a:r>
              <a:rPr lang="ko-KR" altLang="en-US" sz="1200" dirty="0">
                <a:solidFill>
                  <a:schemeClr val="tx1"/>
                </a:solidFill>
              </a:rPr>
              <a:t>등록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   </a:t>
            </a:r>
            <a:r>
              <a:rPr lang="ko-KR" altLang="en-US" sz="1200" dirty="0">
                <a:solidFill>
                  <a:schemeClr val="tx1"/>
                </a:solidFill>
              </a:rPr>
              <a:t>이력조회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-</a:t>
            </a:r>
            <a:r>
              <a:rPr lang="ko-KR" altLang="en-US" sz="1200" dirty="0">
                <a:solidFill>
                  <a:schemeClr val="tx1"/>
                </a:solidFill>
              </a:rPr>
              <a:t>출고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sz="1200" dirty="0">
                <a:solidFill>
                  <a:schemeClr val="tx1"/>
                </a:solidFill>
              </a:rPr>
              <a:t>   등록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sz="1200" dirty="0">
                <a:solidFill>
                  <a:schemeClr val="tx1"/>
                </a:solidFill>
              </a:rPr>
              <a:t>   이력조회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-</a:t>
            </a:r>
            <a:r>
              <a:rPr lang="ko-KR" altLang="en-US" sz="1200" dirty="0">
                <a:solidFill>
                  <a:schemeClr val="tx1"/>
                </a:solidFill>
              </a:rPr>
              <a:t>품목관리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sz="1200" dirty="0">
                <a:solidFill>
                  <a:schemeClr val="tx1"/>
                </a:solidFill>
              </a:rPr>
              <a:t>   등록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   </a:t>
            </a:r>
            <a:r>
              <a:rPr lang="ko-KR" altLang="en-US" sz="1200" dirty="0">
                <a:solidFill>
                  <a:schemeClr val="tx1"/>
                </a:solidFill>
              </a:rPr>
              <a:t>조회</a:t>
            </a:r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dirty="0">
                <a:solidFill>
                  <a:schemeClr val="tx1"/>
                </a:solidFill>
              </a:rPr>
              <a:t>원자재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-</a:t>
            </a:r>
            <a:r>
              <a:rPr lang="ko-KR" altLang="en-US" sz="1200" dirty="0">
                <a:solidFill>
                  <a:schemeClr val="tx1"/>
                </a:solidFill>
              </a:rPr>
              <a:t>입고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   </a:t>
            </a:r>
            <a:r>
              <a:rPr lang="ko-KR" altLang="en-US" sz="1200" dirty="0">
                <a:solidFill>
                  <a:schemeClr val="tx1"/>
                </a:solidFill>
              </a:rPr>
              <a:t>등록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   </a:t>
            </a:r>
            <a:r>
              <a:rPr lang="ko-KR" altLang="en-US" sz="1200" dirty="0">
                <a:solidFill>
                  <a:schemeClr val="tx1"/>
                </a:solidFill>
              </a:rPr>
              <a:t>이력조회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-</a:t>
            </a:r>
            <a:r>
              <a:rPr lang="ko-KR" altLang="en-US" sz="1200" dirty="0">
                <a:solidFill>
                  <a:schemeClr val="tx1"/>
                </a:solidFill>
              </a:rPr>
              <a:t>출고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   </a:t>
            </a:r>
            <a:r>
              <a:rPr lang="ko-KR" altLang="en-US" sz="1200" dirty="0">
                <a:solidFill>
                  <a:schemeClr val="tx1"/>
                </a:solidFill>
              </a:rPr>
              <a:t>등록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   </a:t>
            </a:r>
            <a:r>
              <a:rPr lang="ko-KR" altLang="en-US" sz="1200" dirty="0">
                <a:solidFill>
                  <a:schemeClr val="tx1"/>
                </a:solidFill>
              </a:rPr>
              <a:t>이력조회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-</a:t>
            </a:r>
            <a:r>
              <a:rPr lang="ko-KR" altLang="en-US" sz="1200" dirty="0">
                <a:solidFill>
                  <a:schemeClr val="tx1"/>
                </a:solidFill>
              </a:rPr>
              <a:t>재고현황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-</a:t>
            </a:r>
            <a:r>
              <a:rPr lang="ko-KR" altLang="en-US" sz="1200" dirty="0">
                <a:solidFill>
                  <a:schemeClr val="tx1"/>
                </a:solidFill>
              </a:rPr>
              <a:t>품목관리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sz="1200" dirty="0">
                <a:solidFill>
                  <a:schemeClr val="tx1"/>
                </a:solidFill>
              </a:rPr>
              <a:t>   등록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   </a:t>
            </a:r>
            <a:r>
              <a:rPr lang="ko-KR" altLang="en-US" sz="1200" dirty="0">
                <a:solidFill>
                  <a:schemeClr val="tx1"/>
                </a:solidFill>
              </a:rPr>
              <a:t>조회</a:t>
            </a:r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dirty="0">
                <a:solidFill>
                  <a:schemeClr val="tx1"/>
                </a:solidFill>
              </a:rPr>
              <a:t>정보관리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sz="1200" dirty="0">
                <a:solidFill>
                  <a:schemeClr val="tx1"/>
                </a:solidFill>
              </a:rPr>
              <a:t>  라우팅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sz="1200" dirty="0">
                <a:solidFill>
                  <a:schemeClr val="tx1"/>
                </a:solidFill>
              </a:rPr>
              <a:t>  거래처</a:t>
            </a: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542AE3F7-6008-AA2F-C038-9334818AC5F0}"/>
              </a:ext>
            </a:extLst>
          </p:cNvPr>
          <p:cNvSpPr/>
          <p:nvPr/>
        </p:nvSpPr>
        <p:spPr>
          <a:xfrm>
            <a:off x="7907997" y="4016144"/>
            <a:ext cx="229302" cy="22249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ysClr val="windowText" lastClr="000000"/>
                </a:solidFill>
              </a:rPr>
              <a:t>3</a:t>
            </a:r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02C65C7E-18D6-BE54-4A13-0E320E1FAFBE}"/>
              </a:ext>
            </a:extLst>
          </p:cNvPr>
          <p:cNvSpPr/>
          <p:nvPr/>
        </p:nvSpPr>
        <p:spPr>
          <a:xfrm>
            <a:off x="9161675" y="3967623"/>
            <a:ext cx="229302" cy="22249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ysClr val="windowText" lastClr="000000"/>
                </a:solidFill>
              </a:rPr>
              <a:t>4</a:t>
            </a:r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BF38E22A-0A6C-941B-3323-C6B6FA34D7D7}"/>
              </a:ext>
            </a:extLst>
          </p:cNvPr>
          <p:cNvSpPr/>
          <p:nvPr/>
        </p:nvSpPr>
        <p:spPr>
          <a:xfrm>
            <a:off x="10300702" y="4002069"/>
            <a:ext cx="229302" cy="22249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ysClr val="windowText" lastClr="000000"/>
                </a:solidFill>
              </a:rPr>
              <a:t>5</a:t>
            </a:r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45FFE1D3-00B0-81C4-056C-E00424E3E41C}"/>
              </a:ext>
            </a:extLst>
          </p:cNvPr>
          <p:cNvSpPr/>
          <p:nvPr/>
        </p:nvSpPr>
        <p:spPr>
          <a:xfrm>
            <a:off x="4449555" y="6419112"/>
            <a:ext cx="229302" cy="22249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ysClr val="windowText" lastClr="000000"/>
                </a:solidFill>
              </a:rPr>
              <a:t>8</a:t>
            </a:r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25" name="Rectangle 2">
            <a:extLst>
              <a:ext uri="{FF2B5EF4-FFF2-40B4-BE49-F238E27FC236}">
                <a16:creationId xmlns:a16="http://schemas.microsoft.com/office/drawing/2014/main" id="{0DB31444-BF6C-58BB-45C3-94439DA833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1B631BD-6969-9FE5-74A8-8AB0B8C16BC4}"/>
              </a:ext>
            </a:extLst>
          </p:cNvPr>
          <p:cNvSpPr/>
          <p:nvPr/>
        </p:nvSpPr>
        <p:spPr>
          <a:xfrm>
            <a:off x="9787877" y="5688856"/>
            <a:ext cx="1338051" cy="49922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EXCEL</a:t>
            </a:r>
            <a:r>
              <a:rPr lang="ko-KR" altLang="en-US" sz="1200" dirty="0"/>
              <a:t>다운로드</a:t>
            </a:r>
          </a:p>
        </p:txBody>
      </p:sp>
      <p:pic>
        <p:nvPicPr>
          <p:cNvPr id="27" name="그래픽 26" descr="돋보기">
            <a:extLst>
              <a:ext uri="{FF2B5EF4-FFF2-40B4-BE49-F238E27FC236}">
                <a16:creationId xmlns:a16="http://schemas.microsoft.com/office/drawing/2014/main" id="{A421EFBC-1231-1C21-49BC-90DED10223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93944" y="3264350"/>
            <a:ext cx="427934" cy="427934"/>
          </a:xfrm>
          <a:prstGeom prst="rect">
            <a:avLst/>
          </a:prstGeom>
        </p:spPr>
      </p:pic>
      <p:sp>
        <p:nvSpPr>
          <p:cNvPr id="28" name="직사각형 27">
            <a:extLst>
              <a:ext uri="{FF2B5EF4-FFF2-40B4-BE49-F238E27FC236}">
                <a16:creationId xmlns:a16="http://schemas.microsoft.com/office/drawing/2014/main" id="{2949AF79-6993-2BA8-0B1B-C6E359691625}"/>
              </a:ext>
            </a:extLst>
          </p:cNvPr>
          <p:cNvSpPr/>
          <p:nvPr/>
        </p:nvSpPr>
        <p:spPr>
          <a:xfrm>
            <a:off x="3642389" y="3237334"/>
            <a:ext cx="5725643" cy="42793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dirty="0" err="1">
                <a:solidFill>
                  <a:schemeClr val="bg1">
                    <a:lumMod val="50000"/>
                  </a:schemeClr>
                </a:solidFill>
              </a:rPr>
              <a:t>매입처명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품목명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품목 번호 로 검색해 주세요</a:t>
            </a:r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610BC6B8-A9EC-45FA-DCF6-4AAF78EC283A}"/>
              </a:ext>
            </a:extLst>
          </p:cNvPr>
          <p:cNvSpPr/>
          <p:nvPr/>
        </p:nvSpPr>
        <p:spPr>
          <a:xfrm>
            <a:off x="9673226" y="5844171"/>
            <a:ext cx="229302" cy="22249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ysClr val="windowText" lastClr="000000"/>
                </a:solidFill>
              </a:rPr>
              <a:t>7</a:t>
            </a:r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B6E9D40D-65C9-422A-D559-D8664C8CEBC2}"/>
              </a:ext>
            </a:extLst>
          </p:cNvPr>
          <p:cNvSpPr/>
          <p:nvPr/>
        </p:nvSpPr>
        <p:spPr>
          <a:xfrm>
            <a:off x="2530592" y="2782720"/>
            <a:ext cx="1020858" cy="3975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   </a:t>
            </a:r>
            <a:r>
              <a:rPr lang="ko-KR" altLang="en-US" sz="2000" b="1" dirty="0">
                <a:solidFill>
                  <a:schemeClr val="tx1"/>
                </a:solidFill>
              </a:rPr>
              <a:t>검색</a:t>
            </a:r>
          </a:p>
        </p:txBody>
      </p:sp>
      <p:pic>
        <p:nvPicPr>
          <p:cNvPr id="35" name="그래픽 34" descr="돋보기">
            <a:extLst>
              <a:ext uri="{FF2B5EF4-FFF2-40B4-BE49-F238E27FC236}">
                <a16:creationId xmlns:a16="http://schemas.microsoft.com/office/drawing/2014/main" id="{95D6DA54-CB4F-F440-CF79-1CE6ECC402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76968" y="2848956"/>
            <a:ext cx="284258" cy="250929"/>
          </a:xfrm>
          <a:prstGeom prst="rect">
            <a:avLst/>
          </a:prstGeom>
        </p:spPr>
      </p:pic>
      <p:sp>
        <p:nvSpPr>
          <p:cNvPr id="36" name="직사각형 35">
            <a:extLst>
              <a:ext uri="{FF2B5EF4-FFF2-40B4-BE49-F238E27FC236}">
                <a16:creationId xmlns:a16="http://schemas.microsoft.com/office/drawing/2014/main" id="{63662456-F53B-A003-43E7-96201210C732}"/>
              </a:ext>
            </a:extLst>
          </p:cNvPr>
          <p:cNvSpPr/>
          <p:nvPr/>
        </p:nvSpPr>
        <p:spPr>
          <a:xfrm>
            <a:off x="2176968" y="3238315"/>
            <a:ext cx="1381089" cy="30502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전체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7" name="순서도: 병합 36">
            <a:extLst>
              <a:ext uri="{FF2B5EF4-FFF2-40B4-BE49-F238E27FC236}">
                <a16:creationId xmlns:a16="http://schemas.microsoft.com/office/drawing/2014/main" id="{BDA94C06-2DD5-316A-457D-7EA72679DEBA}"/>
              </a:ext>
            </a:extLst>
          </p:cNvPr>
          <p:cNvSpPr/>
          <p:nvPr/>
        </p:nvSpPr>
        <p:spPr>
          <a:xfrm>
            <a:off x="2302881" y="3325932"/>
            <a:ext cx="117382" cy="117382"/>
          </a:xfrm>
          <a:prstGeom prst="flowChartMerg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719881AB-B22D-ED41-A40A-3CA2F347CBCE}"/>
              </a:ext>
            </a:extLst>
          </p:cNvPr>
          <p:cNvSpPr/>
          <p:nvPr/>
        </p:nvSpPr>
        <p:spPr>
          <a:xfrm>
            <a:off x="2176968" y="3530931"/>
            <a:ext cx="1381089" cy="71877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</a:t>
            </a:r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매입처명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품목명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품목번호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</a:t>
            </a:r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93A604B5-935C-3F2A-D59D-754C5574AD0C}"/>
              </a:ext>
            </a:extLst>
          </p:cNvPr>
          <p:cNvSpPr/>
          <p:nvPr/>
        </p:nvSpPr>
        <p:spPr>
          <a:xfrm>
            <a:off x="11274306" y="3987047"/>
            <a:ext cx="229302" cy="22249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ysClr val="windowText" lastClr="000000"/>
                </a:solidFill>
              </a:rPr>
              <a:t>6</a:t>
            </a:r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380CA649-D492-0748-A245-BB0DCCC71F2B}"/>
              </a:ext>
            </a:extLst>
          </p:cNvPr>
          <p:cNvSpPr/>
          <p:nvPr/>
        </p:nvSpPr>
        <p:spPr>
          <a:xfrm>
            <a:off x="2056479" y="3114125"/>
            <a:ext cx="229302" cy="22249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ysClr val="windowText" lastClr="000000"/>
                </a:solidFill>
              </a:rPr>
              <a:t>1</a:t>
            </a:r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C63210BA-3E06-F27F-840C-0AE4E837C989}"/>
              </a:ext>
            </a:extLst>
          </p:cNvPr>
          <p:cNvSpPr/>
          <p:nvPr/>
        </p:nvSpPr>
        <p:spPr>
          <a:xfrm>
            <a:off x="9223062" y="3081719"/>
            <a:ext cx="229302" cy="22249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ysClr val="windowText" lastClr="000000"/>
                </a:solidFill>
              </a:rPr>
              <a:t>2</a:t>
            </a:r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F37F159B-CE42-E2C2-1710-235AEABACB26}"/>
              </a:ext>
            </a:extLst>
          </p:cNvPr>
          <p:cNvSpPr/>
          <p:nvPr/>
        </p:nvSpPr>
        <p:spPr>
          <a:xfrm>
            <a:off x="11265990" y="4541168"/>
            <a:ext cx="880844" cy="332509"/>
          </a:xfrm>
          <a:prstGeom prst="rect">
            <a:avLst/>
          </a:prstGeom>
          <a:ln>
            <a:noFill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등록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6586F578-A4A3-25F2-8F41-1CDBF4DEE60E}"/>
              </a:ext>
            </a:extLst>
          </p:cNvPr>
          <p:cNvSpPr/>
          <p:nvPr/>
        </p:nvSpPr>
        <p:spPr>
          <a:xfrm>
            <a:off x="11274306" y="4925027"/>
            <a:ext cx="880844" cy="332509"/>
          </a:xfrm>
          <a:prstGeom prst="rect">
            <a:avLst/>
          </a:prstGeom>
          <a:ln>
            <a:noFill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등록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05E537D4-877E-BB42-709F-FF2149A90FDE}"/>
              </a:ext>
            </a:extLst>
          </p:cNvPr>
          <p:cNvSpPr/>
          <p:nvPr/>
        </p:nvSpPr>
        <p:spPr>
          <a:xfrm>
            <a:off x="11274306" y="5308886"/>
            <a:ext cx="880844" cy="332509"/>
          </a:xfrm>
          <a:prstGeom prst="rect">
            <a:avLst/>
          </a:prstGeom>
          <a:ln>
            <a:noFill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등록</a:t>
            </a:r>
          </a:p>
        </p:txBody>
      </p:sp>
    </p:spTree>
    <p:extLst>
      <p:ext uri="{BB962C8B-B14F-4D97-AF65-F5344CB8AC3E}">
        <p14:creationId xmlns:p14="http://schemas.microsoft.com/office/powerpoint/2010/main" val="13743121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DAF7845B-9A03-5832-7AA4-4BE68B80EAA5}"/>
              </a:ext>
            </a:extLst>
          </p:cNvPr>
          <p:cNvSpPr/>
          <p:nvPr/>
        </p:nvSpPr>
        <p:spPr>
          <a:xfrm>
            <a:off x="2349557" y="46615"/>
            <a:ext cx="8365777" cy="4674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dirty="0">
                <a:ln w="0">
                  <a:solidFill>
                    <a:schemeClr val="bg1"/>
                  </a:solidFill>
                </a:ln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원자재 품목 입고 이력조회</a:t>
            </a: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E45196FD-45EC-00F8-B1CA-36DCA6229A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7919338"/>
              </p:ext>
            </p:extLst>
          </p:nvPr>
        </p:nvGraphicFramePr>
        <p:xfrm>
          <a:off x="2133214" y="2020050"/>
          <a:ext cx="9015910" cy="248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01591">
                  <a:extLst>
                    <a:ext uri="{9D8B030D-6E8A-4147-A177-3AD203B41FA5}">
                      <a16:colId xmlns:a16="http://schemas.microsoft.com/office/drawing/2014/main" val="4193984311"/>
                    </a:ext>
                  </a:extLst>
                </a:gridCol>
                <a:gridCol w="901591">
                  <a:extLst>
                    <a:ext uri="{9D8B030D-6E8A-4147-A177-3AD203B41FA5}">
                      <a16:colId xmlns:a16="http://schemas.microsoft.com/office/drawing/2014/main" val="497554081"/>
                    </a:ext>
                  </a:extLst>
                </a:gridCol>
                <a:gridCol w="901591">
                  <a:extLst>
                    <a:ext uri="{9D8B030D-6E8A-4147-A177-3AD203B41FA5}">
                      <a16:colId xmlns:a16="http://schemas.microsoft.com/office/drawing/2014/main" val="1846873445"/>
                    </a:ext>
                  </a:extLst>
                </a:gridCol>
                <a:gridCol w="901591">
                  <a:extLst>
                    <a:ext uri="{9D8B030D-6E8A-4147-A177-3AD203B41FA5}">
                      <a16:colId xmlns:a16="http://schemas.microsoft.com/office/drawing/2014/main" val="2099281295"/>
                    </a:ext>
                  </a:extLst>
                </a:gridCol>
                <a:gridCol w="901591">
                  <a:extLst>
                    <a:ext uri="{9D8B030D-6E8A-4147-A177-3AD203B41FA5}">
                      <a16:colId xmlns:a16="http://schemas.microsoft.com/office/drawing/2014/main" val="3299578304"/>
                    </a:ext>
                  </a:extLst>
                </a:gridCol>
                <a:gridCol w="901591">
                  <a:extLst>
                    <a:ext uri="{9D8B030D-6E8A-4147-A177-3AD203B41FA5}">
                      <a16:colId xmlns:a16="http://schemas.microsoft.com/office/drawing/2014/main" val="1486390696"/>
                    </a:ext>
                  </a:extLst>
                </a:gridCol>
                <a:gridCol w="901591">
                  <a:extLst>
                    <a:ext uri="{9D8B030D-6E8A-4147-A177-3AD203B41FA5}">
                      <a16:colId xmlns:a16="http://schemas.microsoft.com/office/drawing/2014/main" val="1655525576"/>
                    </a:ext>
                  </a:extLst>
                </a:gridCol>
                <a:gridCol w="901591">
                  <a:extLst>
                    <a:ext uri="{9D8B030D-6E8A-4147-A177-3AD203B41FA5}">
                      <a16:colId xmlns:a16="http://schemas.microsoft.com/office/drawing/2014/main" val="2387374311"/>
                    </a:ext>
                  </a:extLst>
                </a:gridCol>
                <a:gridCol w="901591">
                  <a:extLst>
                    <a:ext uri="{9D8B030D-6E8A-4147-A177-3AD203B41FA5}">
                      <a16:colId xmlns:a16="http://schemas.microsoft.com/office/drawing/2014/main" val="1977139480"/>
                    </a:ext>
                  </a:extLst>
                </a:gridCol>
                <a:gridCol w="901591">
                  <a:extLst>
                    <a:ext uri="{9D8B030D-6E8A-4147-A177-3AD203B41FA5}">
                      <a16:colId xmlns:a16="http://schemas.microsoft.com/office/drawing/2014/main" val="14935591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입고 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품목 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품목명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/>
                        <a:t>매입처명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원자재 입고 규격</a:t>
                      </a:r>
                      <a:r>
                        <a:rPr lang="en-US" altLang="ko-KR" sz="900" dirty="0"/>
                        <a:t>(</a:t>
                      </a:r>
                      <a:r>
                        <a:rPr lang="ko-KR" altLang="en-US" sz="900" dirty="0"/>
                        <a:t>양</a:t>
                      </a:r>
                      <a:r>
                        <a:rPr lang="en-US" altLang="ko-KR" sz="900" dirty="0"/>
                        <a:t>/</a:t>
                      </a:r>
                      <a:r>
                        <a:rPr lang="ko-KR" altLang="en-US" sz="900" dirty="0"/>
                        <a:t>단위</a:t>
                      </a:r>
                      <a:r>
                        <a:rPr lang="en-US" altLang="ko-KR" sz="900" dirty="0"/>
                        <a:t>)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입고 수량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총량 </a:t>
                      </a:r>
                      <a:r>
                        <a:rPr lang="en-US" altLang="ko-KR" sz="900" dirty="0"/>
                        <a:t>(</a:t>
                      </a:r>
                      <a:r>
                        <a:rPr lang="ko-KR" altLang="en-US" sz="900" dirty="0"/>
                        <a:t>입고 규격</a:t>
                      </a:r>
                      <a:r>
                        <a:rPr lang="en-US" altLang="ko-KR" sz="900" dirty="0"/>
                        <a:t>X</a:t>
                      </a:r>
                      <a:r>
                        <a:rPr lang="ko-KR" altLang="en-US" sz="900" dirty="0"/>
                        <a:t>입고 수량</a:t>
                      </a:r>
                      <a:r>
                        <a:rPr lang="en-US" altLang="ko-KR" sz="900" dirty="0"/>
                        <a:t>)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입고 일자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제조 일자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제조사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4811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MINC-20251013-001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Abc-001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/>
                        <a:t>마스킹</a:t>
                      </a:r>
                      <a:r>
                        <a:rPr lang="ko-KR" altLang="en-US" sz="900" dirty="0"/>
                        <a:t> 테이프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 err="1"/>
                        <a:t>Abc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88kg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err="1"/>
                        <a:t>Abc</a:t>
                      </a:r>
                      <a:endParaRPr lang="ko-KR" alt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3147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MINC-20251013-002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123-001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포장지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123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200kg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err="1"/>
                        <a:t>bbb</a:t>
                      </a:r>
                      <a:endParaRPr lang="ko-KR" alt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85506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45330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98325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2201163"/>
                  </a:ext>
                </a:extLst>
              </a:tr>
            </a:tbl>
          </a:graphicData>
        </a:graphic>
      </p:graphicFrame>
      <p:sp>
        <p:nvSpPr>
          <p:cNvPr id="10" name="직사각형 9">
            <a:extLst>
              <a:ext uri="{FF2B5EF4-FFF2-40B4-BE49-F238E27FC236}">
                <a16:creationId xmlns:a16="http://schemas.microsoft.com/office/drawing/2014/main" id="{B47295E7-DAAF-974B-4FCD-8B5408764448}"/>
              </a:ext>
            </a:extLst>
          </p:cNvPr>
          <p:cNvSpPr/>
          <p:nvPr/>
        </p:nvSpPr>
        <p:spPr>
          <a:xfrm>
            <a:off x="11209566" y="2519865"/>
            <a:ext cx="445878" cy="303344"/>
          </a:xfrm>
          <a:prstGeom prst="rect">
            <a:avLst/>
          </a:prstGeom>
          <a:ln>
            <a:noFill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수정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9CEDE77-73CD-05CE-4F04-E13B6334B8D6}"/>
              </a:ext>
            </a:extLst>
          </p:cNvPr>
          <p:cNvSpPr/>
          <p:nvPr/>
        </p:nvSpPr>
        <p:spPr>
          <a:xfrm>
            <a:off x="11224684" y="3784477"/>
            <a:ext cx="445878" cy="303344"/>
          </a:xfrm>
          <a:prstGeom prst="rect">
            <a:avLst/>
          </a:prstGeom>
          <a:ln>
            <a:noFill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수정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E98899D-6C37-0D01-2DDF-E4B302CA1B4C}"/>
              </a:ext>
            </a:extLst>
          </p:cNvPr>
          <p:cNvSpPr/>
          <p:nvPr/>
        </p:nvSpPr>
        <p:spPr>
          <a:xfrm>
            <a:off x="11224684" y="4153473"/>
            <a:ext cx="445878" cy="303344"/>
          </a:xfrm>
          <a:prstGeom prst="rect">
            <a:avLst/>
          </a:prstGeom>
          <a:ln>
            <a:noFill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수정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DB6F31A-8A1D-6269-E42F-999D419D8C5D}"/>
              </a:ext>
            </a:extLst>
          </p:cNvPr>
          <p:cNvSpPr/>
          <p:nvPr/>
        </p:nvSpPr>
        <p:spPr>
          <a:xfrm>
            <a:off x="11224684" y="3046485"/>
            <a:ext cx="445878" cy="303344"/>
          </a:xfrm>
          <a:prstGeom prst="rect">
            <a:avLst/>
          </a:prstGeom>
          <a:ln>
            <a:noFill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수정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293DD0E-779C-C74E-E742-6E8CDDC14A5C}"/>
              </a:ext>
            </a:extLst>
          </p:cNvPr>
          <p:cNvSpPr/>
          <p:nvPr/>
        </p:nvSpPr>
        <p:spPr>
          <a:xfrm>
            <a:off x="11224684" y="3415481"/>
            <a:ext cx="445878" cy="303344"/>
          </a:xfrm>
          <a:prstGeom prst="rect">
            <a:avLst/>
          </a:prstGeom>
          <a:ln>
            <a:noFill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수정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91B953A-9E58-A92A-2ACF-5A78BCF540BE}"/>
              </a:ext>
            </a:extLst>
          </p:cNvPr>
          <p:cNvSpPr/>
          <p:nvPr/>
        </p:nvSpPr>
        <p:spPr>
          <a:xfrm>
            <a:off x="11701755" y="2519865"/>
            <a:ext cx="445878" cy="303344"/>
          </a:xfrm>
          <a:prstGeom prst="rect">
            <a:avLst/>
          </a:prstGeom>
          <a:ln>
            <a:noFill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삭제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227B52A-949D-85F2-3D04-0279BAF97A47}"/>
              </a:ext>
            </a:extLst>
          </p:cNvPr>
          <p:cNvSpPr/>
          <p:nvPr/>
        </p:nvSpPr>
        <p:spPr>
          <a:xfrm>
            <a:off x="11703436" y="3046485"/>
            <a:ext cx="445878" cy="303344"/>
          </a:xfrm>
          <a:prstGeom prst="rect">
            <a:avLst/>
          </a:prstGeom>
          <a:ln>
            <a:noFill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삭제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FAC242E-3411-E5C7-EF96-DE80E43B3A1C}"/>
              </a:ext>
            </a:extLst>
          </p:cNvPr>
          <p:cNvSpPr/>
          <p:nvPr/>
        </p:nvSpPr>
        <p:spPr>
          <a:xfrm>
            <a:off x="11715887" y="3784477"/>
            <a:ext cx="445878" cy="303344"/>
          </a:xfrm>
          <a:prstGeom prst="rect">
            <a:avLst/>
          </a:prstGeom>
          <a:ln>
            <a:noFill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삭제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7570FA6C-F936-8489-8986-0CB118567211}"/>
              </a:ext>
            </a:extLst>
          </p:cNvPr>
          <p:cNvSpPr/>
          <p:nvPr/>
        </p:nvSpPr>
        <p:spPr>
          <a:xfrm>
            <a:off x="11715887" y="3415481"/>
            <a:ext cx="445878" cy="303344"/>
          </a:xfrm>
          <a:prstGeom prst="rect">
            <a:avLst/>
          </a:prstGeom>
          <a:ln>
            <a:noFill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삭제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1A405E21-83CB-2323-F430-39617D4126FD}"/>
              </a:ext>
            </a:extLst>
          </p:cNvPr>
          <p:cNvSpPr/>
          <p:nvPr/>
        </p:nvSpPr>
        <p:spPr>
          <a:xfrm>
            <a:off x="11715887" y="4153473"/>
            <a:ext cx="445878" cy="303344"/>
          </a:xfrm>
          <a:prstGeom prst="rect">
            <a:avLst/>
          </a:prstGeom>
          <a:ln>
            <a:noFill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삭제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242441CF-5D3A-4C43-FD0A-31B9DFE13F07}"/>
              </a:ext>
            </a:extLst>
          </p:cNvPr>
          <p:cNvSpPr/>
          <p:nvPr/>
        </p:nvSpPr>
        <p:spPr>
          <a:xfrm>
            <a:off x="0" y="0"/>
            <a:ext cx="18796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2000" dirty="0">
                <a:solidFill>
                  <a:srgbClr val="00B0F0"/>
                </a:solidFill>
              </a:rPr>
              <a:t>대원공업㈜</a:t>
            </a:r>
            <a:endParaRPr lang="en-US" altLang="ko-KR" sz="2000" dirty="0">
              <a:solidFill>
                <a:srgbClr val="00B0F0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r>
              <a:rPr lang="ko-KR" altLang="en-US" dirty="0">
                <a:solidFill>
                  <a:schemeClr val="tx1"/>
                </a:solidFill>
              </a:rPr>
              <a:t>수주품목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-</a:t>
            </a:r>
            <a:r>
              <a:rPr lang="ko-KR" altLang="en-US" sz="1200" dirty="0">
                <a:solidFill>
                  <a:schemeClr val="tx1"/>
                </a:solidFill>
              </a:rPr>
              <a:t>입고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   </a:t>
            </a:r>
            <a:r>
              <a:rPr lang="ko-KR" altLang="en-US" sz="1200" dirty="0">
                <a:solidFill>
                  <a:schemeClr val="tx1"/>
                </a:solidFill>
              </a:rPr>
              <a:t>등록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   </a:t>
            </a:r>
            <a:r>
              <a:rPr lang="ko-KR" altLang="en-US" sz="1200" dirty="0">
                <a:solidFill>
                  <a:schemeClr val="tx1"/>
                </a:solidFill>
              </a:rPr>
              <a:t>이력조회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-</a:t>
            </a:r>
            <a:r>
              <a:rPr lang="ko-KR" altLang="en-US" sz="1200" dirty="0">
                <a:solidFill>
                  <a:schemeClr val="tx1"/>
                </a:solidFill>
              </a:rPr>
              <a:t>출고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sz="1200" dirty="0">
                <a:solidFill>
                  <a:schemeClr val="tx1"/>
                </a:solidFill>
              </a:rPr>
              <a:t>   등록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sz="1200" dirty="0">
                <a:solidFill>
                  <a:schemeClr val="tx1"/>
                </a:solidFill>
              </a:rPr>
              <a:t>   이력조회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-</a:t>
            </a:r>
            <a:r>
              <a:rPr lang="ko-KR" altLang="en-US" sz="1200" dirty="0">
                <a:solidFill>
                  <a:schemeClr val="tx1"/>
                </a:solidFill>
              </a:rPr>
              <a:t>품목관리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sz="1200" dirty="0">
                <a:solidFill>
                  <a:schemeClr val="tx1"/>
                </a:solidFill>
              </a:rPr>
              <a:t>   등록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   </a:t>
            </a:r>
            <a:r>
              <a:rPr lang="ko-KR" altLang="en-US" sz="1200" dirty="0">
                <a:solidFill>
                  <a:schemeClr val="tx1"/>
                </a:solidFill>
              </a:rPr>
              <a:t>조회</a:t>
            </a:r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dirty="0">
                <a:solidFill>
                  <a:schemeClr val="tx1"/>
                </a:solidFill>
              </a:rPr>
              <a:t>원자재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-</a:t>
            </a:r>
            <a:r>
              <a:rPr lang="ko-KR" altLang="en-US" sz="1200" dirty="0">
                <a:solidFill>
                  <a:schemeClr val="tx1"/>
                </a:solidFill>
              </a:rPr>
              <a:t>입고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   </a:t>
            </a:r>
            <a:r>
              <a:rPr lang="ko-KR" altLang="en-US" sz="1200" dirty="0">
                <a:solidFill>
                  <a:schemeClr val="tx1"/>
                </a:solidFill>
              </a:rPr>
              <a:t>등록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   </a:t>
            </a:r>
            <a:r>
              <a:rPr lang="ko-KR" altLang="en-US" sz="1200" dirty="0">
                <a:solidFill>
                  <a:schemeClr val="tx1"/>
                </a:solidFill>
              </a:rPr>
              <a:t>이력조회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-</a:t>
            </a:r>
            <a:r>
              <a:rPr lang="ko-KR" altLang="en-US" sz="1200" dirty="0">
                <a:solidFill>
                  <a:schemeClr val="tx1"/>
                </a:solidFill>
              </a:rPr>
              <a:t>출고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   </a:t>
            </a:r>
            <a:r>
              <a:rPr lang="ko-KR" altLang="en-US" sz="1200" dirty="0">
                <a:solidFill>
                  <a:schemeClr val="tx1"/>
                </a:solidFill>
              </a:rPr>
              <a:t>등록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   </a:t>
            </a:r>
            <a:r>
              <a:rPr lang="ko-KR" altLang="en-US" sz="1200" dirty="0">
                <a:solidFill>
                  <a:schemeClr val="tx1"/>
                </a:solidFill>
              </a:rPr>
              <a:t>이력조회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-</a:t>
            </a:r>
            <a:r>
              <a:rPr lang="ko-KR" altLang="en-US" sz="1200" dirty="0">
                <a:solidFill>
                  <a:schemeClr val="tx1"/>
                </a:solidFill>
              </a:rPr>
              <a:t>재고현황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-</a:t>
            </a:r>
            <a:r>
              <a:rPr lang="ko-KR" altLang="en-US" sz="1200" dirty="0">
                <a:solidFill>
                  <a:schemeClr val="tx1"/>
                </a:solidFill>
              </a:rPr>
              <a:t>품목관리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sz="1200" dirty="0">
                <a:solidFill>
                  <a:schemeClr val="tx1"/>
                </a:solidFill>
              </a:rPr>
              <a:t>   등록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   </a:t>
            </a:r>
            <a:r>
              <a:rPr lang="ko-KR" altLang="en-US" sz="1200" dirty="0">
                <a:solidFill>
                  <a:schemeClr val="tx1"/>
                </a:solidFill>
              </a:rPr>
              <a:t>조회</a:t>
            </a:r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dirty="0">
                <a:solidFill>
                  <a:schemeClr val="tx1"/>
                </a:solidFill>
              </a:rPr>
              <a:t>정보관리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sz="1200" dirty="0">
                <a:solidFill>
                  <a:schemeClr val="tx1"/>
                </a:solidFill>
              </a:rPr>
              <a:t>  라우팅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sz="1200" dirty="0">
                <a:solidFill>
                  <a:schemeClr val="tx1"/>
                </a:solidFill>
              </a:rPr>
              <a:t>  거래처</a:t>
            </a: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10C8EF39-C07B-5D4F-5D8D-E1EC295A9251}"/>
              </a:ext>
            </a:extLst>
          </p:cNvPr>
          <p:cNvSpPr/>
          <p:nvPr/>
        </p:nvSpPr>
        <p:spPr>
          <a:xfrm>
            <a:off x="9520910" y="2202373"/>
            <a:ext cx="229302" cy="22249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ysClr val="windowText" lastClr="000000"/>
                </a:solidFill>
              </a:rPr>
              <a:t>5</a:t>
            </a:r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3A9D69B8-4667-1CD3-491C-7137CFE1DF18}"/>
              </a:ext>
            </a:extLst>
          </p:cNvPr>
          <p:cNvSpPr/>
          <p:nvPr/>
        </p:nvSpPr>
        <p:spPr>
          <a:xfrm>
            <a:off x="8512146" y="2202373"/>
            <a:ext cx="229302" cy="22249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ysClr val="windowText" lastClr="000000"/>
                </a:solidFill>
              </a:rPr>
              <a:t>4</a:t>
            </a:r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126A43FB-0C50-253B-29A4-90D9B6D69643}"/>
              </a:ext>
            </a:extLst>
          </p:cNvPr>
          <p:cNvSpPr/>
          <p:nvPr/>
        </p:nvSpPr>
        <p:spPr>
          <a:xfrm>
            <a:off x="6701168" y="2161369"/>
            <a:ext cx="229302" cy="22249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ysClr val="windowText" lastClr="000000"/>
                </a:solidFill>
              </a:rPr>
              <a:t>3</a:t>
            </a:r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7EFA2466-1090-8F46-FBC8-5D4696395320}"/>
              </a:ext>
            </a:extLst>
          </p:cNvPr>
          <p:cNvSpPr/>
          <p:nvPr/>
        </p:nvSpPr>
        <p:spPr>
          <a:xfrm>
            <a:off x="11688510" y="2342968"/>
            <a:ext cx="229302" cy="22249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ysClr val="windowText" lastClr="000000"/>
                </a:solidFill>
              </a:rPr>
              <a:t>8</a:t>
            </a:r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51794522-85F3-5301-1DE8-74655FCE9740}"/>
              </a:ext>
            </a:extLst>
          </p:cNvPr>
          <p:cNvSpPr/>
          <p:nvPr/>
        </p:nvSpPr>
        <p:spPr>
          <a:xfrm>
            <a:off x="11200799" y="2342968"/>
            <a:ext cx="229302" cy="22249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ysClr val="windowText" lastClr="000000"/>
                </a:solidFill>
              </a:rPr>
              <a:t>7</a:t>
            </a:r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CF210723-5E8A-09F6-DF23-E78B52EEB01F}"/>
              </a:ext>
            </a:extLst>
          </p:cNvPr>
          <p:cNvSpPr/>
          <p:nvPr/>
        </p:nvSpPr>
        <p:spPr>
          <a:xfrm>
            <a:off x="5740296" y="2313618"/>
            <a:ext cx="229302" cy="22249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ysClr val="windowText" lastClr="000000"/>
                </a:solidFill>
              </a:rPr>
              <a:t>2</a:t>
            </a:r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C69B73C-A506-40DC-B00E-32C0284A5B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4206" y="6282943"/>
            <a:ext cx="3657788" cy="539778"/>
          </a:xfrm>
          <a:prstGeom prst="rect">
            <a:avLst/>
          </a:prstGeom>
        </p:spPr>
      </p:pic>
      <p:sp>
        <p:nvSpPr>
          <p:cNvPr id="12" name="타원 11">
            <a:extLst>
              <a:ext uri="{FF2B5EF4-FFF2-40B4-BE49-F238E27FC236}">
                <a16:creationId xmlns:a16="http://schemas.microsoft.com/office/drawing/2014/main" id="{1150F529-8E18-4F1F-26F0-2196462CB629}"/>
              </a:ext>
            </a:extLst>
          </p:cNvPr>
          <p:cNvSpPr/>
          <p:nvPr/>
        </p:nvSpPr>
        <p:spPr>
          <a:xfrm>
            <a:off x="4335236" y="6188076"/>
            <a:ext cx="458272" cy="317357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ysClr val="windowText" lastClr="000000"/>
                </a:solidFill>
              </a:rPr>
              <a:t>10</a:t>
            </a:r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46DFC40-9638-5904-3013-3C5F1F87B7F7}"/>
              </a:ext>
            </a:extLst>
          </p:cNvPr>
          <p:cNvSpPr/>
          <p:nvPr/>
        </p:nvSpPr>
        <p:spPr>
          <a:xfrm>
            <a:off x="9811073" y="4616848"/>
            <a:ext cx="1338051" cy="49922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EXCEL</a:t>
            </a:r>
            <a:r>
              <a:rPr lang="ko-KR" altLang="en-US" sz="1200" dirty="0"/>
              <a:t>다운로드</a:t>
            </a: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075E838B-9AEB-DB8E-E458-66D277B7832C}"/>
              </a:ext>
            </a:extLst>
          </p:cNvPr>
          <p:cNvSpPr/>
          <p:nvPr/>
        </p:nvSpPr>
        <p:spPr>
          <a:xfrm>
            <a:off x="9611674" y="4755213"/>
            <a:ext cx="229302" cy="22249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ysClr val="windowText" lastClr="000000"/>
                </a:solidFill>
              </a:rPr>
              <a:t>9</a:t>
            </a:r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pic>
        <p:nvPicPr>
          <p:cNvPr id="15" name="그래픽 14" descr="돋보기">
            <a:extLst>
              <a:ext uri="{FF2B5EF4-FFF2-40B4-BE49-F238E27FC236}">
                <a16:creationId xmlns:a16="http://schemas.microsoft.com/office/drawing/2014/main" id="{E9B3769A-8E03-4C40-45BA-7884297D89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50190" y="1619132"/>
            <a:ext cx="427934" cy="427934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67245232-3844-1FFE-99A7-FFF92CBF2D84}"/>
              </a:ext>
            </a:extLst>
          </p:cNvPr>
          <p:cNvSpPr/>
          <p:nvPr/>
        </p:nvSpPr>
        <p:spPr>
          <a:xfrm>
            <a:off x="3598635" y="1592116"/>
            <a:ext cx="5725643" cy="42793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dirty="0" err="1">
                <a:solidFill>
                  <a:schemeClr val="bg1">
                    <a:lumMod val="50000"/>
                  </a:schemeClr>
                </a:solidFill>
              </a:rPr>
              <a:t>매입처명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품목명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품목 번호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입고 일자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입고 번호 로 검색해 주세요</a:t>
            </a: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CAA9A525-57DA-50DF-CC5F-BDD9A1CE58A0}"/>
              </a:ext>
            </a:extLst>
          </p:cNvPr>
          <p:cNvSpPr/>
          <p:nvPr/>
        </p:nvSpPr>
        <p:spPr>
          <a:xfrm>
            <a:off x="9094976" y="1424930"/>
            <a:ext cx="229302" cy="22249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ysClr val="windowText" lastClr="000000"/>
                </a:solidFill>
              </a:rPr>
              <a:t>6</a:t>
            </a:r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C7B5BE8E-22F0-9491-AA9F-CE7D453C3A14}"/>
              </a:ext>
            </a:extLst>
          </p:cNvPr>
          <p:cNvSpPr/>
          <p:nvPr/>
        </p:nvSpPr>
        <p:spPr>
          <a:xfrm>
            <a:off x="2486838" y="1137502"/>
            <a:ext cx="1020858" cy="3975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   </a:t>
            </a:r>
            <a:r>
              <a:rPr lang="ko-KR" altLang="en-US" sz="2000" b="1" dirty="0">
                <a:solidFill>
                  <a:schemeClr val="tx1"/>
                </a:solidFill>
              </a:rPr>
              <a:t>검색</a:t>
            </a:r>
          </a:p>
        </p:txBody>
      </p:sp>
      <p:pic>
        <p:nvPicPr>
          <p:cNvPr id="37" name="그래픽 36" descr="돋보기">
            <a:extLst>
              <a:ext uri="{FF2B5EF4-FFF2-40B4-BE49-F238E27FC236}">
                <a16:creationId xmlns:a16="http://schemas.microsoft.com/office/drawing/2014/main" id="{FF2400DF-6999-1421-4553-94E3CE04BD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33214" y="1203738"/>
            <a:ext cx="284258" cy="250929"/>
          </a:xfrm>
          <a:prstGeom prst="rect">
            <a:avLst/>
          </a:prstGeom>
        </p:spPr>
      </p:pic>
      <p:sp>
        <p:nvSpPr>
          <p:cNvPr id="38" name="직사각형 37">
            <a:extLst>
              <a:ext uri="{FF2B5EF4-FFF2-40B4-BE49-F238E27FC236}">
                <a16:creationId xmlns:a16="http://schemas.microsoft.com/office/drawing/2014/main" id="{B0FB0050-EBE2-9C67-AF57-9F67BBE3169B}"/>
              </a:ext>
            </a:extLst>
          </p:cNvPr>
          <p:cNvSpPr/>
          <p:nvPr/>
        </p:nvSpPr>
        <p:spPr>
          <a:xfrm>
            <a:off x="2133214" y="1593097"/>
            <a:ext cx="1381089" cy="30502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전체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9" name="순서도: 병합 38">
            <a:extLst>
              <a:ext uri="{FF2B5EF4-FFF2-40B4-BE49-F238E27FC236}">
                <a16:creationId xmlns:a16="http://schemas.microsoft.com/office/drawing/2014/main" id="{09D9B097-547C-ABFA-1BA6-F65B68218735}"/>
              </a:ext>
            </a:extLst>
          </p:cNvPr>
          <p:cNvSpPr/>
          <p:nvPr/>
        </p:nvSpPr>
        <p:spPr>
          <a:xfrm>
            <a:off x="2259127" y="1680714"/>
            <a:ext cx="117382" cy="117382"/>
          </a:xfrm>
          <a:prstGeom prst="flowChartMerg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53DB14ED-BF65-5466-5263-3F06892A4E7B}"/>
              </a:ext>
            </a:extLst>
          </p:cNvPr>
          <p:cNvSpPr/>
          <p:nvPr/>
        </p:nvSpPr>
        <p:spPr>
          <a:xfrm>
            <a:off x="2133214" y="1885714"/>
            <a:ext cx="1381089" cy="115533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</a:t>
            </a:r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매입처명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품목명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품목번호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입고 일자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입고 번호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</a:t>
            </a:r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B6EED797-03CC-1A26-8490-C24691259EB3}"/>
              </a:ext>
            </a:extLst>
          </p:cNvPr>
          <p:cNvSpPr/>
          <p:nvPr/>
        </p:nvSpPr>
        <p:spPr>
          <a:xfrm>
            <a:off x="2007302" y="1428432"/>
            <a:ext cx="229302" cy="22249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ysClr val="windowText" lastClr="000000"/>
                </a:solidFill>
              </a:rPr>
              <a:t>1</a:t>
            </a:r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73170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그림 35">
            <a:extLst>
              <a:ext uri="{FF2B5EF4-FFF2-40B4-BE49-F238E27FC236}">
                <a16:creationId xmlns:a16="http://schemas.microsoft.com/office/drawing/2014/main" id="{C07494B6-2954-250C-67C2-F3F432A355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4206" y="6282943"/>
            <a:ext cx="3657788" cy="539778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9E4D5BFF-1780-DA52-A61C-4A57F60FFCCD}"/>
              </a:ext>
            </a:extLst>
          </p:cNvPr>
          <p:cNvSpPr/>
          <p:nvPr/>
        </p:nvSpPr>
        <p:spPr>
          <a:xfrm>
            <a:off x="2411064" y="46615"/>
            <a:ext cx="8304270" cy="4674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dirty="0">
                <a:ln w="0">
                  <a:solidFill>
                    <a:schemeClr val="bg1"/>
                  </a:solidFill>
                </a:ln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원자재 품목 출고 등록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7163E209-AA0C-F62D-23BD-C7AF3B569E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5417355"/>
              </p:ext>
            </p:extLst>
          </p:nvPr>
        </p:nvGraphicFramePr>
        <p:xfrm>
          <a:off x="2123271" y="3584520"/>
          <a:ext cx="8341998" cy="219285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91714">
                  <a:extLst>
                    <a:ext uri="{9D8B030D-6E8A-4147-A177-3AD203B41FA5}">
                      <a16:colId xmlns:a16="http://schemas.microsoft.com/office/drawing/2014/main" val="2293074855"/>
                    </a:ext>
                  </a:extLst>
                </a:gridCol>
                <a:gridCol w="1191714">
                  <a:extLst>
                    <a:ext uri="{9D8B030D-6E8A-4147-A177-3AD203B41FA5}">
                      <a16:colId xmlns:a16="http://schemas.microsoft.com/office/drawing/2014/main" val="813361317"/>
                    </a:ext>
                  </a:extLst>
                </a:gridCol>
                <a:gridCol w="1191714">
                  <a:extLst>
                    <a:ext uri="{9D8B030D-6E8A-4147-A177-3AD203B41FA5}">
                      <a16:colId xmlns:a16="http://schemas.microsoft.com/office/drawing/2014/main" val="794713698"/>
                    </a:ext>
                  </a:extLst>
                </a:gridCol>
                <a:gridCol w="1191714">
                  <a:extLst>
                    <a:ext uri="{9D8B030D-6E8A-4147-A177-3AD203B41FA5}">
                      <a16:colId xmlns:a16="http://schemas.microsoft.com/office/drawing/2014/main" val="1555577030"/>
                    </a:ext>
                  </a:extLst>
                </a:gridCol>
                <a:gridCol w="1191714">
                  <a:extLst>
                    <a:ext uri="{9D8B030D-6E8A-4147-A177-3AD203B41FA5}">
                      <a16:colId xmlns:a16="http://schemas.microsoft.com/office/drawing/2014/main" val="2235264096"/>
                    </a:ext>
                  </a:extLst>
                </a:gridCol>
                <a:gridCol w="1191714">
                  <a:extLst>
                    <a:ext uri="{9D8B030D-6E8A-4147-A177-3AD203B41FA5}">
                      <a16:colId xmlns:a16="http://schemas.microsoft.com/office/drawing/2014/main" val="1786608492"/>
                    </a:ext>
                  </a:extLst>
                </a:gridCol>
                <a:gridCol w="1191714">
                  <a:extLst>
                    <a:ext uri="{9D8B030D-6E8A-4147-A177-3AD203B41FA5}">
                      <a16:colId xmlns:a16="http://schemas.microsoft.com/office/drawing/2014/main" val="20601233"/>
                    </a:ext>
                  </a:extLst>
                </a:gridCol>
              </a:tblGrid>
              <a:tr h="36158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err="1"/>
                        <a:t>매입처명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품목 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품목명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재고량</a:t>
                      </a:r>
                      <a:r>
                        <a:rPr lang="en-US" altLang="ko-KR" sz="1100" dirty="0"/>
                        <a:t>(</a:t>
                      </a:r>
                      <a:r>
                        <a:rPr lang="ko-KR" altLang="en-US" sz="1100" dirty="0"/>
                        <a:t>양</a:t>
                      </a:r>
                      <a:r>
                        <a:rPr lang="en-US" altLang="ko-KR" sz="1100" dirty="0"/>
                        <a:t>/</a:t>
                      </a:r>
                      <a:r>
                        <a:rPr lang="ko-KR" altLang="en-US" sz="1100" dirty="0"/>
                        <a:t>단위</a:t>
                      </a:r>
                      <a:r>
                        <a:rPr lang="en-US" altLang="ko-KR" sz="1100" dirty="0"/>
                        <a:t>)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제조사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출고 수량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출고 일자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8461522"/>
                  </a:ext>
                </a:extLst>
              </a:tr>
              <a:tr h="36158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err="1"/>
                        <a:t>abc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Abc-001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/>
                        <a:t>마스킹</a:t>
                      </a:r>
                      <a:r>
                        <a:rPr lang="ko-KR" altLang="en-US" sz="900" dirty="0"/>
                        <a:t> 테이프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60kg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err="1"/>
                        <a:t>abc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785956"/>
                  </a:ext>
                </a:extLst>
              </a:tr>
              <a:tr h="361581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4756640"/>
                  </a:ext>
                </a:extLst>
              </a:tr>
              <a:tr h="361581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0853748"/>
                  </a:ext>
                </a:extLst>
              </a:tr>
              <a:tr h="361581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802805"/>
                  </a:ext>
                </a:extLst>
              </a:tr>
              <a:tr h="384953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2895452"/>
                  </a:ext>
                </a:extLst>
              </a:tr>
            </a:tbl>
          </a:graphicData>
        </a:graphic>
      </p:graphicFrame>
      <p:sp>
        <p:nvSpPr>
          <p:cNvPr id="11" name="직사각형 10">
            <a:extLst>
              <a:ext uri="{FF2B5EF4-FFF2-40B4-BE49-F238E27FC236}">
                <a16:creationId xmlns:a16="http://schemas.microsoft.com/office/drawing/2014/main" id="{07C72720-FBD9-FCF5-0D94-C168B3F4765C}"/>
              </a:ext>
            </a:extLst>
          </p:cNvPr>
          <p:cNvSpPr/>
          <p:nvPr/>
        </p:nvSpPr>
        <p:spPr>
          <a:xfrm>
            <a:off x="10609595" y="3932175"/>
            <a:ext cx="880844" cy="332509"/>
          </a:xfrm>
          <a:prstGeom prst="rect">
            <a:avLst/>
          </a:prstGeom>
          <a:ln>
            <a:noFill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등록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05D34F6-ACCE-07E2-41D0-346795275535}"/>
              </a:ext>
            </a:extLst>
          </p:cNvPr>
          <p:cNvSpPr/>
          <p:nvPr/>
        </p:nvSpPr>
        <p:spPr>
          <a:xfrm>
            <a:off x="0" y="0"/>
            <a:ext cx="18796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2000" dirty="0">
                <a:solidFill>
                  <a:srgbClr val="00B0F0"/>
                </a:solidFill>
              </a:rPr>
              <a:t>대원공업㈜</a:t>
            </a:r>
            <a:endParaRPr lang="en-US" altLang="ko-KR" sz="2000" dirty="0">
              <a:solidFill>
                <a:srgbClr val="00B0F0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r>
              <a:rPr lang="ko-KR" altLang="en-US" dirty="0">
                <a:solidFill>
                  <a:schemeClr val="tx1"/>
                </a:solidFill>
              </a:rPr>
              <a:t>수주품목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-</a:t>
            </a:r>
            <a:r>
              <a:rPr lang="ko-KR" altLang="en-US" sz="1200" dirty="0">
                <a:solidFill>
                  <a:schemeClr val="tx1"/>
                </a:solidFill>
              </a:rPr>
              <a:t>입고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   </a:t>
            </a:r>
            <a:r>
              <a:rPr lang="ko-KR" altLang="en-US" sz="1200" dirty="0">
                <a:solidFill>
                  <a:schemeClr val="tx1"/>
                </a:solidFill>
              </a:rPr>
              <a:t>등록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   </a:t>
            </a:r>
            <a:r>
              <a:rPr lang="ko-KR" altLang="en-US" sz="1200" dirty="0">
                <a:solidFill>
                  <a:schemeClr val="tx1"/>
                </a:solidFill>
              </a:rPr>
              <a:t>이력조회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-</a:t>
            </a:r>
            <a:r>
              <a:rPr lang="ko-KR" altLang="en-US" sz="1200" dirty="0">
                <a:solidFill>
                  <a:schemeClr val="tx1"/>
                </a:solidFill>
              </a:rPr>
              <a:t>출고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sz="1200" dirty="0">
                <a:solidFill>
                  <a:schemeClr val="tx1"/>
                </a:solidFill>
              </a:rPr>
              <a:t>   등록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sz="1200" dirty="0">
                <a:solidFill>
                  <a:schemeClr val="tx1"/>
                </a:solidFill>
              </a:rPr>
              <a:t>   이력조회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-</a:t>
            </a:r>
            <a:r>
              <a:rPr lang="ko-KR" altLang="en-US" sz="1200" dirty="0">
                <a:solidFill>
                  <a:schemeClr val="tx1"/>
                </a:solidFill>
              </a:rPr>
              <a:t>품목관리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sz="1200" dirty="0">
                <a:solidFill>
                  <a:schemeClr val="tx1"/>
                </a:solidFill>
              </a:rPr>
              <a:t>   등록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   </a:t>
            </a:r>
            <a:r>
              <a:rPr lang="ko-KR" altLang="en-US" sz="1200" dirty="0">
                <a:solidFill>
                  <a:schemeClr val="tx1"/>
                </a:solidFill>
              </a:rPr>
              <a:t>조회</a:t>
            </a:r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dirty="0">
                <a:solidFill>
                  <a:schemeClr val="tx1"/>
                </a:solidFill>
              </a:rPr>
              <a:t>원자재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-</a:t>
            </a:r>
            <a:r>
              <a:rPr lang="ko-KR" altLang="en-US" sz="1200" dirty="0">
                <a:solidFill>
                  <a:schemeClr val="tx1"/>
                </a:solidFill>
              </a:rPr>
              <a:t>입고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   </a:t>
            </a:r>
            <a:r>
              <a:rPr lang="ko-KR" altLang="en-US" sz="1200" dirty="0">
                <a:solidFill>
                  <a:schemeClr val="tx1"/>
                </a:solidFill>
              </a:rPr>
              <a:t>등록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   </a:t>
            </a:r>
            <a:r>
              <a:rPr lang="ko-KR" altLang="en-US" sz="1200" dirty="0">
                <a:solidFill>
                  <a:schemeClr val="tx1"/>
                </a:solidFill>
              </a:rPr>
              <a:t>이력조회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-</a:t>
            </a:r>
            <a:r>
              <a:rPr lang="ko-KR" altLang="en-US" sz="1200" dirty="0">
                <a:solidFill>
                  <a:schemeClr val="tx1"/>
                </a:solidFill>
              </a:rPr>
              <a:t>출고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   </a:t>
            </a:r>
            <a:r>
              <a:rPr lang="ko-KR" altLang="en-US" sz="1200" dirty="0">
                <a:solidFill>
                  <a:schemeClr val="tx1"/>
                </a:solidFill>
              </a:rPr>
              <a:t>등록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   </a:t>
            </a:r>
            <a:r>
              <a:rPr lang="ko-KR" altLang="en-US" sz="1200" dirty="0">
                <a:solidFill>
                  <a:schemeClr val="tx1"/>
                </a:solidFill>
              </a:rPr>
              <a:t>이력조회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-</a:t>
            </a:r>
            <a:r>
              <a:rPr lang="ko-KR" altLang="en-US" sz="1200" dirty="0">
                <a:solidFill>
                  <a:schemeClr val="tx1"/>
                </a:solidFill>
              </a:rPr>
              <a:t>재고현황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-</a:t>
            </a:r>
            <a:r>
              <a:rPr lang="ko-KR" altLang="en-US" sz="1200" dirty="0">
                <a:solidFill>
                  <a:schemeClr val="tx1"/>
                </a:solidFill>
              </a:rPr>
              <a:t>품목관리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sz="1200" dirty="0">
                <a:solidFill>
                  <a:schemeClr val="tx1"/>
                </a:solidFill>
              </a:rPr>
              <a:t>   등록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   </a:t>
            </a:r>
            <a:r>
              <a:rPr lang="ko-KR" altLang="en-US" sz="1200" dirty="0">
                <a:solidFill>
                  <a:schemeClr val="tx1"/>
                </a:solidFill>
              </a:rPr>
              <a:t>조회</a:t>
            </a:r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dirty="0">
                <a:solidFill>
                  <a:schemeClr val="tx1"/>
                </a:solidFill>
              </a:rPr>
              <a:t>정보관리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sz="1200" dirty="0">
                <a:solidFill>
                  <a:schemeClr val="tx1"/>
                </a:solidFill>
              </a:rPr>
              <a:t>  라우팅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sz="1200" dirty="0">
                <a:solidFill>
                  <a:schemeClr val="tx1"/>
                </a:solidFill>
              </a:rPr>
              <a:t>  거래처</a:t>
            </a: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28F48C19-FFB2-4CC4-9705-3AC13ABA1DFB}"/>
              </a:ext>
            </a:extLst>
          </p:cNvPr>
          <p:cNvSpPr/>
          <p:nvPr/>
        </p:nvSpPr>
        <p:spPr>
          <a:xfrm>
            <a:off x="9358598" y="3753173"/>
            <a:ext cx="229302" cy="22249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ysClr val="windowText" lastClr="000000"/>
                </a:solidFill>
              </a:rPr>
              <a:t>4</a:t>
            </a:r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F6DBE24E-ECCB-A263-70ED-9EFE300883D5}"/>
              </a:ext>
            </a:extLst>
          </p:cNvPr>
          <p:cNvSpPr/>
          <p:nvPr/>
        </p:nvSpPr>
        <p:spPr>
          <a:xfrm>
            <a:off x="4507056" y="6388953"/>
            <a:ext cx="229302" cy="22249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ysClr val="windowText" lastClr="000000"/>
                </a:solidFill>
              </a:rPr>
              <a:t>7</a:t>
            </a:r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22B50330-7098-DB65-20F9-C858A024FA2B}"/>
              </a:ext>
            </a:extLst>
          </p:cNvPr>
          <p:cNvSpPr/>
          <p:nvPr/>
        </p:nvSpPr>
        <p:spPr>
          <a:xfrm>
            <a:off x="8221994" y="3753173"/>
            <a:ext cx="229302" cy="22249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ysClr val="windowText" lastClr="000000"/>
                </a:solidFill>
              </a:rPr>
              <a:t>3</a:t>
            </a:r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pic>
        <p:nvPicPr>
          <p:cNvPr id="25" name="그래픽 24" descr="돋보기">
            <a:extLst>
              <a:ext uri="{FF2B5EF4-FFF2-40B4-BE49-F238E27FC236}">
                <a16:creationId xmlns:a16="http://schemas.microsoft.com/office/drawing/2014/main" id="{3DECADA3-760B-F1EC-94BB-A83EBEDBFA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41701" y="3106671"/>
            <a:ext cx="427934" cy="427934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67E5C984-A884-118C-C156-264CB409E3FB}"/>
              </a:ext>
            </a:extLst>
          </p:cNvPr>
          <p:cNvSpPr/>
          <p:nvPr/>
        </p:nvSpPr>
        <p:spPr>
          <a:xfrm>
            <a:off x="3590146" y="3079655"/>
            <a:ext cx="5725643" cy="42793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dirty="0" err="1">
                <a:solidFill>
                  <a:schemeClr val="bg1">
                    <a:lumMod val="50000"/>
                  </a:schemeClr>
                </a:solidFill>
              </a:rPr>
              <a:t>매입처명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품목명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품목 번호 로 검색해 주세요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011ACC1-DEEA-2769-038A-6E4F4EEAF798}"/>
              </a:ext>
            </a:extLst>
          </p:cNvPr>
          <p:cNvSpPr/>
          <p:nvPr/>
        </p:nvSpPr>
        <p:spPr>
          <a:xfrm>
            <a:off x="2478349" y="2625041"/>
            <a:ext cx="1020858" cy="3975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   </a:t>
            </a:r>
            <a:r>
              <a:rPr lang="ko-KR" altLang="en-US" sz="2000" b="1" dirty="0">
                <a:solidFill>
                  <a:schemeClr val="tx1"/>
                </a:solidFill>
              </a:rPr>
              <a:t>검색</a:t>
            </a:r>
          </a:p>
        </p:txBody>
      </p:sp>
      <p:pic>
        <p:nvPicPr>
          <p:cNvPr id="29" name="그래픽 28" descr="돋보기">
            <a:extLst>
              <a:ext uri="{FF2B5EF4-FFF2-40B4-BE49-F238E27FC236}">
                <a16:creationId xmlns:a16="http://schemas.microsoft.com/office/drawing/2014/main" id="{E1548DCC-7C88-C2DB-0029-87E6A5B08C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24725" y="2691277"/>
            <a:ext cx="284258" cy="250929"/>
          </a:xfrm>
          <a:prstGeom prst="rect">
            <a:avLst/>
          </a:prstGeom>
        </p:spPr>
      </p:pic>
      <p:sp>
        <p:nvSpPr>
          <p:cNvPr id="30" name="직사각형 29">
            <a:extLst>
              <a:ext uri="{FF2B5EF4-FFF2-40B4-BE49-F238E27FC236}">
                <a16:creationId xmlns:a16="http://schemas.microsoft.com/office/drawing/2014/main" id="{371E849C-D121-912E-1AFC-A4A377944B47}"/>
              </a:ext>
            </a:extLst>
          </p:cNvPr>
          <p:cNvSpPr/>
          <p:nvPr/>
        </p:nvSpPr>
        <p:spPr>
          <a:xfrm>
            <a:off x="2124725" y="3080636"/>
            <a:ext cx="1381089" cy="30502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전체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1" name="순서도: 병합 30">
            <a:extLst>
              <a:ext uri="{FF2B5EF4-FFF2-40B4-BE49-F238E27FC236}">
                <a16:creationId xmlns:a16="http://schemas.microsoft.com/office/drawing/2014/main" id="{EA3C0504-4628-29D9-3966-AB315B596058}"/>
              </a:ext>
            </a:extLst>
          </p:cNvPr>
          <p:cNvSpPr/>
          <p:nvPr/>
        </p:nvSpPr>
        <p:spPr>
          <a:xfrm>
            <a:off x="2250638" y="3168253"/>
            <a:ext cx="117382" cy="117382"/>
          </a:xfrm>
          <a:prstGeom prst="flowChartMerg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6DDAFA89-F7EA-4B3F-9127-653B61FB20AD}"/>
              </a:ext>
            </a:extLst>
          </p:cNvPr>
          <p:cNvSpPr/>
          <p:nvPr/>
        </p:nvSpPr>
        <p:spPr>
          <a:xfrm>
            <a:off x="2124725" y="3373253"/>
            <a:ext cx="1381089" cy="72517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</a:t>
            </a:r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매입처명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품목명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품목번호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</a:t>
            </a:r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E952BCDE-5292-3794-63BE-1522BE70C179}"/>
              </a:ext>
            </a:extLst>
          </p:cNvPr>
          <p:cNvSpPr/>
          <p:nvPr/>
        </p:nvSpPr>
        <p:spPr>
          <a:xfrm>
            <a:off x="10541053" y="3799152"/>
            <a:ext cx="229302" cy="22249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ysClr val="windowText" lastClr="000000"/>
                </a:solidFill>
              </a:rPr>
              <a:t>5</a:t>
            </a:r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88CD0396-FEAE-3B24-D718-57227F08B3DE}"/>
              </a:ext>
            </a:extLst>
          </p:cNvPr>
          <p:cNvSpPr/>
          <p:nvPr/>
        </p:nvSpPr>
        <p:spPr>
          <a:xfrm>
            <a:off x="8903958" y="5889733"/>
            <a:ext cx="1338051" cy="49922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EXCEL</a:t>
            </a:r>
            <a:r>
              <a:rPr lang="ko-KR" altLang="en-US" sz="1200" dirty="0"/>
              <a:t>다운로드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A0C5BF56-F475-02BD-46D7-E46BF2628ABC}"/>
              </a:ext>
            </a:extLst>
          </p:cNvPr>
          <p:cNvSpPr/>
          <p:nvPr/>
        </p:nvSpPr>
        <p:spPr>
          <a:xfrm>
            <a:off x="10609595" y="4308241"/>
            <a:ext cx="880844" cy="332509"/>
          </a:xfrm>
          <a:prstGeom prst="rect">
            <a:avLst/>
          </a:prstGeom>
          <a:ln>
            <a:noFill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등록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858087EF-B0D7-C79B-C93F-D5E97CDC5F93}"/>
              </a:ext>
            </a:extLst>
          </p:cNvPr>
          <p:cNvSpPr/>
          <p:nvPr/>
        </p:nvSpPr>
        <p:spPr>
          <a:xfrm>
            <a:off x="10609595" y="4684307"/>
            <a:ext cx="880844" cy="332509"/>
          </a:xfrm>
          <a:prstGeom prst="rect">
            <a:avLst/>
          </a:prstGeom>
          <a:ln>
            <a:noFill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등록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1529B7D6-AB9F-EE2C-8DFD-B9CAA66D8B1F}"/>
              </a:ext>
            </a:extLst>
          </p:cNvPr>
          <p:cNvSpPr/>
          <p:nvPr/>
        </p:nvSpPr>
        <p:spPr>
          <a:xfrm>
            <a:off x="10609595" y="5060373"/>
            <a:ext cx="880844" cy="332509"/>
          </a:xfrm>
          <a:prstGeom prst="rect">
            <a:avLst/>
          </a:prstGeom>
          <a:ln>
            <a:noFill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등록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31F9B8C0-D964-D17C-B1C9-DD3822AB0A34}"/>
              </a:ext>
            </a:extLst>
          </p:cNvPr>
          <p:cNvSpPr/>
          <p:nvPr/>
        </p:nvSpPr>
        <p:spPr>
          <a:xfrm>
            <a:off x="10609595" y="5436439"/>
            <a:ext cx="880844" cy="332509"/>
          </a:xfrm>
          <a:prstGeom prst="rect">
            <a:avLst/>
          </a:prstGeom>
          <a:ln>
            <a:noFill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등록</a:t>
            </a: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E6365720-ABA6-DF2D-C4A0-ABDBF2CAEC17}"/>
              </a:ext>
            </a:extLst>
          </p:cNvPr>
          <p:cNvSpPr/>
          <p:nvPr/>
        </p:nvSpPr>
        <p:spPr>
          <a:xfrm>
            <a:off x="2023146" y="2929628"/>
            <a:ext cx="229302" cy="22249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ysClr val="windowText" lastClr="000000"/>
                </a:solidFill>
              </a:rPr>
              <a:t>1</a:t>
            </a:r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DEC9625A-5B7B-DC40-B2E7-B5872B940127}"/>
              </a:ext>
            </a:extLst>
          </p:cNvPr>
          <p:cNvSpPr/>
          <p:nvPr/>
        </p:nvSpPr>
        <p:spPr>
          <a:xfrm>
            <a:off x="9141096" y="2942206"/>
            <a:ext cx="229302" cy="22249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ysClr val="windowText" lastClr="000000"/>
                </a:solidFill>
              </a:rPr>
              <a:t>2</a:t>
            </a:r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5CE55839-E9A8-0360-FB8C-5C9B8622DC12}"/>
              </a:ext>
            </a:extLst>
          </p:cNvPr>
          <p:cNvSpPr/>
          <p:nvPr/>
        </p:nvSpPr>
        <p:spPr>
          <a:xfrm>
            <a:off x="8674656" y="5976241"/>
            <a:ext cx="229302" cy="22249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ysClr val="windowText" lastClr="000000"/>
                </a:solidFill>
              </a:rPr>
              <a:t>6</a:t>
            </a:r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40332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509E01FC-985D-8F32-044F-F37AD5CA465E}"/>
              </a:ext>
            </a:extLst>
          </p:cNvPr>
          <p:cNvSpPr/>
          <p:nvPr/>
        </p:nvSpPr>
        <p:spPr>
          <a:xfrm>
            <a:off x="2096269" y="46615"/>
            <a:ext cx="8619065" cy="4674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dirty="0">
                <a:ln w="0">
                  <a:solidFill>
                    <a:schemeClr val="bg1"/>
                  </a:solidFill>
                </a:ln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원자재 품목 출고 이력조회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3228F4C8-DD21-70F2-1CD8-B4B7AC3945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5944610"/>
              </p:ext>
            </p:extLst>
          </p:nvPr>
        </p:nvGraphicFramePr>
        <p:xfrm>
          <a:off x="2133215" y="2265535"/>
          <a:ext cx="8619065" cy="22809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31295">
                  <a:extLst>
                    <a:ext uri="{9D8B030D-6E8A-4147-A177-3AD203B41FA5}">
                      <a16:colId xmlns:a16="http://schemas.microsoft.com/office/drawing/2014/main" val="1554219569"/>
                    </a:ext>
                  </a:extLst>
                </a:gridCol>
                <a:gridCol w="1231295">
                  <a:extLst>
                    <a:ext uri="{9D8B030D-6E8A-4147-A177-3AD203B41FA5}">
                      <a16:colId xmlns:a16="http://schemas.microsoft.com/office/drawing/2014/main" val="1683782675"/>
                    </a:ext>
                  </a:extLst>
                </a:gridCol>
                <a:gridCol w="1231295">
                  <a:extLst>
                    <a:ext uri="{9D8B030D-6E8A-4147-A177-3AD203B41FA5}">
                      <a16:colId xmlns:a16="http://schemas.microsoft.com/office/drawing/2014/main" val="3456727241"/>
                    </a:ext>
                  </a:extLst>
                </a:gridCol>
                <a:gridCol w="1231295">
                  <a:extLst>
                    <a:ext uri="{9D8B030D-6E8A-4147-A177-3AD203B41FA5}">
                      <a16:colId xmlns:a16="http://schemas.microsoft.com/office/drawing/2014/main" val="1287981788"/>
                    </a:ext>
                  </a:extLst>
                </a:gridCol>
                <a:gridCol w="1231295">
                  <a:extLst>
                    <a:ext uri="{9D8B030D-6E8A-4147-A177-3AD203B41FA5}">
                      <a16:colId xmlns:a16="http://schemas.microsoft.com/office/drawing/2014/main" val="2739630708"/>
                    </a:ext>
                  </a:extLst>
                </a:gridCol>
                <a:gridCol w="1231295">
                  <a:extLst>
                    <a:ext uri="{9D8B030D-6E8A-4147-A177-3AD203B41FA5}">
                      <a16:colId xmlns:a16="http://schemas.microsoft.com/office/drawing/2014/main" val="649378786"/>
                    </a:ext>
                  </a:extLst>
                </a:gridCol>
                <a:gridCol w="1231295">
                  <a:extLst>
                    <a:ext uri="{9D8B030D-6E8A-4147-A177-3AD203B41FA5}">
                      <a16:colId xmlns:a16="http://schemas.microsoft.com/office/drawing/2014/main" val="10829773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출고 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err="1"/>
                        <a:t>매입처명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품목 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품목명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출고수량</a:t>
                      </a:r>
                      <a:r>
                        <a:rPr lang="en-US" altLang="ko-KR" sz="1100" dirty="0"/>
                        <a:t>(</a:t>
                      </a:r>
                      <a:r>
                        <a:rPr lang="ko-KR" altLang="en-US" sz="1100" dirty="0"/>
                        <a:t>양</a:t>
                      </a:r>
                      <a:r>
                        <a:rPr lang="en-US" altLang="ko-KR" sz="1100" dirty="0"/>
                        <a:t>/</a:t>
                      </a:r>
                      <a:r>
                        <a:rPr lang="ko-KR" altLang="en-US" sz="1100" dirty="0"/>
                        <a:t>단위</a:t>
                      </a:r>
                      <a:r>
                        <a:rPr lang="en-US" altLang="ko-KR" sz="1100" dirty="0"/>
                        <a:t>)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출고 일자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제조사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95632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MOUT-20251013-001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err="1"/>
                        <a:t>abc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Abc-001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/>
                        <a:t>마스킹</a:t>
                      </a:r>
                      <a:r>
                        <a:rPr lang="ko-KR" altLang="en-US" sz="900" dirty="0"/>
                        <a:t> 테이프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 err="1"/>
                        <a:t>abc</a:t>
                      </a:r>
                      <a:endParaRPr lang="ko-KR" altLang="en-US" sz="900" dirty="0"/>
                    </a:p>
                    <a:p>
                      <a:pPr algn="ctr" latinLnBrk="1"/>
                      <a:endParaRPr lang="ko-KR" alt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7288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MOUT-20251013-002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123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123-001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포장지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err="1"/>
                        <a:t>bbb</a:t>
                      </a:r>
                      <a:endParaRPr lang="ko-KR" alt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8388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40191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30566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645112"/>
                  </a:ext>
                </a:extLst>
              </a:tr>
            </a:tbl>
          </a:graphicData>
        </a:graphic>
      </p:graphicFrame>
      <p:sp>
        <p:nvSpPr>
          <p:cNvPr id="10" name="직사각형 9">
            <a:extLst>
              <a:ext uri="{FF2B5EF4-FFF2-40B4-BE49-F238E27FC236}">
                <a16:creationId xmlns:a16="http://schemas.microsoft.com/office/drawing/2014/main" id="{0930868A-5BE1-9054-CFD1-B4450A8CCB88}"/>
              </a:ext>
            </a:extLst>
          </p:cNvPr>
          <p:cNvSpPr/>
          <p:nvPr/>
        </p:nvSpPr>
        <p:spPr>
          <a:xfrm>
            <a:off x="10951237" y="2718038"/>
            <a:ext cx="445878" cy="303344"/>
          </a:xfrm>
          <a:prstGeom prst="rect">
            <a:avLst/>
          </a:prstGeom>
          <a:ln>
            <a:noFill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수정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67FE96A-79F3-E14A-2EFB-DEA6882CA147}"/>
              </a:ext>
            </a:extLst>
          </p:cNvPr>
          <p:cNvSpPr/>
          <p:nvPr/>
        </p:nvSpPr>
        <p:spPr>
          <a:xfrm>
            <a:off x="10951237" y="3860864"/>
            <a:ext cx="445878" cy="303344"/>
          </a:xfrm>
          <a:prstGeom prst="rect">
            <a:avLst/>
          </a:prstGeom>
          <a:ln>
            <a:noFill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수정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35E48FC-52A3-6157-3EA5-C29A8C04A64F}"/>
              </a:ext>
            </a:extLst>
          </p:cNvPr>
          <p:cNvSpPr/>
          <p:nvPr/>
        </p:nvSpPr>
        <p:spPr>
          <a:xfrm>
            <a:off x="10951237" y="4229860"/>
            <a:ext cx="445878" cy="303344"/>
          </a:xfrm>
          <a:prstGeom prst="rect">
            <a:avLst/>
          </a:prstGeom>
          <a:ln>
            <a:noFill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수정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264195D-3245-04ED-66B9-697CFCA8C7EF}"/>
              </a:ext>
            </a:extLst>
          </p:cNvPr>
          <p:cNvSpPr/>
          <p:nvPr/>
        </p:nvSpPr>
        <p:spPr>
          <a:xfrm>
            <a:off x="10951237" y="3087034"/>
            <a:ext cx="445878" cy="303344"/>
          </a:xfrm>
          <a:prstGeom prst="rect">
            <a:avLst/>
          </a:prstGeom>
          <a:ln>
            <a:noFill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수정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9D759A6-EF8C-DAF3-5A71-916D9D343C40}"/>
              </a:ext>
            </a:extLst>
          </p:cNvPr>
          <p:cNvSpPr/>
          <p:nvPr/>
        </p:nvSpPr>
        <p:spPr>
          <a:xfrm>
            <a:off x="10951237" y="3467241"/>
            <a:ext cx="445878" cy="303344"/>
          </a:xfrm>
          <a:prstGeom prst="rect">
            <a:avLst/>
          </a:prstGeom>
          <a:ln>
            <a:noFill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수정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590AD6A-29DB-7AA6-605D-294B6BBFD3AE}"/>
              </a:ext>
            </a:extLst>
          </p:cNvPr>
          <p:cNvSpPr/>
          <p:nvPr/>
        </p:nvSpPr>
        <p:spPr>
          <a:xfrm>
            <a:off x="11443426" y="2718038"/>
            <a:ext cx="445878" cy="303344"/>
          </a:xfrm>
          <a:prstGeom prst="rect">
            <a:avLst/>
          </a:prstGeom>
          <a:ln>
            <a:noFill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삭제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776B33B-C3F1-294F-40F2-19939D61725E}"/>
              </a:ext>
            </a:extLst>
          </p:cNvPr>
          <p:cNvSpPr/>
          <p:nvPr/>
        </p:nvSpPr>
        <p:spPr>
          <a:xfrm>
            <a:off x="11443426" y="3087034"/>
            <a:ext cx="445878" cy="303344"/>
          </a:xfrm>
          <a:prstGeom prst="rect">
            <a:avLst/>
          </a:prstGeom>
          <a:ln>
            <a:noFill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삭제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804B7F7-05EC-0D00-1F9E-53ACBD0EB705}"/>
              </a:ext>
            </a:extLst>
          </p:cNvPr>
          <p:cNvSpPr/>
          <p:nvPr/>
        </p:nvSpPr>
        <p:spPr>
          <a:xfrm>
            <a:off x="11443426" y="3860864"/>
            <a:ext cx="445878" cy="303344"/>
          </a:xfrm>
          <a:prstGeom prst="rect">
            <a:avLst/>
          </a:prstGeom>
          <a:ln>
            <a:noFill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삭제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F30D6D1-0A75-76C6-49D2-FE6E87BCE5B2}"/>
              </a:ext>
            </a:extLst>
          </p:cNvPr>
          <p:cNvSpPr/>
          <p:nvPr/>
        </p:nvSpPr>
        <p:spPr>
          <a:xfrm>
            <a:off x="11443426" y="3467241"/>
            <a:ext cx="445878" cy="303344"/>
          </a:xfrm>
          <a:prstGeom prst="rect">
            <a:avLst/>
          </a:prstGeom>
          <a:ln>
            <a:noFill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삭제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7E28304-5D8D-9B72-18AE-6E9CFCD77168}"/>
              </a:ext>
            </a:extLst>
          </p:cNvPr>
          <p:cNvSpPr/>
          <p:nvPr/>
        </p:nvSpPr>
        <p:spPr>
          <a:xfrm>
            <a:off x="11443426" y="4229860"/>
            <a:ext cx="445878" cy="303344"/>
          </a:xfrm>
          <a:prstGeom prst="rect">
            <a:avLst/>
          </a:prstGeom>
          <a:ln>
            <a:noFill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삭제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67F83CD-875B-21D2-E3D0-F3C95318F6AE}"/>
              </a:ext>
            </a:extLst>
          </p:cNvPr>
          <p:cNvSpPr/>
          <p:nvPr/>
        </p:nvSpPr>
        <p:spPr>
          <a:xfrm>
            <a:off x="0" y="0"/>
            <a:ext cx="18796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2000" dirty="0">
                <a:solidFill>
                  <a:srgbClr val="00B0F0"/>
                </a:solidFill>
              </a:rPr>
              <a:t>대원공업㈜</a:t>
            </a:r>
            <a:endParaRPr lang="en-US" altLang="ko-KR" sz="2000" dirty="0">
              <a:solidFill>
                <a:srgbClr val="00B0F0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r>
              <a:rPr lang="ko-KR" altLang="en-US" dirty="0">
                <a:solidFill>
                  <a:schemeClr val="tx1"/>
                </a:solidFill>
              </a:rPr>
              <a:t>수주품목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-</a:t>
            </a:r>
            <a:r>
              <a:rPr lang="ko-KR" altLang="en-US" sz="1200" dirty="0">
                <a:solidFill>
                  <a:schemeClr val="tx1"/>
                </a:solidFill>
              </a:rPr>
              <a:t>입고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   </a:t>
            </a:r>
            <a:r>
              <a:rPr lang="ko-KR" altLang="en-US" sz="1200" dirty="0">
                <a:solidFill>
                  <a:schemeClr val="tx1"/>
                </a:solidFill>
              </a:rPr>
              <a:t>등록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   </a:t>
            </a:r>
            <a:r>
              <a:rPr lang="ko-KR" altLang="en-US" sz="1200" dirty="0">
                <a:solidFill>
                  <a:schemeClr val="tx1"/>
                </a:solidFill>
              </a:rPr>
              <a:t>이력조회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-</a:t>
            </a:r>
            <a:r>
              <a:rPr lang="ko-KR" altLang="en-US" sz="1200" dirty="0">
                <a:solidFill>
                  <a:schemeClr val="tx1"/>
                </a:solidFill>
              </a:rPr>
              <a:t>출고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sz="1200" dirty="0">
                <a:solidFill>
                  <a:schemeClr val="tx1"/>
                </a:solidFill>
              </a:rPr>
              <a:t>   등록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sz="1200" dirty="0">
                <a:solidFill>
                  <a:schemeClr val="tx1"/>
                </a:solidFill>
              </a:rPr>
              <a:t>   이력조회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-</a:t>
            </a:r>
            <a:r>
              <a:rPr lang="ko-KR" altLang="en-US" sz="1200" dirty="0">
                <a:solidFill>
                  <a:schemeClr val="tx1"/>
                </a:solidFill>
              </a:rPr>
              <a:t>품목관리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sz="1200" dirty="0">
                <a:solidFill>
                  <a:schemeClr val="tx1"/>
                </a:solidFill>
              </a:rPr>
              <a:t>   등록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   </a:t>
            </a:r>
            <a:r>
              <a:rPr lang="ko-KR" altLang="en-US" sz="1200" dirty="0">
                <a:solidFill>
                  <a:schemeClr val="tx1"/>
                </a:solidFill>
              </a:rPr>
              <a:t>조회</a:t>
            </a:r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dirty="0">
                <a:solidFill>
                  <a:schemeClr val="tx1"/>
                </a:solidFill>
              </a:rPr>
              <a:t>원자재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-</a:t>
            </a:r>
            <a:r>
              <a:rPr lang="ko-KR" altLang="en-US" sz="1200" dirty="0">
                <a:solidFill>
                  <a:schemeClr val="tx1"/>
                </a:solidFill>
              </a:rPr>
              <a:t>입고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   </a:t>
            </a:r>
            <a:r>
              <a:rPr lang="ko-KR" altLang="en-US" sz="1200" dirty="0">
                <a:solidFill>
                  <a:schemeClr val="tx1"/>
                </a:solidFill>
              </a:rPr>
              <a:t>등록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   </a:t>
            </a:r>
            <a:r>
              <a:rPr lang="ko-KR" altLang="en-US" sz="1200" dirty="0">
                <a:solidFill>
                  <a:schemeClr val="tx1"/>
                </a:solidFill>
              </a:rPr>
              <a:t>이력조회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-</a:t>
            </a:r>
            <a:r>
              <a:rPr lang="ko-KR" altLang="en-US" sz="1200" dirty="0">
                <a:solidFill>
                  <a:schemeClr val="tx1"/>
                </a:solidFill>
              </a:rPr>
              <a:t>출고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   </a:t>
            </a:r>
            <a:r>
              <a:rPr lang="ko-KR" altLang="en-US" sz="1200" dirty="0">
                <a:solidFill>
                  <a:schemeClr val="tx1"/>
                </a:solidFill>
              </a:rPr>
              <a:t>등록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   </a:t>
            </a:r>
            <a:r>
              <a:rPr lang="ko-KR" altLang="en-US" sz="1200" dirty="0">
                <a:solidFill>
                  <a:schemeClr val="tx1"/>
                </a:solidFill>
              </a:rPr>
              <a:t>이력조회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-</a:t>
            </a:r>
            <a:r>
              <a:rPr lang="ko-KR" altLang="en-US" sz="1200" dirty="0">
                <a:solidFill>
                  <a:schemeClr val="tx1"/>
                </a:solidFill>
              </a:rPr>
              <a:t>재고현황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-</a:t>
            </a:r>
            <a:r>
              <a:rPr lang="ko-KR" altLang="en-US" sz="1200" dirty="0">
                <a:solidFill>
                  <a:schemeClr val="tx1"/>
                </a:solidFill>
              </a:rPr>
              <a:t>품목관리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sz="1200" dirty="0">
                <a:solidFill>
                  <a:schemeClr val="tx1"/>
                </a:solidFill>
              </a:rPr>
              <a:t>   등록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   </a:t>
            </a:r>
            <a:r>
              <a:rPr lang="ko-KR" altLang="en-US" sz="1200" dirty="0">
                <a:solidFill>
                  <a:schemeClr val="tx1"/>
                </a:solidFill>
              </a:rPr>
              <a:t>조회</a:t>
            </a:r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dirty="0">
                <a:solidFill>
                  <a:schemeClr val="tx1"/>
                </a:solidFill>
              </a:rPr>
              <a:t>정보관리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sz="1200" dirty="0">
                <a:solidFill>
                  <a:schemeClr val="tx1"/>
                </a:solidFill>
              </a:rPr>
              <a:t>  라우팅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sz="1200" dirty="0">
                <a:solidFill>
                  <a:schemeClr val="tx1"/>
                </a:solidFill>
              </a:rPr>
              <a:t>  거래처</a:t>
            </a: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6488DFBB-20F3-9545-A62C-BA7448D2C97C}"/>
              </a:ext>
            </a:extLst>
          </p:cNvPr>
          <p:cNvSpPr/>
          <p:nvPr/>
        </p:nvSpPr>
        <p:spPr>
          <a:xfrm>
            <a:off x="10868551" y="2568362"/>
            <a:ext cx="229302" cy="22249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ysClr val="windowText" lastClr="000000"/>
                </a:solidFill>
              </a:rPr>
              <a:t>5</a:t>
            </a:r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11DAAFAB-2577-CDB7-71A1-A71B391E272F}"/>
              </a:ext>
            </a:extLst>
          </p:cNvPr>
          <p:cNvSpPr/>
          <p:nvPr/>
        </p:nvSpPr>
        <p:spPr>
          <a:xfrm>
            <a:off x="11437063" y="2568362"/>
            <a:ext cx="229302" cy="22249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ysClr val="windowText" lastClr="000000"/>
                </a:solidFill>
              </a:rPr>
              <a:t>6</a:t>
            </a:r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532C2864-826C-AE91-4F94-B02EC22EB447}"/>
              </a:ext>
            </a:extLst>
          </p:cNvPr>
          <p:cNvSpPr/>
          <p:nvPr/>
        </p:nvSpPr>
        <p:spPr>
          <a:xfrm>
            <a:off x="7161102" y="2568362"/>
            <a:ext cx="229302" cy="22249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ysClr val="windowText" lastClr="000000"/>
                </a:solidFill>
              </a:rPr>
              <a:t>2</a:t>
            </a:r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BE8A4D54-AA06-7E89-CFA0-A32C5AE72426}"/>
              </a:ext>
            </a:extLst>
          </p:cNvPr>
          <p:cNvSpPr/>
          <p:nvPr/>
        </p:nvSpPr>
        <p:spPr>
          <a:xfrm>
            <a:off x="8449326" y="2568362"/>
            <a:ext cx="229302" cy="22249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ysClr val="windowText" lastClr="000000"/>
                </a:solidFill>
              </a:rPr>
              <a:t>3</a:t>
            </a:r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pic>
        <p:nvPicPr>
          <p:cNvPr id="2" name="그래픽 1" descr="돋보기">
            <a:extLst>
              <a:ext uri="{FF2B5EF4-FFF2-40B4-BE49-F238E27FC236}">
                <a16:creationId xmlns:a16="http://schemas.microsoft.com/office/drawing/2014/main" id="{FD58087C-06F8-734D-E7D9-7F1FCF4B7B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44305" y="1767370"/>
            <a:ext cx="427934" cy="427934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035EDF4-ED6C-12AF-2962-A4A372C93395}"/>
              </a:ext>
            </a:extLst>
          </p:cNvPr>
          <p:cNvSpPr/>
          <p:nvPr/>
        </p:nvSpPr>
        <p:spPr>
          <a:xfrm>
            <a:off x="3592750" y="1740354"/>
            <a:ext cx="5725643" cy="42793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dirty="0" err="1">
                <a:solidFill>
                  <a:schemeClr val="bg1">
                    <a:lumMod val="50000"/>
                  </a:schemeClr>
                </a:solidFill>
              </a:rPr>
              <a:t>매입처명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품목명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품목 번호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출고 번호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출고 일자 로 검색해 주세요</a:t>
            </a: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637B6932-1A15-CE55-99AE-CBE87ADBC39F}"/>
              </a:ext>
            </a:extLst>
          </p:cNvPr>
          <p:cNvSpPr/>
          <p:nvPr/>
        </p:nvSpPr>
        <p:spPr>
          <a:xfrm>
            <a:off x="9089091" y="1573168"/>
            <a:ext cx="229302" cy="22249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ysClr val="windowText" lastClr="000000"/>
                </a:solidFill>
              </a:rPr>
              <a:t>4</a:t>
            </a:r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5B2A45A7-67AF-903E-E170-4662BC6ADDA6}"/>
              </a:ext>
            </a:extLst>
          </p:cNvPr>
          <p:cNvSpPr/>
          <p:nvPr/>
        </p:nvSpPr>
        <p:spPr>
          <a:xfrm>
            <a:off x="2480953" y="1285740"/>
            <a:ext cx="1020858" cy="3975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   </a:t>
            </a:r>
            <a:r>
              <a:rPr lang="ko-KR" altLang="en-US" sz="2000" b="1" dirty="0">
                <a:solidFill>
                  <a:schemeClr val="tx1"/>
                </a:solidFill>
              </a:rPr>
              <a:t>검색</a:t>
            </a:r>
          </a:p>
        </p:txBody>
      </p:sp>
      <p:pic>
        <p:nvPicPr>
          <p:cNvPr id="28" name="그래픽 27" descr="돋보기">
            <a:extLst>
              <a:ext uri="{FF2B5EF4-FFF2-40B4-BE49-F238E27FC236}">
                <a16:creationId xmlns:a16="http://schemas.microsoft.com/office/drawing/2014/main" id="{FF09F266-8495-2ABE-0FA2-0887CDCE1C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27329" y="1351976"/>
            <a:ext cx="284258" cy="250929"/>
          </a:xfrm>
          <a:prstGeom prst="rect">
            <a:avLst/>
          </a:prstGeom>
        </p:spPr>
      </p:pic>
      <p:sp>
        <p:nvSpPr>
          <p:cNvPr id="29" name="직사각형 28">
            <a:extLst>
              <a:ext uri="{FF2B5EF4-FFF2-40B4-BE49-F238E27FC236}">
                <a16:creationId xmlns:a16="http://schemas.microsoft.com/office/drawing/2014/main" id="{328137EC-541E-66A8-F5C4-B77931829742}"/>
              </a:ext>
            </a:extLst>
          </p:cNvPr>
          <p:cNvSpPr/>
          <p:nvPr/>
        </p:nvSpPr>
        <p:spPr>
          <a:xfrm>
            <a:off x="2127329" y="1741335"/>
            <a:ext cx="1381089" cy="30502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전체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0" name="순서도: 병합 29">
            <a:extLst>
              <a:ext uri="{FF2B5EF4-FFF2-40B4-BE49-F238E27FC236}">
                <a16:creationId xmlns:a16="http://schemas.microsoft.com/office/drawing/2014/main" id="{8874BD0B-F5A8-71D3-3E4D-EA4414AD4BEE}"/>
              </a:ext>
            </a:extLst>
          </p:cNvPr>
          <p:cNvSpPr/>
          <p:nvPr/>
        </p:nvSpPr>
        <p:spPr>
          <a:xfrm>
            <a:off x="2253242" y="1828952"/>
            <a:ext cx="117382" cy="117382"/>
          </a:xfrm>
          <a:prstGeom prst="flowChartMerg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264FC59A-916E-9627-8821-356D4D27A298}"/>
              </a:ext>
            </a:extLst>
          </p:cNvPr>
          <p:cNvSpPr/>
          <p:nvPr/>
        </p:nvSpPr>
        <p:spPr>
          <a:xfrm>
            <a:off x="2127329" y="2033952"/>
            <a:ext cx="1381089" cy="115828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</a:t>
            </a:r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매입처명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품목명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품목번호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출고 번호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출고 일자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</a:t>
            </a:r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FB309791-DF95-CD45-39FD-8DAE098C9333}"/>
              </a:ext>
            </a:extLst>
          </p:cNvPr>
          <p:cNvSpPr/>
          <p:nvPr/>
        </p:nvSpPr>
        <p:spPr>
          <a:xfrm>
            <a:off x="1962286" y="1592840"/>
            <a:ext cx="229302" cy="22249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ysClr val="windowText" lastClr="000000"/>
                </a:solidFill>
              </a:rPr>
              <a:t>1</a:t>
            </a:r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D4CD2538-2A9E-FEA9-C419-C99C6C8A83EB}"/>
              </a:ext>
            </a:extLst>
          </p:cNvPr>
          <p:cNvSpPr/>
          <p:nvPr/>
        </p:nvSpPr>
        <p:spPr>
          <a:xfrm>
            <a:off x="9375025" y="4616686"/>
            <a:ext cx="1338051" cy="49922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EXCEL</a:t>
            </a:r>
            <a:r>
              <a:rPr lang="ko-KR" altLang="en-US" sz="1200" dirty="0"/>
              <a:t>다운로드</a:t>
            </a: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A7344646-0283-B5A6-1DBA-E33B57CBA82F}"/>
              </a:ext>
            </a:extLst>
          </p:cNvPr>
          <p:cNvSpPr/>
          <p:nvPr/>
        </p:nvSpPr>
        <p:spPr>
          <a:xfrm>
            <a:off x="9260374" y="4785791"/>
            <a:ext cx="229302" cy="22249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ysClr val="windowText" lastClr="000000"/>
                </a:solidFill>
              </a:rPr>
              <a:t>7</a:t>
            </a:r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5CAA183A-A373-504D-60CC-FE08B34DF9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4206" y="6282943"/>
            <a:ext cx="3657788" cy="539778"/>
          </a:xfrm>
          <a:prstGeom prst="rect">
            <a:avLst/>
          </a:prstGeom>
        </p:spPr>
      </p:pic>
      <p:sp>
        <p:nvSpPr>
          <p:cNvPr id="36" name="타원 35">
            <a:extLst>
              <a:ext uri="{FF2B5EF4-FFF2-40B4-BE49-F238E27FC236}">
                <a16:creationId xmlns:a16="http://schemas.microsoft.com/office/drawing/2014/main" id="{802D3E19-7E06-66C3-CB74-CE4EC977C9B2}"/>
              </a:ext>
            </a:extLst>
          </p:cNvPr>
          <p:cNvSpPr/>
          <p:nvPr/>
        </p:nvSpPr>
        <p:spPr>
          <a:xfrm>
            <a:off x="4570528" y="6302292"/>
            <a:ext cx="229302" cy="22249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ysClr val="windowText" lastClr="000000"/>
                </a:solidFill>
              </a:rPr>
              <a:t>8</a:t>
            </a:r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76209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1545</TotalTime>
  <Words>1308</Words>
  <Application>Microsoft Office PowerPoint</Application>
  <PresentationFormat>와이드스크린</PresentationFormat>
  <Paragraphs>792</Paragraphs>
  <Slides>12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5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codehows</dc:creator>
  <cp:lastModifiedBy>codehows</cp:lastModifiedBy>
  <cp:revision>4</cp:revision>
  <dcterms:created xsi:type="dcterms:W3CDTF">2025-10-02T08:41:46Z</dcterms:created>
  <dcterms:modified xsi:type="dcterms:W3CDTF">2025-10-14T08:12:39Z</dcterms:modified>
</cp:coreProperties>
</file>