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31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8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1.png"/><Relationship Id="rId21" Type="http://schemas.openxmlformats.org/officeDocument/2006/relationships/image" Target="../media/image61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24" Type="http://schemas.openxmlformats.org/officeDocument/2006/relationships/image" Target="../media/image33.png"/><Relationship Id="rId5" Type="http://schemas.openxmlformats.org/officeDocument/2006/relationships/image" Target="../media/image46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13.png"/><Relationship Id="rId19" Type="http://schemas.openxmlformats.org/officeDocument/2006/relationships/image" Target="../media/image59.png"/><Relationship Id="rId4" Type="http://schemas.openxmlformats.org/officeDocument/2006/relationships/image" Target="../media/image8.png"/><Relationship Id="rId9" Type="http://schemas.openxmlformats.org/officeDocument/2006/relationships/image" Target="../media/image50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1.png"/><Relationship Id="rId21" Type="http://schemas.openxmlformats.org/officeDocument/2006/relationships/image" Target="../media/image33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8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1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8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" Type="http://schemas.openxmlformats.org/officeDocument/2006/relationships/image" Target="../media/image1.png"/><Relationship Id="rId21" Type="http://schemas.openxmlformats.org/officeDocument/2006/relationships/image" Target="../media/image112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5.png"/><Relationship Id="rId5" Type="http://schemas.openxmlformats.org/officeDocument/2006/relationships/image" Target="../media/image97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28" Type="http://schemas.openxmlformats.org/officeDocument/2006/relationships/image" Target="../media/image119.png"/><Relationship Id="rId10" Type="http://schemas.openxmlformats.org/officeDocument/2006/relationships/image" Target="../media/image102.png"/><Relationship Id="rId19" Type="http://schemas.openxmlformats.org/officeDocument/2006/relationships/image" Target="../media/image110.png"/><Relationship Id="rId4" Type="http://schemas.openxmlformats.org/officeDocument/2006/relationships/image" Target="../media/image8.png"/><Relationship Id="rId9" Type="http://schemas.openxmlformats.org/officeDocument/2006/relationships/image" Target="../media/image101.png"/><Relationship Id="rId14" Type="http://schemas.openxmlformats.org/officeDocument/2006/relationships/image" Target="../media/image3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1.png"/><Relationship Id="rId21" Type="http://schemas.openxmlformats.org/officeDocument/2006/relationships/image" Target="../media/image136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33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4" Type="http://schemas.openxmlformats.org/officeDocument/2006/relationships/image" Target="../media/image8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8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0.png"/><Relationship Id="rId10" Type="http://schemas.openxmlformats.org/officeDocument/2006/relationships/image" Target="../media/image166.png"/><Relationship Id="rId4" Type="http://schemas.openxmlformats.org/officeDocument/2006/relationships/image" Target="../media/image8.png"/><Relationship Id="rId9" Type="http://schemas.openxmlformats.org/officeDocument/2006/relationships/image" Target="../media/image165.png"/><Relationship Id="rId14" Type="http://schemas.openxmlformats.org/officeDocument/2006/relationships/image" Target="../media/image15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3" Type="http://schemas.openxmlformats.org/officeDocument/2006/relationships/image" Target="../media/image1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5" Type="http://schemas.openxmlformats.org/officeDocument/2006/relationships/image" Target="../media/image33.png"/><Relationship Id="rId10" Type="http://schemas.openxmlformats.org/officeDocument/2006/relationships/image" Target="../media/image176.png"/><Relationship Id="rId4" Type="http://schemas.openxmlformats.org/officeDocument/2006/relationships/image" Target="../media/image8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121920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334000"/>
            <a:ext cx="15240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451" y="2276475"/>
            <a:ext cx="182880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651" y="3429000"/>
            <a:ext cx="914400" cy="76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6767" y="4505325"/>
            <a:ext cx="4398318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059975" y="1628775"/>
            <a:ext cx="8071902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</a:t>
            </a:r>
            <a:endParaRPr lang="en-US" sz="4500" dirty="0"/>
          </a:p>
        </p:txBody>
      </p:sp>
      <p:sp>
        <p:nvSpPr>
          <p:cNvPr id="10" name="Text 1"/>
          <p:cNvSpPr/>
          <p:nvPr/>
        </p:nvSpPr>
        <p:spPr>
          <a:xfrm>
            <a:off x="2059975" y="2562225"/>
            <a:ext cx="807190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탄소 배출 모니터링 시스템</a:t>
            </a:r>
            <a:endParaRPr lang="en-US" sz="2250" dirty="0"/>
          </a:p>
        </p:txBody>
      </p:sp>
      <p:sp>
        <p:nvSpPr>
          <p:cNvPr id="11" name="Text 2"/>
          <p:cNvSpPr/>
          <p:nvPr/>
        </p:nvSpPr>
        <p:spPr>
          <a:xfrm>
            <a:off x="4125367" y="4619625"/>
            <a:ext cx="39411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3M-BMS 팀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3731255" y="4924425"/>
            <a:ext cx="47293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팀원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류민우, </a:t>
            </a:r>
            <a:r>
              <a:rPr lang="ko-KR" alt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김억근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홍석민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" y="-11430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59055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9906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752600"/>
            <a:ext cx="3708350" cy="1295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905000"/>
            <a:ext cx="28575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009775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752600"/>
            <a:ext cx="3708350" cy="1295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150" y="1905000"/>
            <a:ext cx="2857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0350" y="2009775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8701" y="1752600"/>
            <a:ext cx="3708499" cy="1295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1101" y="1905000"/>
            <a:ext cx="28575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301" y="2009775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4267200"/>
            <a:ext cx="182880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438150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4900" y="4438650"/>
            <a:ext cx="321469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9800" y="4267200"/>
            <a:ext cx="182880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24100" y="43815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90788" y="4533900"/>
            <a:ext cx="23812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09900" y="4438650"/>
            <a:ext cx="638026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4800" y="4267200"/>
            <a:ext cx="1828800" cy="800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29100" y="43815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29125" y="4533900"/>
            <a:ext cx="17145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14900" y="4438650"/>
            <a:ext cx="619125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5181600"/>
            <a:ext cx="1828800" cy="800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100" y="529590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3413" y="5448300"/>
            <a:ext cx="142875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4900" y="5353050"/>
            <a:ext cx="575816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0" y="3886200"/>
            <a:ext cx="5791200" cy="2209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48400" y="5029200"/>
            <a:ext cx="2667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5133975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3M-BMS 팀 소개</a:t>
            </a:r>
            <a:endParaRPr lang="en-US" sz="2250" dirty="0"/>
          </a:p>
        </p:txBody>
      </p:sp>
      <p:sp>
        <p:nvSpPr>
          <p:cNvPr id="35" name="Text 1"/>
          <p:cNvSpPr/>
          <p:nvPr/>
        </p:nvSpPr>
        <p:spPr>
          <a:xfrm>
            <a:off x="1123950" y="876300"/>
            <a:ext cx="289887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 구성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1123950" y="1181100"/>
            <a:ext cx="34786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총 3명의 개발자로 구성되어 있습니다</a:t>
            </a:r>
            <a:endParaRPr lang="en-US" sz="1350" dirty="0"/>
          </a:p>
        </p:txBody>
      </p:sp>
      <p:sp>
        <p:nvSpPr>
          <p:cNvPr id="37" name="Text 3"/>
          <p:cNvSpPr/>
          <p:nvPr/>
        </p:nvSpPr>
        <p:spPr>
          <a:xfrm>
            <a:off x="857250" y="1962150"/>
            <a:ext cx="11544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팀장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류민우</a:t>
            </a:r>
            <a:endParaRPr lang="en-US" sz="1500" dirty="0"/>
          </a:p>
        </p:txBody>
      </p:sp>
      <p:sp>
        <p:nvSpPr>
          <p:cNvPr id="38" name="Text 4"/>
          <p:cNvSpPr/>
          <p:nvPr/>
        </p:nvSpPr>
        <p:spPr>
          <a:xfrm>
            <a:off x="457200" y="2400300"/>
            <a:ext cx="3403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게임소프트웨어 전공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457200" y="27051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DB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및 </a:t>
            </a: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프론트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전반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전체 총괄</a:t>
            </a:r>
            <a:endParaRPr lang="en-US" sz="1050" dirty="0"/>
          </a:p>
        </p:txBody>
      </p:sp>
      <p:sp>
        <p:nvSpPr>
          <p:cNvPr id="40" name="Text 6"/>
          <p:cNvSpPr/>
          <p:nvPr/>
        </p:nvSpPr>
        <p:spPr>
          <a:xfrm>
            <a:off x="4794200" y="1962150"/>
            <a:ext cx="130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팀원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</a:t>
            </a:r>
            <a:r>
              <a:rPr lang="ko-KR" alt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김억근</a:t>
            </a:r>
            <a:endParaRPr lang="en-US" sz="1500" dirty="0"/>
          </a:p>
        </p:txBody>
      </p:sp>
      <p:sp>
        <p:nvSpPr>
          <p:cNvPr id="41" name="Text 7"/>
          <p:cNvSpPr/>
          <p:nvPr/>
        </p:nvSpPr>
        <p:spPr>
          <a:xfrm>
            <a:off x="4394150" y="2400300"/>
            <a:ext cx="3403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기계공학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전공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4394150" y="27051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화면설계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및 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서버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개발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8731150" y="1962150"/>
            <a:ext cx="11951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팀원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</a:t>
            </a:r>
            <a:r>
              <a:rPr lang="ko-KR" alt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홍석민</a:t>
            </a:r>
            <a:endParaRPr lang="en-US" sz="1500" dirty="0"/>
          </a:p>
        </p:txBody>
      </p:sp>
      <p:sp>
        <p:nvSpPr>
          <p:cNvPr id="44" name="Text 10"/>
          <p:cNvSpPr/>
          <p:nvPr/>
        </p:nvSpPr>
        <p:spPr>
          <a:xfrm>
            <a:off x="8331101" y="2400300"/>
            <a:ext cx="34036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비전공자</a:t>
            </a:r>
            <a:endParaRPr lang="en-US" sz="1200" dirty="0"/>
          </a:p>
        </p:txBody>
      </p:sp>
      <p:sp>
        <p:nvSpPr>
          <p:cNvPr id="45" name="Text 11"/>
          <p:cNvSpPr/>
          <p:nvPr/>
        </p:nvSpPr>
        <p:spPr>
          <a:xfrm>
            <a:off x="8331101" y="2705100"/>
            <a:ext cx="3403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화면설계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및  </a:t>
            </a:r>
            <a:r>
              <a:rPr lang="en-US" altLang="ko-KR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서버</a:t>
            </a:r>
            <a:r>
              <a:rPr lang="en-US" altLang="ko-KR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개발</a:t>
            </a:r>
            <a:endParaRPr lang="en-US" altLang="ko-KR" sz="1050" dirty="0"/>
          </a:p>
        </p:txBody>
      </p:sp>
      <p:sp>
        <p:nvSpPr>
          <p:cNvPr id="46" name="Text 12"/>
          <p:cNvSpPr/>
          <p:nvPr/>
        </p:nvSpPr>
        <p:spPr>
          <a:xfrm>
            <a:off x="304800" y="34290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팀명 유래</a:t>
            </a:r>
            <a:endParaRPr lang="en-US" sz="1800" dirty="0"/>
          </a:p>
        </p:txBody>
      </p:sp>
      <p:sp>
        <p:nvSpPr>
          <p:cNvPr id="47" name="Text 13"/>
          <p:cNvSpPr/>
          <p:nvPr/>
        </p:nvSpPr>
        <p:spPr>
          <a:xfrm>
            <a:off x="304800" y="3886200"/>
            <a:ext cx="563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4M 기법에서 착안</a:t>
            </a:r>
            <a:endParaRPr lang="en-US" sz="1500" dirty="0"/>
          </a:p>
        </p:txBody>
      </p:sp>
      <p:sp>
        <p:nvSpPr>
          <p:cNvPr id="48" name="Text 14"/>
          <p:cNvSpPr/>
          <p:nvPr/>
        </p:nvSpPr>
        <p:spPr>
          <a:xfrm>
            <a:off x="1104900" y="4438650"/>
            <a:ext cx="3857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3Man</a:t>
            </a:r>
            <a:endParaRPr lang="en-US" sz="1200" dirty="0"/>
          </a:p>
        </p:txBody>
      </p:sp>
      <p:sp>
        <p:nvSpPr>
          <p:cNvPr id="49" name="Text 15"/>
          <p:cNvSpPr/>
          <p:nvPr/>
        </p:nvSpPr>
        <p:spPr>
          <a:xfrm>
            <a:off x="1104900" y="4667250"/>
            <a:ext cx="32146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사람</a:t>
            </a:r>
            <a:endParaRPr lang="en-US" sz="1050" dirty="0"/>
          </a:p>
        </p:txBody>
      </p:sp>
      <p:sp>
        <p:nvSpPr>
          <p:cNvPr id="50" name="Text 16"/>
          <p:cNvSpPr/>
          <p:nvPr/>
        </p:nvSpPr>
        <p:spPr>
          <a:xfrm>
            <a:off x="3009900" y="4438650"/>
            <a:ext cx="7656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Machine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3009900" y="4667250"/>
            <a:ext cx="63802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컴퓨터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4914900" y="4438650"/>
            <a:ext cx="7429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Material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4914900" y="4667250"/>
            <a:ext cx="6191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재료</a:t>
            </a:r>
            <a:endParaRPr lang="en-US" sz="1050" dirty="0"/>
          </a:p>
        </p:txBody>
      </p:sp>
      <p:sp>
        <p:nvSpPr>
          <p:cNvPr id="54" name="Text 20"/>
          <p:cNvSpPr/>
          <p:nvPr/>
        </p:nvSpPr>
        <p:spPr>
          <a:xfrm>
            <a:off x="1104900" y="5353050"/>
            <a:ext cx="6909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</a:t>
            </a:r>
            <a:endParaRPr lang="en-US" sz="1200" dirty="0"/>
          </a:p>
        </p:txBody>
      </p:sp>
      <p:sp>
        <p:nvSpPr>
          <p:cNvPr id="55" name="Text 21"/>
          <p:cNvSpPr/>
          <p:nvPr/>
        </p:nvSpPr>
        <p:spPr>
          <a:xfrm>
            <a:off x="1104900" y="558165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개발 방법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6248400" y="3886200"/>
            <a:ext cx="563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3M-BMS의 의미</a:t>
            </a:r>
            <a:endParaRPr lang="en-US" sz="1500" dirty="0"/>
          </a:p>
        </p:txBody>
      </p:sp>
      <p:sp>
        <p:nvSpPr>
          <p:cNvPr id="57" name="Text 23"/>
          <p:cNvSpPr/>
          <p:nvPr/>
        </p:nvSpPr>
        <p:spPr>
          <a:xfrm>
            <a:off x="6248400" y="4267200"/>
            <a:ext cx="6766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3M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4M 기법에서 </a:t>
            </a:r>
            <a:r>
              <a:rPr lang="en-US" sz="12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사람(Man), 컴퓨터(Machine), 개발 방법(Method)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 집중</a:t>
            </a:r>
            <a:endParaRPr lang="en-US" sz="1200" dirty="0"/>
          </a:p>
        </p:txBody>
      </p:sp>
      <p:sp>
        <p:nvSpPr>
          <p:cNvPr id="58" name="Text 24"/>
          <p:cNvSpPr/>
          <p:nvPr/>
        </p:nvSpPr>
        <p:spPr>
          <a:xfrm>
            <a:off x="6248400" y="4572000"/>
            <a:ext cx="6766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BMS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팀원 3명의 체격이 각각 </a:t>
            </a:r>
            <a:r>
              <a:rPr lang="en-US" sz="12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Big, Middle, Small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이어서 조합함</a:t>
            </a:r>
            <a:endParaRPr lang="en-US" sz="1200" dirty="0"/>
          </a:p>
        </p:txBody>
      </p:sp>
      <p:sp>
        <p:nvSpPr>
          <p:cNvPr id="59" name="Text 25"/>
          <p:cNvSpPr/>
          <p:nvPr/>
        </p:nvSpPr>
        <p:spPr>
          <a:xfrm>
            <a:off x="6629400" y="5105400"/>
            <a:ext cx="5494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제조업에서 널리 사용되는 4M 기법에서 착안하여 팀의 특성을 반영</a:t>
            </a:r>
            <a:endParaRPr lang="en-US" sz="1200" dirty="0"/>
          </a:p>
        </p:txBody>
      </p:sp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D2AE7D1C-D913-861B-6ADB-92CA0BB5C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3" y="4516120"/>
            <a:ext cx="3619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00100"/>
            <a:ext cx="5638800" cy="13144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9525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10572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266950"/>
            <a:ext cx="5638800" cy="2286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800100"/>
            <a:ext cx="5638800" cy="1314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9525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688" y="1057275"/>
            <a:ext cx="1428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266950"/>
            <a:ext cx="563880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41935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252412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3371850"/>
            <a:ext cx="56388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524250"/>
            <a:ext cx="3048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36290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배출과 기업 환경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971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개념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381000" y="150495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인간과 기업의 산업 활동에서 발생한 온실가스가 대기 중으로 방출되는 현상으로, 지구 온난화가 가속화되고 있습니다.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7067550" y="952500"/>
            <a:ext cx="533400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 환경에서의 영향</a:t>
            </a:r>
            <a:endParaRPr lang="en-US" sz="1800" dirty="0"/>
          </a:p>
        </p:txBody>
      </p:sp>
      <p:sp>
        <p:nvSpPr>
          <p:cNvPr id="22" name="Text 4"/>
          <p:cNvSpPr/>
          <p:nvPr/>
        </p:nvSpPr>
        <p:spPr>
          <a:xfrm>
            <a:off x="6477000" y="1504950"/>
            <a:ext cx="5334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환경 문제는 이제 선택이 아니라 기업 경영에 </a:t>
            </a: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직접적인 영향을 미치는 핵심 요소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입니다。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6934200" y="2381250"/>
            <a:ext cx="4914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 대응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6934200" y="2686050"/>
            <a:ext cx="49149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관리는 새로운 환경 규제에 적절히 대응하기 위해 필수적입니다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6896100" y="3486150"/>
            <a:ext cx="40936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비용 관리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6896100" y="3790950"/>
            <a:ext cx="491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배출량 감소로 에너지 비용 절감 및 향来的 탄소세 대비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827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11582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66800"/>
            <a:ext cx="3810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181100"/>
            <a:ext cx="1524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95500"/>
            <a:ext cx="5562600" cy="4400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286000"/>
            <a:ext cx="28575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39077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162300"/>
            <a:ext cx="8572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276600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6850" y="3162300"/>
            <a:ext cx="9525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1150" y="32766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3650" y="3162300"/>
            <a:ext cx="1115318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47950" y="3276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63268" y="3162300"/>
            <a:ext cx="108585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77568" y="32766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300" y="3848100"/>
            <a:ext cx="2667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952875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095500"/>
            <a:ext cx="5562600" cy="44005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2286000"/>
            <a:ext cx="2667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2390775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86625" y="3881438"/>
            <a:ext cx="3638550" cy="18954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생각보다 밀접한 탄소 배출</a:t>
            </a:r>
          </a:p>
        </p:txBody>
      </p:sp>
      <p:sp>
        <p:nvSpPr>
          <p:cNvPr id="26" name="Text 1"/>
          <p:cNvSpPr/>
          <p:nvPr/>
        </p:nvSpPr>
        <p:spPr>
          <a:xfrm>
            <a:off x="1028700" y="1181100"/>
            <a:ext cx="961816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895350" y="2343150"/>
            <a:ext cx="2396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495300" y="28194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오늘 이곳에 오실 때 다양한 방법으로 오셨을 겁니다: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781050" y="3238500"/>
            <a:ext cx="548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걸어서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847850" y="3238500"/>
            <a:ext cx="548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자전거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2876550" y="3238500"/>
            <a:ext cx="7897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 차량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4125218" y="32385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대중교통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876300" y="3924300"/>
            <a:ext cx="40174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대부분의 사람은 탄소 배출량을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잘 모르실 겁니다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896100" y="2343150"/>
            <a:ext cx="25247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기업의 탄소 관리 필요성</a:t>
            </a:r>
            <a:endParaRPr lang="en-US" sz="1500" dirty="0"/>
          </a:p>
        </p:txBody>
      </p:sp>
      <p:sp>
        <p:nvSpPr>
          <p:cNvPr id="36" name="Text 11"/>
          <p:cNvSpPr/>
          <p:nvPr/>
        </p:nvSpPr>
        <p:spPr>
          <a:xfrm>
            <a:off x="6515100" y="2819400"/>
            <a:ext cx="518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이처럼 개인은 잘 인식하지 못하고 지나가지만,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515100" y="320040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기업의 입장에서는 이제 탄소 배출을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'모를 수 없는'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시대가 되었습니다.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515100" y="6076950"/>
            <a:ext cx="6217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그렇다면, </a:t>
            </a:r>
            <a:r>
              <a:rPr lang="en-US" sz="1200" b="1" dirty="0">
                <a:solidFill>
                  <a:srgbClr val="2E8B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기업은 왜 반드시 탄소 배출을 관리해야 할까요?</a:t>
            </a:r>
            <a:endParaRPr 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C12A8-BC76-E73A-FFC9-34B0D6242ECF}"/>
              </a:ext>
            </a:extLst>
          </p:cNvPr>
          <p:cNvSpPr txBox="1"/>
          <p:nvPr/>
        </p:nvSpPr>
        <p:spPr>
          <a:xfrm>
            <a:off x="819150" y="2286000"/>
            <a:ext cx="3407617" cy="381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altLang="ko-KR" sz="18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오늘</a:t>
            </a:r>
            <a:r>
              <a:rPr lang="en-US" altLang="ko-KR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8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여기까지</a:t>
            </a:r>
            <a:r>
              <a:rPr lang="en-US" altLang="ko-KR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어떻게 오셨나요</a:t>
            </a:r>
            <a:r>
              <a:rPr lang="en-US" altLang="ko-KR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?</a:t>
            </a:r>
            <a:endParaRPr lang="en-US" altLang="ko-KR" sz="1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145134-76C2-C01B-833B-9D6BA353BF8E}"/>
              </a:ext>
            </a:extLst>
          </p:cNvPr>
          <p:cNvSpPr txBox="1"/>
          <p:nvPr/>
        </p:nvSpPr>
        <p:spPr>
          <a:xfrm>
            <a:off x="971550" y="1128858"/>
            <a:ext cx="3407617" cy="381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저희 </a:t>
            </a:r>
            <a:r>
              <a:rPr lang="ko-KR" altLang="en-US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생활속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ko-KR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?</a:t>
            </a:r>
            <a:endParaRPr lang="en-US" altLang="ko-KR" sz="1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5676900" cy="1809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668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8" y="1152525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876300"/>
            <a:ext cx="5676900" cy="1809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0668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1152525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914650"/>
            <a:ext cx="5676900" cy="1809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1051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319087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914650"/>
            <a:ext cx="5676900" cy="1809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1051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4625" y="3190875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5124450"/>
            <a:ext cx="11582400" cy="1371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5391150"/>
            <a:ext cx="295275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467350"/>
            <a:ext cx="1428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1075" y="60769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48793" y="60769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16511" y="607695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93729" y="60769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글로벌 탄소 정책 동향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1123950" y="1171575"/>
            <a:ext cx="457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미국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104900" y="165735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IRA (인플레이션 감축법)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1104900" y="2000250"/>
            <a:ext cx="5623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탄소배출 감축과 환경 보호를 위한 국가규모의 정책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104900" y="2266950"/>
            <a:ext cx="4686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재생에너지 및 친환경 자동차에 대한 세제 지원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7029450" y="1171575"/>
            <a:ext cx="3418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7010400" y="165735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CBAM (탄소국경조정제도)</a:t>
            </a:r>
            <a:endParaRPr lang="en-US" sz="1350" dirty="0"/>
          </a:p>
        </p:txBody>
      </p:sp>
      <p:sp>
        <p:nvSpPr>
          <p:cNvPr id="31" name="Text 7"/>
          <p:cNvSpPr/>
          <p:nvPr/>
        </p:nvSpPr>
        <p:spPr>
          <a:xfrm>
            <a:off x="7010400" y="2000250"/>
            <a:ext cx="4686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수입화물에 대한 탄소비용 부과 제도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7010400" y="2266950"/>
            <a:ext cx="4686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국내 기업의 경쟁력을 유지하기 위한 보호조치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1123950" y="320992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대한민국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1104900" y="36957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탄소중립 및 감축 목표</a:t>
            </a:r>
            <a:endParaRPr lang="en-US" sz="1350" dirty="0"/>
          </a:p>
        </p:txBody>
      </p:sp>
      <p:sp>
        <p:nvSpPr>
          <p:cNvPr id="35" name="Text 11"/>
          <p:cNvSpPr/>
          <p:nvPr/>
        </p:nvSpPr>
        <p:spPr>
          <a:xfrm>
            <a:off x="1104900" y="4038600"/>
            <a:ext cx="4686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2050년 탄소중립 선언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1104900" y="4305300"/>
            <a:ext cx="5623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2030년까지 온실가스 40% 감축 목표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7029450" y="3209925"/>
            <a:ext cx="457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일본</a:t>
            </a:r>
            <a:endParaRPr lang="en-US" sz="1500" dirty="0"/>
          </a:p>
        </p:txBody>
      </p:sp>
      <p:sp>
        <p:nvSpPr>
          <p:cNvPr id="38" name="Text 14"/>
          <p:cNvSpPr/>
          <p:nvPr/>
        </p:nvSpPr>
        <p:spPr>
          <a:xfrm>
            <a:off x="7010400" y="36957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GX 전략 및 CCS 기술 확대</a:t>
            </a:r>
            <a:endParaRPr lang="en-US" sz="1350" dirty="0"/>
          </a:p>
        </p:txBody>
      </p:sp>
      <p:sp>
        <p:nvSpPr>
          <p:cNvPr id="39" name="Text 15"/>
          <p:cNvSpPr/>
          <p:nvPr/>
        </p:nvSpPr>
        <p:spPr>
          <a:xfrm>
            <a:off x="7010400" y="4038600"/>
            <a:ext cx="5623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탄소발자국 감소를 위한 GX (그린 엑스) 전략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7010400" y="4305300"/>
            <a:ext cx="4686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CCS(탄소포함화석연료) 기술 개발 및 확산</a:t>
            </a:r>
            <a:endParaRPr lang="en-US" sz="1200" dirty="0"/>
          </a:p>
        </p:txBody>
      </p:sp>
      <p:sp>
        <p:nvSpPr>
          <p:cNvPr id="41" name="Text 17"/>
          <p:cNvSpPr/>
          <p:nvPr/>
        </p:nvSpPr>
        <p:spPr>
          <a:xfrm>
            <a:off x="981075" y="5353050"/>
            <a:ext cx="8157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기업의 대응 필요성</a:t>
            </a:r>
            <a:endParaRPr lang="en-US" sz="1500" dirty="0"/>
          </a:p>
        </p:txBody>
      </p:sp>
      <p:sp>
        <p:nvSpPr>
          <p:cNvPr id="42" name="Text 18"/>
          <p:cNvSpPr/>
          <p:nvPr/>
        </p:nvSpPr>
        <p:spPr>
          <a:xfrm>
            <a:off x="981075" y="5695950"/>
            <a:ext cx="97887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이러한 흐름 속에서 기업은 더 이상 감각적인 추정이 아닌, </a:t>
            </a:r>
            <a:r>
              <a:rPr lang="en-US" sz="12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정량적이고 체계적인 탄소 관리 시스템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을 요구받고 있습니다.</a:t>
            </a:r>
            <a:endParaRPr lang="en-US" sz="1200" dirty="0"/>
          </a:p>
        </p:txBody>
      </p:sp>
      <p:sp>
        <p:nvSpPr>
          <p:cNvPr id="43" name="Text 19"/>
          <p:cNvSpPr/>
          <p:nvPr/>
        </p:nvSpPr>
        <p:spPr>
          <a:xfrm>
            <a:off x="1209675" y="6038850"/>
            <a:ext cx="9726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정량적 분석</a:t>
            </a:r>
            <a:endParaRPr lang="en-US" sz="1200" dirty="0"/>
          </a:p>
        </p:txBody>
      </p:sp>
      <p:sp>
        <p:nvSpPr>
          <p:cNvPr id="44" name="Text 20"/>
          <p:cNvSpPr/>
          <p:nvPr/>
        </p:nvSpPr>
        <p:spPr>
          <a:xfrm>
            <a:off x="2477393" y="6038850"/>
            <a:ext cx="9726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체계적 관리</a:t>
            </a:r>
            <a:endParaRPr lang="en-US" sz="1200" dirty="0"/>
          </a:p>
        </p:txBody>
      </p:sp>
      <p:sp>
        <p:nvSpPr>
          <p:cNvPr id="45" name="Text 21"/>
          <p:cNvSpPr/>
          <p:nvPr/>
        </p:nvSpPr>
        <p:spPr>
          <a:xfrm>
            <a:off x="3707011" y="6038850"/>
            <a:ext cx="7897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 대응</a:t>
            </a: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4822329" y="6038850"/>
            <a:ext cx="7897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비용 관리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55245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990600"/>
            <a:ext cx="3238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752600"/>
            <a:ext cx="5638800" cy="26098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400300"/>
            <a:ext cx="2667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505075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2004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3051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752600"/>
            <a:ext cx="5638800" cy="26098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3622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2466975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2895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7963" y="3133725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6957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7488" y="3800475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4667250"/>
            <a:ext cx="11582400" cy="914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5300" y="4857750"/>
            <a:ext cx="40005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4972050"/>
            <a:ext cx="17145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현대정밀의 과제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1085850" y="876300"/>
            <a:ext cx="660037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유럽 수출 기업으로서의 과제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085850" y="1181100"/>
            <a:ext cx="792045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제품을 생산하는 과정에서 발생한 탄소 배출량에 대해 탄소 비용을 부담해야 하는 상황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495300" y="19431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 관리 필요성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876300" y="2362200"/>
            <a:ext cx="45552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1과 Scope 3 기준에 따라 체계적으로 관리 필요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876300" y="2628900"/>
            <a:ext cx="37960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Scope 1: 직접적인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배출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1028700" y="2819400"/>
            <a:ext cx="43723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Scope 3: 간접적인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05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배출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914400" y="3162300"/>
            <a:ext cx="35825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정량적이고 체계적인 탄소 관리 시스템 요구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914400" y="3429000"/>
            <a:ext cx="35825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감각적인 추정이 아닌 정확한 데이터 수집 및 분석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6438900" y="19431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기존 방식의 문제점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7067550" y="2362200"/>
            <a:ext cx="27928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7067550" y="2628900"/>
            <a:ext cx="279284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7067550" y="3028950"/>
            <a:ext cx="303395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목표 대비 실제 배출량 비교가 어려움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067550" y="3295650"/>
            <a:ext cx="303395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7067550" y="3695700"/>
            <a:ext cx="33455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담당자가 한눈에 현황을 파악하기 어려움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067550" y="3962400"/>
            <a:ext cx="33455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전반적인 탄소 배출 추세와 원인 분석의 어려움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1047750" y="4857750"/>
            <a:ext cx="56660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해결 방향</a:t>
            </a:r>
            <a:endParaRPr lang="en-US" sz="1500" dirty="0"/>
          </a:p>
        </p:txBody>
      </p:sp>
      <p:sp>
        <p:nvSpPr>
          <p:cNvPr id="39" name="Text 17"/>
          <p:cNvSpPr/>
          <p:nvPr/>
        </p:nvSpPr>
        <p:spPr>
          <a:xfrm>
            <a:off x="1047750" y="5162550"/>
            <a:ext cx="67992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데이터를 기반으로 한 탄소 배출 모니터링 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통해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해결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38200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257300"/>
            <a:ext cx="57150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4097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1495425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03835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2514600"/>
            <a:ext cx="5715000" cy="1333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667000"/>
            <a:ext cx="460623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937" y="2752725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023" y="352425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4000500"/>
            <a:ext cx="571500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41529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825" y="4238625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478155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800100"/>
            <a:ext cx="5867400" cy="53149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838200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1257300"/>
            <a:ext cx="5715000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140970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29388" y="1495425"/>
            <a:ext cx="21907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29450" y="2038350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2514600"/>
            <a:ext cx="5715000" cy="1104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2667000"/>
            <a:ext cx="476250" cy="4762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2752725"/>
            <a:ext cx="28575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29450" y="329565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3771900"/>
            <a:ext cx="5715000" cy="1104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3924300"/>
            <a:ext cx="476250" cy="4762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24625" y="4010025"/>
            <a:ext cx="2286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29450" y="4552950"/>
            <a:ext cx="1333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343650"/>
            <a:ext cx="121920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8600" y="6486525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기술 스택</a:t>
            </a:r>
            <a:endParaRPr lang="en-US" sz="2250" dirty="0"/>
          </a:p>
        </p:txBody>
      </p:sp>
      <p:sp>
        <p:nvSpPr>
          <p:cNvPr id="35" name="Text 1"/>
          <p:cNvSpPr/>
          <p:nvPr/>
        </p:nvSpPr>
        <p:spPr>
          <a:xfrm>
            <a:off x="590550" y="80010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프론트엔드 스택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1009650" y="1409700"/>
            <a:ext cx="55856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React 18 + TypeScript + Vite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1009650" y="1714500"/>
            <a:ext cx="55856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컴포넌트 기반 구조를 통해 화면 단위별 재사용성과 유지보수를 고려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181100" y="2019300"/>
            <a:ext cx="465474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빠른 개발 서버 구동과 빌드 속도</a:t>
            </a:r>
            <a:endParaRPr lang="en-US" sz="1050" dirty="0"/>
          </a:p>
        </p:txBody>
      </p:sp>
      <p:sp>
        <p:nvSpPr>
          <p:cNvPr id="39" name="Text 5"/>
          <p:cNvSpPr/>
          <p:nvPr/>
        </p:nvSpPr>
        <p:spPr>
          <a:xfrm>
            <a:off x="994023" y="2667000"/>
            <a:ext cx="47971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Recharts</a:t>
            </a:r>
            <a:endParaRPr lang="en-US" sz="1500" dirty="0"/>
          </a:p>
        </p:txBody>
      </p:sp>
      <p:sp>
        <p:nvSpPr>
          <p:cNvPr id="40" name="Text 6"/>
          <p:cNvSpPr/>
          <p:nvPr/>
        </p:nvSpPr>
        <p:spPr>
          <a:xfrm>
            <a:off x="994023" y="2971800"/>
            <a:ext cx="4797177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반응형 시각화에 강점을 살렸지만, 세밀한 커스터마이징에는 한계가 있어</a:t>
            </a:r>
            <a:endParaRPr lang="en-US" sz="1200" dirty="0"/>
          </a:p>
        </p:txBody>
      </p:sp>
      <p:sp>
        <p:nvSpPr>
          <p:cNvPr id="41" name="Text 7"/>
          <p:cNvSpPr/>
          <p:nvPr/>
        </p:nvSpPr>
        <p:spPr>
          <a:xfrm>
            <a:off x="1165473" y="3505200"/>
            <a:ext cx="47971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커스텀 렌더링과 데이터 전처리 방식으로 보완</a:t>
            </a:r>
            <a:endParaRPr lang="en-US" sz="1050" dirty="0"/>
          </a:p>
        </p:txBody>
      </p:sp>
      <p:sp>
        <p:nvSpPr>
          <p:cNvPr id="42" name="Text 8"/>
          <p:cNvSpPr/>
          <p:nvPr/>
        </p:nvSpPr>
        <p:spPr>
          <a:xfrm>
            <a:off x="1009650" y="4152900"/>
            <a:ext cx="32216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43" name="Text 9"/>
          <p:cNvSpPr/>
          <p:nvPr/>
        </p:nvSpPr>
        <p:spPr>
          <a:xfrm>
            <a:off x="1009650" y="4457700"/>
            <a:ext cx="32216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전체 UI의 일관성을 유지하기 위해 선택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1181100" y="4762500"/>
            <a:ext cx="26847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빠른 개발과 디자인 일관성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6553200" y="80010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개발 도구</a:t>
            </a:r>
            <a:endParaRPr lang="en-US" sz="1800" dirty="0"/>
          </a:p>
        </p:txBody>
      </p:sp>
      <p:sp>
        <p:nvSpPr>
          <p:cNvPr id="46" name="Text 12"/>
          <p:cNvSpPr/>
          <p:nvPr/>
        </p:nvSpPr>
        <p:spPr>
          <a:xfrm>
            <a:off x="7029450" y="1409700"/>
            <a:ext cx="26251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</a:t>
            </a:r>
            <a:endParaRPr lang="en-US" sz="1500" dirty="0"/>
          </a:p>
        </p:txBody>
      </p:sp>
      <p:sp>
        <p:nvSpPr>
          <p:cNvPr id="47" name="Text 13"/>
          <p:cNvSpPr/>
          <p:nvPr/>
        </p:nvSpPr>
        <p:spPr>
          <a:xfrm>
            <a:off x="7029450" y="1714500"/>
            <a:ext cx="31502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팀 협업을 위한 형상 관리 및 이슈 관리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7200900" y="2019300"/>
            <a:ext cx="31502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코드 관리와 팀원 간 원활한 소통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7029450" y="2667000"/>
            <a:ext cx="20746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VS Code</a:t>
            </a:r>
            <a:endParaRPr lang="en-US" sz="1500" dirty="0"/>
          </a:p>
        </p:txBody>
      </p:sp>
      <p:sp>
        <p:nvSpPr>
          <p:cNvPr id="50" name="Text 16"/>
          <p:cNvSpPr/>
          <p:nvPr/>
        </p:nvSpPr>
        <p:spPr>
          <a:xfrm>
            <a:off x="7029450" y="2971800"/>
            <a:ext cx="24895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프론트엔드 개발 및 UI 구현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7200900" y="3276600"/>
            <a:ext cx="24895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확장성과 다양한 플러그인 지원</a:t>
            </a:r>
            <a:endParaRPr lang="en-US" sz="1050" dirty="0"/>
          </a:p>
        </p:txBody>
      </p:sp>
      <p:sp>
        <p:nvSpPr>
          <p:cNvPr id="52" name="Text 18"/>
          <p:cNvSpPr/>
          <p:nvPr/>
        </p:nvSpPr>
        <p:spPr>
          <a:xfrm>
            <a:off x="7029450" y="3924300"/>
            <a:ext cx="2517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IntelliJ</a:t>
            </a:r>
            <a:endParaRPr lang="en-US" sz="1500" dirty="0"/>
          </a:p>
        </p:txBody>
      </p:sp>
      <p:sp>
        <p:nvSpPr>
          <p:cNvPr id="53" name="Text 19"/>
          <p:cNvSpPr/>
          <p:nvPr/>
        </p:nvSpPr>
        <p:spPr>
          <a:xfrm>
            <a:off x="7029450" y="4229100"/>
            <a:ext cx="30205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백엔드 및 서버 연동 테스트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7200900" y="4533900"/>
            <a:ext cx="302055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강력한 코드 자동완성과 디버깅 도우미</a:t>
            </a:r>
            <a:endParaRPr lang="en-US" sz="1050" dirty="0"/>
          </a:p>
        </p:txBody>
      </p:sp>
      <p:sp>
        <p:nvSpPr>
          <p:cNvPr id="55" name="Text 21"/>
          <p:cNvSpPr/>
          <p:nvPr/>
        </p:nvSpPr>
        <p:spPr>
          <a:xfrm>
            <a:off x="419100" y="6457950"/>
            <a:ext cx="11734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TypeScript를 통해 데이터 구조를 명확히 하여 런타임 오류를 줄이고 안정성을 확보했습니다.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11582400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0668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1181100"/>
            <a:ext cx="21907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57400"/>
            <a:ext cx="5638800" cy="44386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22479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038" y="238125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009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581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9243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44958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057400"/>
            <a:ext cx="5638800" cy="44386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24790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775" y="238125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0099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352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695700"/>
            <a:ext cx="5257800" cy="1524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02500" y="422910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50" y="44386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61263" y="45720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72611" y="42291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82161" y="44386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2259" y="45720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88239" y="4229100"/>
            <a:ext cx="571500" cy="571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88264" y="4438650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92370" y="457200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37069" y="4229100"/>
            <a:ext cx="571500" cy="571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46619" y="443865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 철학과 고민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219200" y="1066800"/>
            <a:ext cx="57292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설계 철학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219200" y="1371600"/>
            <a:ext cx="68751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"어떻게 하면 실제 기업 환경에서 바로 활용 가능한 구조를 만들 수 있을까"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1181100" y="2400300"/>
            <a:ext cx="19084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데이터베이스 설계</a:t>
            </a:r>
            <a:endParaRPr lang="en-US" sz="1500" dirty="0"/>
          </a:p>
        </p:txBody>
      </p:sp>
      <p:sp>
        <p:nvSpPr>
          <p:cNvPr id="36" name="Text 4"/>
          <p:cNvSpPr/>
          <p:nvPr/>
        </p:nvSpPr>
        <p:spPr>
          <a:xfrm>
            <a:off x="723900" y="29718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정보, 연료 종류, 이동 거리, 운행 목적 등을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명확히 분리하여 정규화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723900" y="3543300"/>
            <a:ext cx="43780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 1과 Scope 3을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명확히 구분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할 수 있도록 설계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723900" y="3886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연·월·일 단위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로 집계가 가능하도록 설계하여 목표 대비 실적 비교와 추세 분석 가능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723900" y="44577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협력사·고객사·사내 차량이 혼재하는 문제를 해결하기 위해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유형과 운행 목적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을 기준으로 한 분류 체계 추가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7124700" y="2400300"/>
            <a:ext cx="19881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사용자 경험 최적화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6667500" y="2971800"/>
            <a:ext cx="56494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입력 부담을 줄이기 위해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드롭다운 선택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과 기본값 설정을 통해 단순화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6667500" y="3314700"/>
            <a:ext cx="527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실제 사용자 입장에서 입력 부담이 과도해질 수 있다는 점을 고려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6591300" y="38481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디자인 프로세스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6471895" y="4876800"/>
            <a:ext cx="1432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초기 단순 합산 구조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8212946" y="4876800"/>
            <a:ext cx="6909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문제 인식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9243030" y="4876800"/>
            <a:ext cx="10619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분류 체계 추가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10617384" y="4876800"/>
            <a:ext cx="10110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최적화된 구조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838200"/>
            <a:ext cx="6766471" cy="5695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111" y="3057525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371" y="1257300"/>
            <a:ext cx="4434780" cy="952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2771" y="1409700"/>
            <a:ext cx="4191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071" y="15240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0371" y="2324100"/>
            <a:ext cx="443478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2771" y="2476500"/>
            <a:ext cx="4191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7071" y="25908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0371" y="3238500"/>
            <a:ext cx="443478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2771" y="3390900"/>
            <a:ext cx="447675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7071" y="3505200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0371" y="4152900"/>
            <a:ext cx="443478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2771" y="4305300"/>
            <a:ext cx="419100" cy="495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7071" y="44196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시연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1294061" y="3781425"/>
            <a:ext cx="47116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시연 영상 재생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822900" y="4124325"/>
            <a:ext cx="565392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시스템의 주요 기능과 사용자 인터페이스를 시연합니다</a:t>
            </a:r>
            <a:endParaRPr lang="en-US" sz="1050" dirty="0"/>
          </a:p>
        </p:txBody>
      </p:sp>
      <p:sp>
        <p:nvSpPr>
          <p:cNvPr id="22" name="Text 3"/>
          <p:cNvSpPr/>
          <p:nvPr/>
        </p:nvSpPr>
        <p:spPr>
          <a:xfrm>
            <a:off x="7490371" y="838200"/>
            <a:ext cx="4434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 기능 시연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8176171" y="1409700"/>
            <a:ext cx="3596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출입 차량 관리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8176171" y="1676400"/>
            <a:ext cx="35965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유형, 출입 시간, 이동 거리 등 기본 정보를 자동으로 기록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8176171" y="2476500"/>
            <a:ext cx="35333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배출량 계산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8176171" y="2743200"/>
            <a:ext cx="42399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연료 종류, 이동 거리, 차량 성능에 따라 정확한 배출량 계산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8204746" y="3390900"/>
            <a:ext cx="32728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시각화</a:t>
            </a:r>
            <a:endParaRPr lang="en-US" sz="1350" dirty="0"/>
          </a:p>
        </p:txBody>
      </p:sp>
      <p:sp>
        <p:nvSpPr>
          <p:cNvPr id="28" name="Text 9"/>
          <p:cNvSpPr/>
          <p:nvPr/>
        </p:nvSpPr>
        <p:spPr>
          <a:xfrm>
            <a:off x="8204746" y="3657600"/>
            <a:ext cx="392745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유형, 운행 목적별로 분류하여 탄소 배출량 시각화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8176171" y="4305300"/>
            <a:ext cx="3224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검색 및 필터링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8176171" y="4572000"/>
            <a:ext cx="38692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기간, 차량 유형, 운행 목적별로 데이터 검색 및 필터링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56769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38300"/>
            <a:ext cx="561975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79070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75" y="259080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447800"/>
            <a:ext cx="5676900" cy="1524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638300"/>
            <a:ext cx="59055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17907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0" y="25908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200400"/>
            <a:ext cx="5676900" cy="1524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390900"/>
            <a:ext cx="5334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35433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43434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3200400"/>
            <a:ext cx="5676900" cy="1524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390900"/>
            <a:ext cx="5334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5433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434340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기대 효과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304800" y="876300"/>
            <a:ext cx="11582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시스템을 통해 기대할 수 있는 네 가지 핵심 효과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09675" y="1638300"/>
            <a:ext cx="45815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배출량 시각화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209675" y="1981200"/>
            <a:ext cx="45815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차량 출입 데이터를 기반으로 한 탄소 배출량의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직관적인 시각화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를 통해 기업 차원의 명확한 감축 목표 설정이 가능해집니다.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419225" y="2552700"/>
            <a:ext cx="38235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목표 대비 실적 비교와 추세 분석이 용이합니다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7143750" y="1638300"/>
            <a:ext cx="4552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ESG 대응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7143750" y="1981200"/>
            <a:ext cx="4552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고객사 및 해외 거래처의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ESG 요구에 선제적으로 대응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할 수 있는 기반을 마련할 수 있습니다.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7353300" y="2552700"/>
            <a:ext cx="36406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지속 가능한 비즈니스 협력을 위한 신뢰 구축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1181100" y="33909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규제 준비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1181100" y="37338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향후 강화될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 규제 및 탄소세 제도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에 대해 사전 대응이 가능한 관리 체계를 구축할 수 있습니다.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1390650" y="4305300"/>
            <a:ext cx="32748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정책 변화에 빠르게 적응할 수 있는 구조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7086600" y="33909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국제 인증 지원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7086600" y="37338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 14064, CDP 등 </a:t>
            </a:r>
            <a:r>
              <a:rPr lang="en-US" sz="1200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국제 환경 인증 및 보고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를 위한 신뢰able한 데이터 확보가 가능합니다.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7296150" y="4305300"/>
            <a:ext cx="3216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글로벌 기준에 부합하는 환경 관리 체계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-853440" y="4953000"/>
            <a:ext cx="1389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Monitor는 단순한 모니터링을 넘어 기업의 탄소중립 전략을 지원하는 의사결정 도구로 발전합니다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56388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764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8288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47800"/>
            <a:ext cx="5638800" cy="1828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6764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925" y="18288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3581400"/>
            <a:ext cx="56388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8100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962400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581400"/>
            <a:ext cx="5638800" cy="1828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8100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8925" y="396240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9200" y="5876925"/>
            <a:ext cx="9753600" cy="285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향후 개선 방향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304800" y="876300"/>
            <a:ext cx="11582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시스템의 향후 개선 및 확장 계획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295400" y="16764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배출량 기반 예측 모델 도입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295400" y="20193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배출 데이터를 분석하여 향후 추세를 예측할 수 있는 AI 모델 도입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1314450" y="2590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단기 및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장기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예측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1314450" y="2819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비정상적 배출량 패턴 감지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7239000" y="1676400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ERP 및 IoT 시스템과의 연동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7239000" y="20193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기존 시스템과의 원활한 통합을 위해 API 개발 및 데이터 교환 표준화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258050" y="2590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자동화된 데이터 수집 시스템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7258050" y="2819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실시간 데이터 동기화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295400" y="3810000"/>
            <a:ext cx="5303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환경에서도 확인 가능한 대시보드 제공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1295400" y="4152900"/>
            <a:ext cx="4419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기기에서도 효율적으로 데이터를 확인할 수 있도록 반응형 웹 디자인 적용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1314450" y="4724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최적화 UI/UX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1314450" y="49530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알림 및 경고 기능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7239000" y="3810000"/>
            <a:ext cx="5095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 감축 활동 관리 및 평가 기능 추가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7239000" y="4152900"/>
            <a:ext cx="5095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협력사의 탄소 감축 활동을 추적하고 평가할 수 있는 기능 개발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7258050" y="4495800"/>
            <a:ext cx="44365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협력사별 탄소 배출 통계 관리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7258050" y="4724400"/>
            <a:ext cx="443656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감축 목표 설정 및 진척도 추적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304800" y="6019800"/>
            <a:ext cx="1158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시스템의 지속적인 발전을 위해 지속적으로 개선 방향을 확대하고 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76300"/>
            <a:ext cx="76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1066800"/>
            <a:ext cx="342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876300"/>
            <a:ext cx="10591800" cy="2628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2286000"/>
            <a:ext cx="3276600" cy="990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6400" y="2476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0" y="2286000"/>
            <a:ext cx="327660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5400" y="2476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2286000"/>
            <a:ext cx="327660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4400" y="2476500"/>
            <a:ext cx="1905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3886200"/>
            <a:ext cx="11582400" cy="1485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96600" y="4248150"/>
            <a:ext cx="76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63288" y="4438650"/>
            <a:ext cx="428625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14300"/>
            <a:ext cx="11582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마무리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1524000" y="1104900"/>
            <a:ext cx="10134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시스템 목표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524000" y="1524000"/>
            <a:ext cx="10134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시스템은 단순한 탄소 배출 모니터링을 넘어, </a:t>
            </a:r>
            <a:r>
              <a:rPr lang="en-US" sz="13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기업의 탄소중립 전략을 지원하는 의사결정 도구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를 목표로 합니다.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1905000" y="2438400"/>
            <a:ext cx="17621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데이터 기반 의사결정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676400" y="2743200"/>
            <a:ext cx="2971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정확한 탄소 배출 데이터를 기반으로 한 전략적 의사결정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5334000" y="2438400"/>
            <a:ext cx="11555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탄소중립 지원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5105400" y="2743200"/>
            <a:ext cx="3566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국가 및 지역별 탄소 규제에 적절히 대응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8801100" y="2438400"/>
            <a:ext cx="9801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ESG 신뢰성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8534400" y="2743200"/>
            <a:ext cx="2971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국제 환경 인증 및 보고를 위한 신뢰성 있는 데이터 확보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533400" y="4114800"/>
            <a:ext cx="10134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감사합니다</a:t>
            </a:r>
            <a:endParaRPr lang="en-US" sz="1800" dirty="0"/>
          </a:p>
        </p:txBody>
      </p:sp>
      <p:sp>
        <p:nvSpPr>
          <p:cNvPr id="27" name="Text 10"/>
          <p:cNvSpPr/>
          <p:nvPr/>
        </p:nvSpPr>
        <p:spPr>
          <a:xfrm>
            <a:off x="533400" y="4495800"/>
            <a:ext cx="12161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HDM Carbon Monitor 시스템이 기업의 탄소 중립 전략 수립과 실행에 긍정적인 역할을 하길 바랍니다.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533400" y="4914900"/>
            <a:ext cx="1013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질문 있으신가요?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1100</Words>
  <Application>Microsoft Office PowerPoint</Application>
  <PresentationFormat>와이드스크린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류민우</cp:lastModifiedBy>
  <cp:revision>6</cp:revision>
  <dcterms:created xsi:type="dcterms:W3CDTF">2026-01-13T05:25:41Z</dcterms:created>
  <dcterms:modified xsi:type="dcterms:W3CDTF">2026-01-13T10:52:03Z</dcterms:modified>
</cp:coreProperties>
</file>