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6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7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86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1.png"/><Relationship Id="rId3" Type="http://schemas.openxmlformats.org/officeDocument/2006/relationships/image" Target="../media/image1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39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19.png"/><Relationship Id="rId27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20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1.png"/><Relationship Id="rId21" Type="http://schemas.openxmlformats.org/officeDocument/2006/relationships/image" Target="../media/image71.png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20.png"/><Relationship Id="rId9" Type="http://schemas.openxmlformats.org/officeDocument/2006/relationships/image" Target="../media/image3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83.png"/><Relationship Id="rId5" Type="http://schemas.openxmlformats.org/officeDocument/2006/relationships/image" Target="../media/image56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20.png"/><Relationship Id="rId9" Type="http://schemas.openxmlformats.org/officeDocument/2006/relationships/image" Target="../media/image66.png"/><Relationship Id="rId14" Type="http://schemas.openxmlformats.org/officeDocument/2006/relationships/image" Target="../media/image8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1.png"/><Relationship Id="rId21" Type="http://schemas.openxmlformats.org/officeDocument/2006/relationships/image" Target="../media/image71.png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20.png"/><Relationship Id="rId9" Type="http://schemas.openxmlformats.org/officeDocument/2006/relationships/image" Target="../media/image3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20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26" Type="http://schemas.openxmlformats.org/officeDocument/2006/relationships/image" Target="../media/image126.png"/><Relationship Id="rId3" Type="http://schemas.openxmlformats.org/officeDocument/2006/relationships/image" Target="../media/image1.png"/><Relationship Id="rId21" Type="http://schemas.openxmlformats.org/officeDocument/2006/relationships/image" Target="../media/image121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24" Type="http://schemas.openxmlformats.org/officeDocument/2006/relationships/image" Target="../media/image124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20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3" Type="http://schemas.openxmlformats.org/officeDocument/2006/relationships/image" Target="../media/image1.png"/><Relationship Id="rId21" Type="http://schemas.openxmlformats.org/officeDocument/2006/relationships/image" Target="../media/image142.png"/><Relationship Id="rId7" Type="http://schemas.openxmlformats.org/officeDocument/2006/relationships/image" Target="../media/image129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11" Type="http://schemas.openxmlformats.org/officeDocument/2006/relationships/image" Target="../media/image104.png"/><Relationship Id="rId24" Type="http://schemas.openxmlformats.org/officeDocument/2006/relationships/image" Target="../media/image19.png"/><Relationship Id="rId5" Type="http://schemas.openxmlformats.org/officeDocument/2006/relationships/image" Target="../media/image127.png"/><Relationship Id="rId15" Type="http://schemas.openxmlformats.org/officeDocument/2006/relationships/image" Target="../media/image136.png"/><Relationship Id="rId23" Type="http://schemas.openxmlformats.org/officeDocument/2006/relationships/image" Target="../media/image144.png"/><Relationship Id="rId10" Type="http://schemas.openxmlformats.org/officeDocument/2006/relationships/image" Target="../media/image132.png"/><Relationship Id="rId19" Type="http://schemas.openxmlformats.org/officeDocument/2006/relationships/image" Target="../media/image140.png"/><Relationship Id="rId4" Type="http://schemas.openxmlformats.org/officeDocument/2006/relationships/image" Target="../media/image20.png"/><Relationship Id="rId9" Type="http://schemas.openxmlformats.org/officeDocument/2006/relationships/image" Target="../media/image131.png"/><Relationship Id="rId14" Type="http://schemas.openxmlformats.org/officeDocument/2006/relationships/image" Target="../media/image135.png"/><Relationship Id="rId22" Type="http://schemas.openxmlformats.org/officeDocument/2006/relationships/image" Target="../media/image1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26" Type="http://schemas.openxmlformats.org/officeDocument/2006/relationships/image" Target="../media/image126.png"/><Relationship Id="rId3" Type="http://schemas.openxmlformats.org/officeDocument/2006/relationships/image" Target="../media/image1.png"/><Relationship Id="rId21" Type="http://schemas.openxmlformats.org/officeDocument/2006/relationships/image" Target="../media/image121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24" Type="http://schemas.openxmlformats.org/officeDocument/2006/relationships/image" Target="../media/image124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20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3" Type="http://schemas.openxmlformats.org/officeDocument/2006/relationships/image" Target="../media/image1.png"/><Relationship Id="rId21" Type="http://schemas.openxmlformats.org/officeDocument/2006/relationships/image" Target="../media/image142.png"/><Relationship Id="rId7" Type="http://schemas.openxmlformats.org/officeDocument/2006/relationships/image" Target="../media/image129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11" Type="http://schemas.openxmlformats.org/officeDocument/2006/relationships/image" Target="../media/image104.png"/><Relationship Id="rId24" Type="http://schemas.openxmlformats.org/officeDocument/2006/relationships/image" Target="../media/image19.png"/><Relationship Id="rId5" Type="http://schemas.openxmlformats.org/officeDocument/2006/relationships/image" Target="../media/image127.png"/><Relationship Id="rId15" Type="http://schemas.openxmlformats.org/officeDocument/2006/relationships/image" Target="../media/image136.png"/><Relationship Id="rId23" Type="http://schemas.openxmlformats.org/officeDocument/2006/relationships/image" Target="../media/image144.png"/><Relationship Id="rId10" Type="http://schemas.openxmlformats.org/officeDocument/2006/relationships/image" Target="../media/image132.png"/><Relationship Id="rId19" Type="http://schemas.openxmlformats.org/officeDocument/2006/relationships/image" Target="../media/image140.png"/><Relationship Id="rId4" Type="http://schemas.openxmlformats.org/officeDocument/2006/relationships/image" Target="../media/image20.png"/><Relationship Id="rId9" Type="http://schemas.openxmlformats.org/officeDocument/2006/relationships/image" Target="../media/image131.png"/><Relationship Id="rId14" Type="http://schemas.openxmlformats.org/officeDocument/2006/relationships/image" Target="../media/image135.png"/><Relationship Id="rId22" Type="http://schemas.openxmlformats.org/officeDocument/2006/relationships/image" Target="../media/image143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26" Type="http://schemas.openxmlformats.org/officeDocument/2006/relationships/image" Target="../media/image166.png"/><Relationship Id="rId39" Type="http://schemas.openxmlformats.org/officeDocument/2006/relationships/image" Target="../media/image179.png"/><Relationship Id="rId21" Type="http://schemas.openxmlformats.org/officeDocument/2006/relationships/image" Target="../media/image161.png"/><Relationship Id="rId34" Type="http://schemas.openxmlformats.org/officeDocument/2006/relationships/image" Target="../media/image174.png"/><Relationship Id="rId42" Type="http://schemas.openxmlformats.org/officeDocument/2006/relationships/image" Target="../media/image182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29" Type="http://schemas.openxmlformats.org/officeDocument/2006/relationships/image" Target="../media/image169.png"/><Relationship Id="rId41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24" Type="http://schemas.openxmlformats.org/officeDocument/2006/relationships/image" Target="../media/image164.png"/><Relationship Id="rId32" Type="http://schemas.openxmlformats.org/officeDocument/2006/relationships/image" Target="../media/image172.png"/><Relationship Id="rId37" Type="http://schemas.openxmlformats.org/officeDocument/2006/relationships/image" Target="../media/image177.png"/><Relationship Id="rId40" Type="http://schemas.openxmlformats.org/officeDocument/2006/relationships/image" Target="../media/image180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28" Type="http://schemas.openxmlformats.org/officeDocument/2006/relationships/image" Target="../media/image168.png"/><Relationship Id="rId36" Type="http://schemas.openxmlformats.org/officeDocument/2006/relationships/image" Target="../media/image176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31" Type="http://schemas.openxmlformats.org/officeDocument/2006/relationships/image" Target="../media/image171.png"/><Relationship Id="rId44" Type="http://schemas.openxmlformats.org/officeDocument/2006/relationships/image" Target="../media/image184.png"/><Relationship Id="rId4" Type="http://schemas.openxmlformats.org/officeDocument/2006/relationships/image" Target="../media/image20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Relationship Id="rId27" Type="http://schemas.openxmlformats.org/officeDocument/2006/relationships/image" Target="../media/image167.png"/><Relationship Id="rId30" Type="http://schemas.openxmlformats.org/officeDocument/2006/relationships/image" Target="../media/image170.png"/><Relationship Id="rId35" Type="http://schemas.openxmlformats.org/officeDocument/2006/relationships/image" Target="../media/image175.png"/><Relationship Id="rId43" Type="http://schemas.openxmlformats.org/officeDocument/2006/relationships/image" Target="../media/image183.png"/><Relationship Id="rId8" Type="http://schemas.openxmlformats.org/officeDocument/2006/relationships/image" Target="../media/image148.png"/><Relationship Id="rId3" Type="http://schemas.openxmlformats.org/officeDocument/2006/relationships/image" Target="../media/image1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5" Type="http://schemas.openxmlformats.org/officeDocument/2006/relationships/image" Target="../media/image165.png"/><Relationship Id="rId33" Type="http://schemas.openxmlformats.org/officeDocument/2006/relationships/image" Target="../media/image173.png"/><Relationship Id="rId38" Type="http://schemas.openxmlformats.org/officeDocument/2006/relationships/image" Target="../media/image17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3" Type="http://schemas.openxmlformats.org/officeDocument/2006/relationships/image" Target="../media/image1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185.png"/><Relationship Id="rId15" Type="http://schemas.openxmlformats.org/officeDocument/2006/relationships/image" Target="../media/image195.png"/><Relationship Id="rId10" Type="http://schemas.openxmlformats.org/officeDocument/2006/relationships/image" Target="../media/image190.png"/><Relationship Id="rId4" Type="http://schemas.openxmlformats.org/officeDocument/2006/relationships/image" Target="../media/image20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3" Type="http://schemas.openxmlformats.org/officeDocument/2006/relationships/image" Target="../media/image1.png"/><Relationship Id="rId7" Type="http://schemas.openxmlformats.org/officeDocument/2006/relationships/image" Target="../media/image198.png"/><Relationship Id="rId12" Type="http://schemas.openxmlformats.org/officeDocument/2006/relationships/image" Target="../media/image20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7.png"/><Relationship Id="rId11" Type="http://schemas.openxmlformats.org/officeDocument/2006/relationships/image" Target="../media/image202.png"/><Relationship Id="rId5" Type="http://schemas.openxmlformats.org/officeDocument/2006/relationships/image" Target="../media/image196.png"/><Relationship Id="rId15" Type="http://schemas.openxmlformats.org/officeDocument/2006/relationships/image" Target="../media/image206.png"/><Relationship Id="rId10" Type="http://schemas.openxmlformats.org/officeDocument/2006/relationships/image" Target="../media/image201.png"/><Relationship Id="rId4" Type="http://schemas.openxmlformats.org/officeDocument/2006/relationships/image" Target="../media/image20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215.png"/><Relationship Id="rId3" Type="http://schemas.openxmlformats.org/officeDocument/2006/relationships/image" Target="../media/image1.png"/><Relationship Id="rId7" Type="http://schemas.openxmlformats.org/officeDocument/2006/relationships/image" Target="../media/image209.png"/><Relationship Id="rId12" Type="http://schemas.openxmlformats.org/officeDocument/2006/relationships/image" Target="../media/image2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8.png"/><Relationship Id="rId11" Type="http://schemas.openxmlformats.org/officeDocument/2006/relationships/image" Target="../media/image213.png"/><Relationship Id="rId5" Type="http://schemas.openxmlformats.org/officeDocument/2006/relationships/image" Target="../media/image207.png"/><Relationship Id="rId15" Type="http://schemas.openxmlformats.org/officeDocument/2006/relationships/image" Target="../media/image19.png"/><Relationship Id="rId10" Type="http://schemas.openxmlformats.org/officeDocument/2006/relationships/image" Target="../media/image212.png"/><Relationship Id="rId4" Type="http://schemas.openxmlformats.org/officeDocument/2006/relationships/image" Target="../media/image20.png"/><Relationship Id="rId9" Type="http://schemas.openxmlformats.org/officeDocument/2006/relationships/image" Target="../media/image211.png"/><Relationship Id="rId14" Type="http://schemas.openxmlformats.org/officeDocument/2006/relationships/image" Target="../media/image2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1219200" cy="1219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334000"/>
            <a:ext cx="15240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451" y="2276475"/>
            <a:ext cx="1828800" cy="57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651" y="3429000"/>
            <a:ext cx="914400" cy="76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6767" y="4505325"/>
            <a:ext cx="4398318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059975" y="1628775"/>
            <a:ext cx="8071902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</a:t>
            </a:r>
            <a:endParaRPr lang="en-US" sz="4500" dirty="0"/>
          </a:p>
        </p:txBody>
      </p:sp>
      <p:sp>
        <p:nvSpPr>
          <p:cNvPr id="10" name="Text 1"/>
          <p:cNvSpPr/>
          <p:nvPr/>
        </p:nvSpPr>
        <p:spPr>
          <a:xfrm>
            <a:off x="2059975" y="2562225"/>
            <a:ext cx="807190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 탄소 배출 모니터링 시스템</a:t>
            </a:r>
            <a:endParaRPr lang="en-US" sz="2250" dirty="0"/>
          </a:p>
        </p:txBody>
      </p:sp>
      <p:sp>
        <p:nvSpPr>
          <p:cNvPr id="11" name="Text 2"/>
          <p:cNvSpPr/>
          <p:nvPr/>
        </p:nvSpPr>
        <p:spPr>
          <a:xfrm>
            <a:off x="4125367" y="4619625"/>
            <a:ext cx="39411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3M-BMS 팀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3731255" y="4924425"/>
            <a:ext cx="47293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팀원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류민우 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ko-KR" alt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김억근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</a:t>
            </a: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홍석민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933575"/>
            <a:ext cx="5676900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215265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225742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790825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019425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248025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933575"/>
            <a:ext cx="5676900" cy="1676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15265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863" y="2257425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2790825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019425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248025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838575"/>
            <a:ext cx="5676900" cy="1676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405765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" y="4162425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695825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924425"/>
            <a:ext cx="1143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5153025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838575"/>
            <a:ext cx="5676900" cy="1676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05765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7488" y="4162425"/>
            <a:ext cx="14287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4695825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4924425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5153025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프로젝트 개요</a:t>
            </a:r>
            <a:endParaRPr lang="en-US" sz="2250" dirty="0"/>
          </a:p>
        </p:txBody>
      </p:sp>
      <p:sp>
        <p:nvSpPr>
          <p:cNvPr id="30" name="Text 1"/>
          <p:cNvSpPr/>
          <p:nvPr/>
        </p:nvSpPr>
        <p:spPr>
          <a:xfrm>
            <a:off x="304800" y="1400175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발표 내용 구성</a:t>
            </a:r>
            <a:endParaRPr lang="en-US" sz="1800" dirty="0"/>
          </a:p>
        </p:txBody>
      </p:sp>
      <p:sp>
        <p:nvSpPr>
          <p:cNvPr id="31" name="Text 2"/>
          <p:cNvSpPr/>
          <p:nvPr/>
        </p:nvSpPr>
        <p:spPr>
          <a:xfrm>
            <a:off x="1123950" y="2124075"/>
            <a:ext cx="28510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배경과 문제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1123950" y="2428875"/>
            <a:ext cx="28510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개념과 글로벌 정책 동향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838200" y="2771775"/>
            <a:ext cx="14328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개념 설명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838200" y="3000375"/>
            <a:ext cx="19018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CBAM과 탄소세 개념 소개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838200" y="3228975"/>
            <a:ext cx="297483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현대정밀의 비즈니스 및 기술적 과제 진단</a:t>
            </a:r>
            <a:endParaRPr lang="en-US" sz="1050" dirty="0"/>
          </a:p>
        </p:txBody>
      </p:sp>
      <p:sp>
        <p:nvSpPr>
          <p:cNvPr id="36" name="Text 7"/>
          <p:cNvSpPr/>
          <p:nvPr/>
        </p:nvSpPr>
        <p:spPr>
          <a:xfrm>
            <a:off x="7029450" y="2124075"/>
            <a:ext cx="26251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기술적 솔루션</a:t>
            </a:r>
            <a:endParaRPr lang="en-US" sz="1500" dirty="0"/>
          </a:p>
        </p:txBody>
      </p:sp>
      <p:sp>
        <p:nvSpPr>
          <p:cNvPr id="37" name="Text 8"/>
          <p:cNvSpPr/>
          <p:nvPr/>
        </p:nvSpPr>
        <p:spPr>
          <a:xfrm>
            <a:off x="7029450" y="2428875"/>
            <a:ext cx="31502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아키텍처, 기술 스택, 설계 철학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6743700" y="2771775"/>
            <a:ext cx="201471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기술 스택 구성 및 선택 이유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6743700" y="3000375"/>
            <a:ext cx="170199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데이터베이스 설계 철학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6743700" y="3228975"/>
            <a:ext cx="12219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 경험 파트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1123950" y="4029075"/>
            <a:ext cx="25766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구현 및 특징</a:t>
            </a:r>
            <a:endParaRPr lang="en-US" sz="1500" dirty="0"/>
          </a:p>
        </p:txBody>
      </p:sp>
      <p:sp>
        <p:nvSpPr>
          <p:cNvPr id="42" name="Text 13"/>
          <p:cNvSpPr/>
          <p:nvPr/>
        </p:nvSpPr>
        <p:spPr>
          <a:xfrm>
            <a:off x="1123950" y="4333875"/>
            <a:ext cx="30919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아키텍처, 대시보드 설명, 시연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838200" y="4676775"/>
            <a:ext cx="12262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대시보드 UI 설명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838200" y="4905375"/>
            <a:ext cx="12219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시연 영상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838200" y="5133975"/>
            <a:ext cx="10619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제품 주요 기능</a:t>
            </a:r>
            <a:endParaRPr lang="en-US" sz="1050" dirty="0"/>
          </a:p>
        </p:txBody>
      </p:sp>
      <p:sp>
        <p:nvSpPr>
          <p:cNvPr id="46" name="Text 17"/>
          <p:cNvSpPr/>
          <p:nvPr/>
        </p:nvSpPr>
        <p:spPr>
          <a:xfrm>
            <a:off x="7029450" y="4029075"/>
            <a:ext cx="23758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기대 효과 및 향후 계획</a:t>
            </a:r>
            <a:endParaRPr lang="en-US" sz="1500" dirty="0"/>
          </a:p>
        </p:txBody>
      </p:sp>
      <p:sp>
        <p:nvSpPr>
          <p:cNvPr id="47" name="Text 18"/>
          <p:cNvSpPr/>
          <p:nvPr/>
        </p:nvSpPr>
        <p:spPr>
          <a:xfrm>
            <a:off x="7029450" y="4333875"/>
            <a:ext cx="19798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미래 발전 방향성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6743700" y="4676775"/>
            <a:ext cx="207954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탄소배출 시각화와 ESG 대응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6743700" y="4905375"/>
            <a:ext cx="201471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규제 대응 및 국제 인증 지원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6743700" y="5133975"/>
            <a:ext cx="201471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향후 개선 방향 및 확장 계획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59055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990600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267200"/>
            <a:ext cx="182880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4381500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4438650"/>
            <a:ext cx="321469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4267200"/>
            <a:ext cx="182880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4100" y="43815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0788" y="4533900"/>
            <a:ext cx="23812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9900" y="4438650"/>
            <a:ext cx="638026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4267200"/>
            <a:ext cx="1828800" cy="800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9100" y="43815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9125" y="4533900"/>
            <a:ext cx="17145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4900" y="4438650"/>
            <a:ext cx="619125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5181600"/>
            <a:ext cx="1828800" cy="800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5295900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413" y="5448300"/>
            <a:ext cx="142875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4900" y="5353050"/>
            <a:ext cx="575816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3886200"/>
            <a:ext cx="5791200" cy="2209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5029200"/>
            <a:ext cx="2667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5133975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3M-BMS 팀 소개</a:t>
            </a:r>
            <a:endParaRPr lang="en-US" sz="2250" dirty="0"/>
          </a:p>
        </p:txBody>
      </p:sp>
      <p:sp>
        <p:nvSpPr>
          <p:cNvPr id="35" name="Text 1"/>
          <p:cNvSpPr/>
          <p:nvPr/>
        </p:nvSpPr>
        <p:spPr>
          <a:xfrm>
            <a:off x="1123950" y="876300"/>
            <a:ext cx="289887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 구성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1123950" y="1181100"/>
            <a:ext cx="34786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총 3명의 개발자로 구성되어 있습니다</a:t>
            </a:r>
            <a:endParaRPr lang="en-US" sz="1350" dirty="0"/>
          </a:p>
        </p:txBody>
      </p:sp>
      <p:sp>
        <p:nvSpPr>
          <p:cNvPr id="46" name="Text 12"/>
          <p:cNvSpPr/>
          <p:nvPr/>
        </p:nvSpPr>
        <p:spPr>
          <a:xfrm>
            <a:off x="304800" y="34290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팀명 유래</a:t>
            </a:r>
            <a:endParaRPr lang="en-US" sz="1800" dirty="0"/>
          </a:p>
        </p:txBody>
      </p:sp>
      <p:sp>
        <p:nvSpPr>
          <p:cNvPr id="47" name="Text 13"/>
          <p:cNvSpPr/>
          <p:nvPr/>
        </p:nvSpPr>
        <p:spPr>
          <a:xfrm>
            <a:off x="304800" y="3886200"/>
            <a:ext cx="563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4M 기법에서 착안</a:t>
            </a:r>
            <a:endParaRPr lang="en-US" sz="1500" dirty="0"/>
          </a:p>
        </p:txBody>
      </p:sp>
      <p:sp>
        <p:nvSpPr>
          <p:cNvPr id="48" name="Text 14"/>
          <p:cNvSpPr/>
          <p:nvPr/>
        </p:nvSpPr>
        <p:spPr>
          <a:xfrm>
            <a:off x="1104900" y="4438650"/>
            <a:ext cx="3857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</a:t>
            </a:r>
            <a:endParaRPr lang="en-US" sz="1200" dirty="0"/>
          </a:p>
        </p:txBody>
      </p:sp>
      <p:sp>
        <p:nvSpPr>
          <p:cNvPr id="49" name="Text 15"/>
          <p:cNvSpPr/>
          <p:nvPr/>
        </p:nvSpPr>
        <p:spPr>
          <a:xfrm>
            <a:off x="1104900" y="4667250"/>
            <a:ext cx="32146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사람</a:t>
            </a:r>
            <a:endParaRPr lang="en-US" sz="1050" dirty="0"/>
          </a:p>
        </p:txBody>
      </p:sp>
      <p:sp>
        <p:nvSpPr>
          <p:cNvPr id="50" name="Text 16"/>
          <p:cNvSpPr/>
          <p:nvPr/>
        </p:nvSpPr>
        <p:spPr>
          <a:xfrm>
            <a:off x="3009900" y="4438650"/>
            <a:ext cx="7656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Machine</a:t>
            </a:r>
            <a:endParaRPr lang="en-US" sz="1200" dirty="0"/>
          </a:p>
        </p:txBody>
      </p:sp>
      <p:sp>
        <p:nvSpPr>
          <p:cNvPr id="51" name="Text 17"/>
          <p:cNvSpPr/>
          <p:nvPr/>
        </p:nvSpPr>
        <p:spPr>
          <a:xfrm>
            <a:off x="3009900" y="4667250"/>
            <a:ext cx="63802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컴퓨터</a:t>
            </a:r>
            <a:endParaRPr lang="en-US" sz="1050" dirty="0"/>
          </a:p>
        </p:txBody>
      </p:sp>
      <p:sp>
        <p:nvSpPr>
          <p:cNvPr id="52" name="Text 18"/>
          <p:cNvSpPr/>
          <p:nvPr/>
        </p:nvSpPr>
        <p:spPr>
          <a:xfrm>
            <a:off x="4914900" y="4438650"/>
            <a:ext cx="742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Material</a:t>
            </a:r>
            <a:endParaRPr lang="en-US" sz="1200" dirty="0"/>
          </a:p>
        </p:txBody>
      </p:sp>
      <p:sp>
        <p:nvSpPr>
          <p:cNvPr id="53" name="Text 19"/>
          <p:cNvSpPr/>
          <p:nvPr/>
        </p:nvSpPr>
        <p:spPr>
          <a:xfrm>
            <a:off x="4914900" y="4667250"/>
            <a:ext cx="6191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재료</a:t>
            </a:r>
            <a:endParaRPr lang="en-US" sz="1050" dirty="0"/>
          </a:p>
        </p:txBody>
      </p:sp>
      <p:sp>
        <p:nvSpPr>
          <p:cNvPr id="54" name="Text 20"/>
          <p:cNvSpPr/>
          <p:nvPr/>
        </p:nvSpPr>
        <p:spPr>
          <a:xfrm>
            <a:off x="1104900" y="5353050"/>
            <a:ext cx="690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</a:t>
            </a:r>
            <a:endParaRPr lang="en-US" sz="1200" dirty="0"/>
          </a:p>
        </p:txBody>
      </p:sp>
      <p:sp>
        <p:nvSpPr>
          <p:cNvPr id="55" name="Text 21"/>
          <p:cNvSpPr/>
          <p:nvPr/>
        </p:nvSpPr>
        <p:spPr>
          <a:xfrm>
            <a:off x="1104900" y="5581650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개발 방법</a:t>
            </a:r>
            <a:endParaRPr lang="en-US" sz="1050" dirty="0"/>
          </a:p>
        </p:txBody>
      </p:sp>
      <p:sp>
        <p:nvSpPr>
          <p:cNvPr id="56" name="Text 22"/>
          <p:cNvSpPr/>
          <p:nvPr/>
        </p:nvSpPr>
        <p:spPr>
          <a:xfrm>
            <a:off x="6248400" y="3886200"/>
            <a:ext cx="563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3M-BMS의 의미</a:t>
            </a:r>
            <a:endParaRPr lang="en-US" sz="1500" dirty="0"/>
          </a:p>
        </p:txBody>
      </p:sp>
      <p:sp>
        <p:nvSpPr>
          <p:cNvPr id="57" name="Text 23"/>
          <p:cNvSpPr/>
          <p:nvPr/>
        </p:nvSpPr>
        <p:spPr>
          <a:xfrm>
            <a:off x="6248400" y="4267200"/>
            <a:ext cx="6766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4M 기법에서 </a:t>
            </a:r>
            <a:r>
              <a:rPr lang="en-US" sz="1200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사람(Man), 컴퓨터(Machine), 개발 방법(Method)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에 집중</a:t>
            </a:r>
            <a:endParaRPr lang="en-US" sz="1200" dirty="0"/>
          </a:p>
        </p:txBody>
      </p:sp>
      <p:sp>
        <p:nvSpPr>
          <p:cNvPr id="58" name="Text 24"/>
          <p:cNvSpPr/>
          <p:nvPr/>
        </p:nvSpPr>
        <p:spPr>
          <a:xfrm>
            <a:off x="6248400" y="4572000"/>
            <a:ext cx="6766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BMS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팀원 3명의 체격이 각각 </a:t>
            </a:r>
            <a:r>
              <a:rPr lang="en-US" sz="1200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Big, Middle, Small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이어서 조합함</a:t>
            </a:r>
            <a:endParaRPr lang="en-US" sz="1200" dirty="0"/>
          </a:p>
        </p:txBody>
      </p:sp>
      <p:sp>
        <p:nvSpPr>
          <p:cNvPr id="59" name="Text 25"/>
          <p:cNvSpPr/>
          <p:nvPr/>
        </p:nvSpPr>
        <p:spPr>
          <a:xfrm>
            <a:off x="6629400" y="5105400"/>
            <a:ext cx="5494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제조업에서 널리 사용되는 4M 기법에서 착안하여 팀의 특성을 반영</a:t>
            </a:r>
            <a:endParaRPr lang="en-US" sz="1200" dirty="0"/>
          </a:p>
        </p:txBody>
      </p:sp>
      <p:pic>
        <p:nvPicPr>
          <p:cNvPr id="60" name="Image 4" descr="preencoded.png">
            <a:extLst>
              <a:ext uri="{FF2B5EF4-FFF2-40B4-BE49-F238E27FC236}">
                <a16:creationId xmlns:a16="http://schemas.microsoft.com/office/drawing/2014/main" id="{4145EB37-ABE7-86A4-2495-87077562F9D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4800" y="1752600"/>
            <a:ext cx="3708350" cy="1295400"/>
          </a:xfrm>
          <a:prstGeom prst="rect">
            <a:avLst/>
          </a:prstGeom>
        </p:spPr>
      </p:pic>
      <p:pic>
        <p:nvPicPr>
          <p:cNvPr id="61" name="Image 5" descr="preencoded.png">
            <a:extLst>
              <a:ext uri="{FF2B5EF4-FFF2-40B4-BE49-F238E27FC236}">
                <a16:creationId xmlns:a16="http://schemas.microsoft.com/office/drawing/2014/main" id="{B084933E-C151-2627-923F-6F4D3BF8113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1905000"/>
            <a:ext cx="285750" cy="381000"/>
          </a:xfrm>
          <a:prstGeom prst="rect">
            <a:avLst/>
          </a:prstGeom>
        </p:spPr>
      </p:pic>
      <p:pic>
        <p:nvPicPr>
          <p:cNvPr id="62" name="Image 6" descr="preencoded.png">
            <a:extLst>
              <a:ext uri="{FF2B5EF4-FFF2-40B4-BE49-F238E27FC236}">
                <a16:creationId xmlns:a16="http://schemas.microsoft.com/office/drawing/2014/main" id="{C3152E11-CC8C-D603-A0CD-F01BB2D475C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3400" y="2009775"/>
            <a:ext cx="133350" cy="152400"/>
          </a:xfrm>
          <a:prstGeom prst="rect">
            <a:avLst/>
          </a:prstGeom>
        </p:spPr>
      </p:pic>
      <p:pic>
        <p:nvPicPr>
          <p:cNvPr id="63" name="Image 7" descr="preencoded.png">
            <a:extLst>
              <a:ext uri="{FF2B5EF4-FFF2-40B4-BE49-F238E27FC236}">
                <a16:creationId xmlns:a16="http://schemas.microsoft.com/office/drawing/2014/main" id="{5DBAF9D7-A5F8-624D-E390-30FE0E43370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41750" y="1752600"/>
            <a:ext cx="3708350" cy="1295400"/>
          </a:xfrm>
          <a:prstGeom prst="rect">
            <a:avLst/>
          </a:prstGeom>
        </p:spPr>
      </p:pic>
      <p:pic>
        <p:nvPicPr>
          <p:cNvPr id="64" name="Image 8" descr="preencoded.png">
            <a:extLst>
              <a:ext uri="{FF2B5EF4-FFF2-40B4-BE49-F238E27FC236}">
                <a16:creationId xmlns:a16="http://schemas.microsoft.com/office/drawing/2014/main" id="{387E8954-FC69-37C4-7CBE-823D790E569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94150" y="1905000"/>
            <a:ext cx="285750" cy="381000"/>
          </a:xfrm>
          <a:prstGeom prst="rect">
            <a:avLst/>
          </a:prstGeom>
        </p:spPr>
      </p:pic>
      <p:pic>
        <p:nvPicPr>
          <p:cNvPr id="65" name="Image 9" descr="preencoded.png">
            <a:extLst>
              <a:ext uri="{FF2B5EF4-FFF2-40B4-BE49-F238E27FC236}">
                <a16:creationId xmlns:a16="http://schemas.microsoft.com/office/drawing/2014/main" id="{D68F257B-66B1-E604-7149-B8BD3A30E13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70350" y="2009775"/>
            <a:ext cx="133350" cy="152400"/>
          </a:xfrm>
          <a:prstGeom prst="rect">
            <a:avLst/>
          </a:prstGeom>
        </p:spPr>
      </p:pic>
      <p:pic>
        <p:nvPicPr>
          <p:cNvPr id="66" name="Image 10" descr="preencoded.png">
            <a:extLst>
              <a:ext uri="{FF2B5EF4-FFF2-40B4-BE49-F238E27FC236}">
                <a16:creationId xmlns:a16="http://schemas.microsoft.com/office/drawing/2014/main" id="{6EBDAC6F-37C9-DDE2-8849-7F020DAEB69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78701" y="1752600"/>
            <a:ext cx="3708499" cy="1295400"/>
          </a:xfrm>
          <a:prstGeom prst="rect">
            <a:avLst/>
          </a:prstGeom>
        </p:spPr>
      </p:pic>
      <p:pic>
        <p:nvPicPr>
          <p:cNvPr id="67" name="Image 11" descr="preencoded.png">
            <a:extLst>
              <a:ext uri="{FF2B5EF4-FFF2-40B4-BE49-F238E27FC236}">
                <a16:creationId xmlns:a16="http://schemas.microsoft.com/office/drawing/2014/main" id="{25AAEFFE-6E99-3B94-37B1-40311E62C9F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31101" y="1905000"/>
            <a:ext cx="285750" cy="381000"/>
          </a:xfrm>
          <a:prstGeom prst="rect">
            <a:avLst/>
          </a:prstGeom>
        </p:spPr>
      </p:pic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7F0B125A-2E3B-5705-0097-C1FB8EA9171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07301" y="2009775"/>
            <a:ext cx="133350" cy="152400"/>
          </a:xfrm>
          <a:prstGeom prst="rect">
            <a:avLst/>
          </a:prstGeom>
        </p:spPr>
      </p:pic>
      <p:sp>
        <p:nvSpPr>
          <p:cNvPr id="69" name="Text 3">
            <a:extLst>
              <a:ext uri="{FF2B5EF4-FFF2-40B4-BE49-F238E27FC236}">
                <a16:creationId xmlns:a16="http://schemas.microsoft.com/office/drawing/2014/main" id="{BB8F244F-F65A-E47E-DFBF-2AF03ECB4A38}"/>
              </a:ext>
            </a:extLst>
          </p:cNvPr>
          <p:cNvSpPr/>
          <p:nvPr/>
        </p:nvSpPr>
        <p:spPr>
          <a:xfrm>
            <a:off x="857250" y="1962150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팀장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류민우</a:t>
            </a:r>
            <a:endParaRPr lang="en-US" sz="1500" dirty="0"/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BE6D7889-85FB-4F3B-A869-0EAC263034F1}"/>
              </a:ext>
            </a:extLst>
          </p:cNvPr>
          <p:cNvSpPr/>
          <p:nvPr/>
        </p:nvSpPr>
        <p:spPr>
          <a:xfrm>
            <a:off x="457200" y="2400300"/>
            <a:ext cx="3403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게임소프트웨어 전공</a:t>
            </a:r>
            <a:endParaRPr lang="en-US" sz="1200" dirty="0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CCC99CE0-6520-23B2-CBEF-19EF251E6129}"/>
              </a:ext>
            </a:extLst>
          </p:cNvPr>
          <p:cNvSpPr/>
          <p:nvPr/>
        </p:nvSpPr>
        <p:spPr>
          <a:xfrm>
            <a:off x="457200" y="27051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DB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설계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및 </a:t>
            </a: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프론트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전반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전체 총괄</a:t>
            </a:r>
            <a:endParaRPr lang="en-US" sz="1050" dirty="0"/>
          </a:p>
        </p:txBody>
      </p:sp>
      <p:sp>
        <p:nvSpPr>
          <p:cNvPr id="72" name="Text 6">
            <a:extLst>
              <a:ext uri="{FF2B5EF4-FFF2-40B4-BE49-F238E27FC236}">
                <a16:creationId xmlns:a16="http://schemas.microsoft.com/office/drawing/2014/main" id="{97054DDF-31BB-EA45-AA88-BC63F2669339}"/>
              </a:ext>
            </a:extLst>
          </p:cNvPr>
          <p:cNvSpPr/>
          <p:nvPr/>
        </p:nvSpPr>
        <p:spPr>
          <a:xfrm>
            <a:off x="4794200" y="1962150"/>
            <a:ext cx="130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팀원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</a:t>
            </a:r>
            <a:r>
              <a:rPr lang="ko-KR" alt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김억근</a:t>
            </a:r>
            <a:endParaRPr lang="en-US" sz="1500" dirty="0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95683070-6305-B553-5222-04054DE5CFA8}"/>
              </a:ext>
            </a:extLst>
          </p:cNvPr>
          <p:cNvSpPr/>
          <p:nvPr/>
        </p:nvSpPr>
        <p:spPr>
          <a:xfrm>
            <a:off x="4394150" y="2400300"/>
            <a:ext cx="3403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기계공학</a:t>
            </a: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전공</a:t>
            </a:r>
            <a:endParaRPr lang="en-US" sz="1200" dirty="0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E23FB3D-7BDE-8213-4896-F3846FD2054B}"/>
              </a:ext>
            </a:extLst>
          </p:cNvPr>
          <p:cNvSpPr/>
          <p:nvPr/>
        </p:nvSpPr>
        <p:spPr>
          <a:xfrm>
            <a:off x="4394150" y="27051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화면설계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및 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백엔드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서버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개발</a:t>
            </a:r>
            <a:endParaRPr lang="en-US" sz="1050" dirty="0"/>
          </a:p>
        </p:txBody>
      </p:sp>
      <p:sp>
        <p:nvSpPr>
          <p:cNvPr id="75" name="Text 9">
            <a:extLst>
              <a:ext uri="{FF2B5EF4-FFF2-40B4-BE49-F238E27FC236}">
                <a16:creationId xmlns:a16="http://schemas.microsoft.com/office/drawing/2014/main" id="{2A8736F5-23F6-89CB-ED5C-BE7F7550E124}"/>
              </a:ext>
            </a:extLst>
          </p:cNvPr>
          <p:cNvSpPr/>
          <p:nvPr/>
        </p:nvSpPr>
        <p:spPr>
          <a:xfrm>
            <a:off x="8731150" y="1962150"/>
            <a:ext cx="11951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팀원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</a:t>
            </a:r>
            <a:r>
              <a:rPr lang="ko-KR" alt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홍석민</a:t>
            </a:r>
            <a:endParaRPr lang="en-US" sz="1500" dirty="0"/>
          </a:p>
        </p:txBody>
      </p:sp>
      <p:sp>
        <p:nvSpPr>
          <p:cNvPr id="76" name="Text 10">
            <a:extLst>
              <a:ext uri="{FF2B5EF4-FFF2-40B4-BE49-F238E27FC236}">
                <a16:creationId xmlns:a16="http://schemas.microsoft.com/office/drawing/2014/main" id="{B736B234-C510-DA3B-970B-F76E16D93EE0}"/>
              </a:ext>
            </a:extLst>
          </p:cNvPr>
          <p:cNvSpPr/>
          <p:nvPr/>
        </p:nvSpPr>
        <p:spPr>
          <a:xfrm>
            <a:off x="8331101" y="2400300"/>
            <a:ext cx="34036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비전공자</a:t>
            </a:r>
            <a:endParaRPr lang="en-US" sz="1200" dirty="0"/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9C28602C-7A6B-94D7-2921-B91150B82F17}"/>
              </a:ext>
            </a:extLst>
          </p:cNvPr>
          <p:cNvSpPr/>
          <p:nvPr/>
        </p:nvSpPr>
        <p:spPr>
          <a:xfrm>
            <a:off x="8331101" y="2705100"/>
            <a:ext cx="3403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화면설계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및  </a:t>
            </a:r>
            <a:r>
              <a:rPr lang="en-US" altLang="ko-KR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백엔드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서버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개발</a:t>
            </a:r>
            <a:endParaRPr lang="en-US" altLang="ko-KR" sz="1050" dirty="0"/>
          </a:p>
        </p:txBody>
      </p:sp>
      <p:pic>
        <p:nvPicPr>
          <p:cNvPr id="78" name="Image 3" descr="preencoded.png">
            <a:extLst>
              <a:ext uri="{FF2B5EF4-FFF2-40B4-BE49-F238E27FC236}">
                <a16:creationId xmlns:a16="http://schemas.microsoft.com/office/drawing/2014/main" id="{932781F5-21D6-122D-E7CB-F2B2D1CFB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13" y="4516120"/>
            <a:ext cx="36195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715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11582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66800"/>
            <a:ext cx="3810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81100"/>
            <a:ext cx="1524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095500"/>
            <a:ext cx="5562600" cy="44005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28600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3907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043613"/>
            <a:ext cx="2667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6148388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095500"/>
            <a:ext cx="5562600" cy="44005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2286000"/>
            <a:ext cx="2667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2390775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0" y="3810000"/>
            <a:ext cx="51816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개념 소개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028700" y="1181100"/>
            <a:ext cx="33677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배출이란 무엇인가요?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914400" y="2343150"/>
            <a:ext cx="15309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개념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561648" y="3486150"/>
            <a:ext cx="518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배출이란 특정 시간 동안 어떤 활동을 통해 발생하는 온실가스의 양을 나타내는 지표입니다.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876300" y="6100763"/>
            <a:ext cx="36957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앞으로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더욱 중요한 용어가 될 것입니다.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561648" y="4181475"/>
            <a:ext cx="51618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온실가스 배출이 가속화되어 지구 온난화가 진행되고 있습니다.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6896100" y="2343150"/>
            <a:ext cx="2524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지구 온난화 </a:t>
            </a: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관리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필요성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515100" y="34290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기본적으로 온실가스 온도가 오르면 생기는 문제들에는: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6667500" y="3962400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극지 빙하 용융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6667500" y="4229100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해수면 상승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6667500" y="4495800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기후 패턴 변화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6667500" y="4762500"/>
            <a:ext cx="4876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극단적인 기후 현상 증가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6515100" y="607695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이러한 현상을 </a:t>
            </a:r>
            <a:r>
              <a:rPr lang="en-US" sz="1200" b="1" dirty="0">
                <a:solidFill>
                  <a:srgbClr val="2E8B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지구 온난화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라고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0100"/>
            <a:ext cx="5638800" cy="1314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525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10572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266950"/>
            <a:ext cx="5638800" cy="3086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838450"/>
            <a:ext cx="28575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943225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676650"/>
            <a:ext cx="32385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78142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51485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1962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800100"/>
            <a:ext cx="5638800" cy="1543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9525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9875" y="105727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2495550"/>
            <a:ext cx="5638800" cy="1828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4429125"/>
            <a:ext cx="5638800" cy="2381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4962525"/>
            <a:ext cx="2609850" cy="876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5162550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53225" y="5324475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1150" y="4962525"/>
            <a:ext cx="2609850" cy="876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15450" y="516255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67850" y="5324475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5953125"/>
            <a:ext cx="2609850" cy="7048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91300" y="6067425"/>
            <a:ext cx="476250" cy="4762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72275" y="6229350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01150" y="5953125"/>
            <a:ext cx="2609850" cy="7048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15450" y="6067425"/>
            <a:ext cx="476250" cy="4762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77375" y="6229350"/>
            <a:ext cx="1524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개념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971550" y="952500"/>
            <a:ext cx="5334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정의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381000" y="150495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인간과 기업의 산업 활동에서 발생한 온실가스가 대기 중으로 방출되는 현상으로, 지구 온난화가 가속화되고 있습니다.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81000" y="241935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범위(Scope)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781050" y="2800350"/>
            <a:ext cx="4933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1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781050" y="3067050"/>
            <a:ext cx="4933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직접적인 탄소 배출원 - 기업 자산 내, 직접 제어 가능한 난방, 냉방, 생산설비, 사무실, 차량 등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819150" y="3638550"/>
            <a:ext cx="4895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2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819150" y="390525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간접적인 탄소 배출원 - 구매한 전기, 증기, 냉/난방의 생산 과정에서 발생한 탄소 배출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838200" y="447675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3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838200" y="4743450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기관 활동에 따른 간접적 배출 - 공급망, 직원 재택 근무, 제품 사용 및 폐기 단계 등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7067550" y="952500"/>
            <a:ext cx="5334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배출의 영향</a:t>
            </a:r>
            <a:endParaRPr lang="en-US" sz="1800" dirty="0"/>
          </a:p>
        </p:txBody>
      </p:sp>
      <p:sp>
        <p:nvSpPr>
          <p:cNvPr id="42" name="Text 11"/>
          <p:cNvSpPr/>
          <p:nvPr/>
        </p:nvSpPr>
        <p:spPr>
          <a:xfrm>
            <a:off x="6477000" y="1504950"/>
            <a:ext cx="5334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온실가스 배출이 가속화되어 지구 온난화가 진행되고 있습니다. 이로 인해 극지 빙하 용융, 해수면 상승, 기후 패턴 변화, 극단적인 기후 현상 증가 등의 심각한 문제가 발생하고 있습니다.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6477000" y="4581525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 탄소 배출원 예시</a:t>
            </a:r>
            <a:endParaRPr lang="en-US" sz="1500" dirty="0"/>
          </a:p>
        </p:txBody>
      </p:sp>
      <p:sp>
        <p:nvSpPr>
          <p:cNvPr id="44" name="Text 13"/>
          <p:cNvSpPr/>
          <p:nvPr/>
        </p:nvSpPr>
        <p:spPr>
          <a:xfrm>
            <a:off x="7181850" y="5076825"/>
            <a:ext cx="179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교통</a:t>
            </a:r>
            <a:endParaRPr lang="en-US" sz="1350" dirty="0"/>
          </a:p>
        </p:txBody>
      </p:sp>
      <p:sp>
        <p:nvSpPr>
          <p:cNvPr id="45" name="Text 14"/>
          <p:cNvSpPr/>
          <p:nvPr/>
        </p:nvSpPr>
        <p:spPr>
          <a:xfrm>
            <a:off x="7181850" y="5343525"/>
            <a:ext cx="1790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개인 및 상업용 차량, 항공, 배 등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9906000" y="5172075"/>
            <a:ext cx="17211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산업</a:t>
            </a:r>
            <a:endParaRPr lang="en-US" sz="1350" dirty="0"/>
          </a:p>
        </p:txBody>
      </p:sp>
      <p:sp>
        <p:nvSpPr>
          <p:cNvPr id="47" name="Text 16"/>
          <p:cNvSpPr/>
          <p:nvPr/>
        </p:nvSpPr>
        <p:spPr>
          <a:xfrm>
            <a:off x="9906000" y="5438775"/>
            <a:ext cx="20654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제철, 시멘트, 화학 등 제조업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7181850" y="6076950"/>
            <a:ext cx="13273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에너지</a:t>
            </a:r>
            <a:endParaRPr lang="en-US" sz="1350" dirty="0"/>
          </a:p>
        </p:txBody>
      </p:sp>
      <p:sp>
        <p:nvSpPr>
          <p:cNvPr id="49" name="Text 18"/>
          <p:cNvSpPr/>
          <p:nvPr/>
        </p:nvSpPr>
        <p:spPr>
          <a:xfrm>
            <a:off x="7181850" y="6343650"/>
            <a:ext cx="15928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화석 연료 연소 발전소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9906000" y="6076950"/>
            <a:ext cx="15940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폐기물</a:t>
            </a:r>
            <a:endParaRPr lang="en-US" sz="1350" dirty="0"/>
          </a:p>
        </p:txBody>
      </p:sp>
      <p:sp>
        <p:nvSpPr>
          <p:cNvPr id="51" name="Text 20"/>
          <p:cNvSpPr/>
          <p:nvPr/>
        </p:nvSpPr>
        <p:spPr>
          <a:xfrm>
            <a:off x="9906000" y="6343650"/>
            <a:ext cx="19129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에너지 재활용 및 매립시설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0100"/>
            <a:ext cx="5638800" cy="1314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525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688" y="1057275"/>
            <a:ext cx="1428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266950"/>
            <a:ext cx="5638800" cy="1981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800100"/>
            <a:ext cx="5638800" cy="1314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9525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5588" y="1057275"/>
            <a:ext cx="2190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2266950"/>
            <a:ext cx="5638800" cy="99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41935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252412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3371850"/>
            <a:ext cx="56388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524250"/>
            <a:ext cx="3048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362902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4248150"/>
            <a:ext cx="56388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4400550"/>
            <a:ext cx="3429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4505325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배출과 기업 환경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971550" y="952500"/>
            <a:ext cx="5334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제조업에서의 탄소 배출 관리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381000" y="150495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현대정밀과 같은 제조업 기업은 탄소 배출 관리를 통해 </a:t>
            </a:r>
            <a:r>
              <a:rPr lang="en-US" sz="12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비용 절감 및 효율적인 운영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 가능합니다.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7067550" y="952500"/>
            <a:ext cx="5334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현대정밀의 비즈니스 환경</a:t>
            </a:r>
            <a:endParaRPr lang="en-US" sz="1800" dirty="0"/>
          </a:p>
        </p:txBody>
      </p:sp>
      <p:sp>
        <p:nvSpPr>
          <p:cNvPr id="25" name="Text 4"/>
          <p:cNvSpPr/>
          <p:nvPr/>
        </p:nvSpPr>
        <p:spPr>
          <a:xfrm>
            <a:off x="6477000" y="150495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유럽 시장에 제품을 수출하는 현대정밀은 </a:t>
            </a:r>
            <a:r>
              <a:rPr lang="en-US" sz="12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데이터가 필수로 요구되는 새로운 환경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에 직면해 있습니다.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6934200" y="2381250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 탄소 규제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6934200" y="268605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EU의 상당 부분이 CBAM(탄소국경조정제도)을 시행하여 현대정밀의 유럽 시장 점유율에 영향을 줄 수 있습니다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6896100" y="3486150"/>
            <a:ext cx="43984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경영 효율성</a:t>
            </a:r>
            <a:endParaRPr lang="en-US" sz="1350" dirty="0"/>
          </a:p>
        </p:txBody>
      </p:sp>
      <p:sp>
        <p:nvSpPr>
          <p:cNvPr id="29" name="Text 8"/>
          <p:cNvSpPr/>
          <p:nvPr/>
        </p:nvSpPr>
        <p:spPr>
          <a:xfrm>
            <a:off x="6896100" y="3790950"/>
            <a:ext cx="5278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배출량 감소로 에너지 비용 절감 및 의사결정의 효율성 제고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934200" y="4362450"/>
            <a:ext cx="49104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거래 상대 신뢰성</a:t>
            </a:r>
            <a:endParaRPr lang="en-US" sz="1350" dirty="0"/>
          </a:p>
        </p:txBody>
      </p:sp>
      <p:sp>
        <p:nvSpPr>
          <p:cNvPr id="31" name="Text 10"/>
          <p:cNvSpPr/>
          <p:nvPr/>
        </p:nvSpPr>
        <p:spPr>
          <a:xfrm>
            <a:off x="6934200" y="4667250"/>
            <a:ext cx="58925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ESG 경영의 중요성이 커지며 지속 가능한 거래 상대 확보의 중요성 증대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0100"/>
            <a:ext cx="5638800" cy="1314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525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10572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266950"/>
            <a:ext cx="5638800" cy="3086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838450"/>
            <a:ext cx="28575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943225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676650"/>
            <a:ext cx="32385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78142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51485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1962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800100"/>
            <a:ext cx="5638800" cy="1543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9525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9875" y="105727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2495550"/>
            <a:ext cx="5638800" cy="1828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4476750"/>
            <a:ext cx="5638800" cy="2381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5010150"/>
            <a:ext cx="2609850" cy="876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5210175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53225" y="53721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1150" y="5010150"/>
            <a:ext cx="2609850" cy="876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15450" y="5210175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67850" y="537210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6000750"/>
            <a:ext cx="2609850" cy="7048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91300" y="6115050"/>
            <a:ext cx="476250" cy="4762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72275" y="6276975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01150" y="6000750"/>
            <a:ext cx="2609850" cy="7048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15450" y="6115050"/>
            <a:ext cx="476250" cy="4762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77375" y="6276975"/>
            <a:ext cx="1524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개념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971550" y="952500"/>
            <a:ext cx="5334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정의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381000" y="150495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인간과 기업의 산업 활동에서 발생한 온실가스가 대기 중으로 방출되는 현상으로, 지구 온난화가 가속화되고 있습니다.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81000" y="241935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범위(Scope)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781050" y="2800350"/>
            <a:ext cx="4933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1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781050" y="3067050"/>
            <a:ext cx="4933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직접적인 탄소 배출원 - 기업 자산 내, 직접 제어 가능한 난방, 냉방, 생산설비, 사무실, 차량 등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819150" y="3638550"/>
            <a:ext cx="4895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2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819150" y="390525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간접적인 탄소 배출원 - 구매한 전기, 증기, 냉/난방의 생산 과정에서 발생한 탄소 배출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838200" y="447675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3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838200" y="4743450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기관 활동에 따른 간접적 배출 - 공급망, 직원 재택 근무, 제품 사용 및 폐기 단계 등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7067550" y="952500"/>
            <a:ext cx="5334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배출의 영향</a:t>
            </a:r>
            <a:endParaRPr lang="en-US" sz="1800" dirty="0"/>
          </a:p>
        </p:txBody>
      </p:sp>
      <p:sp>
        <p:nvSpPr>
          <p:cNvPr id="42" name="Text 11"/>
          <p:cNvSpPr/>
          <p:nvPr/>
        </p:nvSpPr>
        <p:spPr>
          <a:xfrm>
            <a:off x="6477000" y="1504950"/>
            <a:ext cx="5334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온실가스 배출이 가속화되어 지구 온난화가 진행되고 있습니다. 이로 인해 극지 빙하 용융, 해수면 상승, 기후 패턴 변화, 극단적인 기후 현상 증가 등의 심각한 문제가 발생하고 있습니다.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6477000" y="462915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 탄소 배출원 예시</a:t>
            </a:r>
            <a:endParaRPr lang="en-US" sz="1500" dirty="0"/>
          </a:p>
        </p:txBody>
      </p:sp>
      <p:sp>
        <p:nvSpPr>
          <p:cNvPr id="44" name="Text 13"/>
          <p:cNvSpPr/>
          <p:nvPr/>
        </p:nvSpPr>
        <p:spPr>
          <a:xfrm>
            <a:off x="7181850" y="5124450"/>
            <a:ext cx="179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교통</a:t>
            </a:r>
            <a:endParaRPr lang="en-US" sz="1350" dirty="0"/>
          </a:p>
        </p:txBody>
      </p:sp>
      <p:sp>
        <p:nvSpPr>
          <p:cNvPr id="45" name="Text 14"/>
          <p:cNvSpPr/>
          <p:nvPr/>
        </p:nvSpPr>
        <p:spPr>
          <a:xfrm>
            <a:off x="7181850" y="5391150"/>
            <a:ext cx="1790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개인 및 상업용 차량, 항공, 배 등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9906000" y="5219700"/>
            <a:ext cx="17211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산업</a:t>
            </a:r>
            <a:endParaRPr lang="en-US" sz="1350" dirty="0"/>
          </a:p>
        </p:txBody>
      </p:sp>
      <p:sp>
        <p:nvSpPr>
          <p:cNvPr id="47" name="Text 16"/>
          <p:cNvSpPr/>
          <p:nvPr/>
        </p:nvSpPr>
        <p:spPr>
          <a:xfrm>
            <a:off x="9906000" y="5486400"/>
            <a:ext cx="20654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제철, 시멘트, 화학 등 제조업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7181850" y="6124575"/>
            <a:ext cx="13273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에너지</a:t>
            </a:r>
            <a:endParaRPr lang="en-US" sz="1350" dirty="0"/>
          </a:p>
        </p:txBody>
      </p:sp>
      <p:sp>
        <p:nvSpPr>
          <p:cNvPr id="49" name="Text 18"/>
          <p:cNvSpPr/>
          <p:nvPr/>
        </p:nvSpPr>
        <p:spPr>
          <a:xfrm>
            <a:off x="7181850" y="6391275"/>
            <a:ext cx="15928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화석 연료 연소 발전소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9906000" y="6124575"/>
            <a:ext cx="15940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폐기물</a:t>
            </a:r>
            <a:endParaRPr lang="en-US" sz="1350" dirty="0"/>
          </a:p>
        </p:txBody>
      </p:sp>
      <p:sp>
        <p:nvSpPr>
          <p:cNvPr id="51" name="Text 20"/>
          <p:cNvSpPr/>
          <p:nvPr/>
        </p:nvSpPr>
        <p:spPr>
          <a:xfrm>
            <a:off x="9906000" y="6391275"/>
            <a:ext cx="19129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에너지 재활용 및 매립시설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55245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990600"/>
            <a:ext cx="3238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676400"/>
            <a:ext cx="5638800" cy="2476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324100"/>
            <a:ext cx="2667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428875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29337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0384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2860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8956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5052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4724400"/>
            <a:ext cx="40005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838700"/>
            <a:ext cx="1714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7750" y="52197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98155" y="5219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48560" y="52197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현대정밀의 비즈니스 요구사항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1085850" y="876300"/>
            <a:ext cx="523666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유럽 시장의 탄소 경쟁력 확보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1085850" y="1181100"/>
            <a:ext cx="628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관련 요구사항을 충족시키며 유럽 시장에서의 경쟁력 유지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495300" y="18669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정책 준수 요구사항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876300" y="2286000"/>
            <a:ext cx="37638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타사 대비 탄소배출 경쟁력 확보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76300" y="2552700"/>
            <a:ext cx="451663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 등 해외 시장에서 경쟁사 대비 투명한 탄소배출 데이터 보유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914400" y="2895600"/>
            <a:ext cx="35303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규제 요건 충족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914400" y="3162300"/>
            <a:ext cx="42364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향후 도입 예정인 EU CBAM 등 탄소세 및 규제에 대한 대응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6438900" y="18669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비즈니스 요구사항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6781800" y="2286000"/>
            <a:ext cx="41153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탄소배출 데이터 자동화 관리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781800" y="2552700"/>
            <a:ext cx="49384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차량을 통한 데이터 수집을 자동화하여 정확한 관리 시스템 구축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6781800" y="2895600"/>
            <a:ext cx="38486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탄소중립 목표 설정 및 달성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781800" y="3162300"/>
            <a:ext cx="46184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국가별 탄소중립 기준에 부합하는 제품 발현 탄소 배출 목표 수립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6829425" y="3505200"/>
            <a:ext cx="34117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ESG 협력사 관리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6829425" y="3771900"/>
            <a:ext cx="40940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 및 고객사의 ESG 의무 준수 여부를 공동으로 관리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1047750" y="4572000"/>
            <a:ext cx="79864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해결 방향 및 기대효과</a:t>
            </a:r>
            <a:endParaRPr lang="en-US" sz="1500" dirty="0"/>
          </a:p>
        </p:txBody>
      </p:sp>
      <p:sp>
        <p:nvSpPr>
          <p:cNvPr id="36" name="Text 16"/>
          <p:cNvSpPr/>
          <p:nvPr/>
        </p:nvSpPr>
        <p:spPr>
          <a:xfrm>
            <a:off x="1047750" y="4876800"/>
            <a:ext cx="95836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차량을 기반으로 한 탄소 배출 모니터링 시스템을 통해 정확한 탄소 배출 데이터 확보와 효과적인 관리 체계 구축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1276350" y="5181600"/>
            <a:ext cx="20032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탄소배출량 분석 및 보고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3326755" y="5181600"/>
            <a:ext cx="20032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목표대비 진행 상황 추적</a:t>
            </a:r>
            <a:endParaRPr lang="en-US" sz="1200" dirty="0"/>
          </a:p>
        </p:txBody>
      </p:sp>
      <p:sp>
        <p:nvSpPr>
          <p:cNvPr id="39" name="Text 19"/>
          <p:cNvSpPr/>
          <p:nvPr/>
        </p:nvSpPr>
        <p:spPr>
          <a:xfrm>
            <a:off x="5377160" y="5181600"/>
            <a:ext cx="15793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통합 대시보드 관리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714500"/>
            <a:ext cx="5638800" cy="2343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9050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2009775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838450"/>
            <a:ext cx="5257800" cy="419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3409950"/>
            <a:ext cx="28575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14725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210050"/>
            <a:ext cx="5638800" cy="1790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714500"/>
            <a:ext cx="5638800" cy="2571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9050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1775" y="20097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067050"/>
            <a:ext cx="5257800" cy="419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638550"/>
            <a:ext cx="32385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3743325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4438650"/>
            <a:ext cx="5638800" cy="1143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97205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5010150"/>
            <a:ext cx="1524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59898" y="4972050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36098" y="5010150"/>
            <a:ext cx="15240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32366" y="497205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08566" y="5010150"/>
            <a:ext cx="1524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88029" y="497205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64229" y="5010150"/>
            <a:ext cx="15240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4800" y="6229350"/>
            <a:ext cx="11582400" cy="533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CBAM과 탄소세 개념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304800" y="8763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European Union의 탄소 관련 정책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304800" y="1219200"/>
            <a:ext cx="11582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EU가 신속히 확대하는 탄소 규제로 국내기업과 탄소 경쟁력 확보 필요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1085850" y="2009775"/>
            <a:ext cx="28637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CBAM (탄소국경조정제도)</a:t>
            </a:r>
            <a:endParaRPr lang="en-US" sz="1500" dirty="0"/>
          </a:p>
        </p:txBody>
      </p:sp>
      <p:sp>
        <p:nvSpPr>
          <p:cNvPr id="31" name="Text 4"/>
          <p:cNvSpPr/>
          <p:nvPr/>
        </p:nvSpPr>
        <p:spPr>
          <a:xfrm>
            <a:off x="495300" y="249555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EU가 도입한 새로운 탄소 규제로, 특정 수입품에 대한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탄소세 부과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 베이스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609600" y="2952750"/>
            <a:ext cx="6035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 과세 대상: 철강, 알루미늄, 시멘트, 전기, 화학 제품 등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895350" y="3371850"/>
            <a:ext cx="4624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시기: 2023년부터 부분 시행 중, 2026년 본격 시행 예정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895350" y="3638550"/>
            <a:ext cx="4624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현대정밀과 같은 철강, 전자 기기 제조업체에 큰 영향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457200" y="436245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CBAM 운용 방식</a:t>
            </a:r>
            <a:endParaRPr lang="en-US" sz="1350" dirty="0"/>
          </a:p>
        </p:txBody>
      </p:sp>
      <p:sp>
        <p:nvSpPr>
          <p:cNvPr id="36" name="Text 9"/>
          <p:cNvSpPr/>
          <p:nvPr/>
        </p:nvSpPr>
        <p:spPr>
          <a:xfrm>
            <a:off x="457200" y="470535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 업체는 온실가스 배출량을 모니터링하고 정기적으로 신고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457200" y="501015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입체 화물은 ETS 규제 활용 구매 가능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457200" y="531495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규제를 만족시키지 않은 입상화물은 탄소세 부과 후 매수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457200" y="561975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BF 가격은 베이스 가격에 부가세 포함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7029450" y="2009775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탄소세 (Carbon Tax)</a:t>
            </a:r>
            <a:endParaRPr lang="en-US" sz="1500" dirty="0"/>
          </a:p>
        </p:txBody>
      </p:sp>
      <p:sp>
        <p:nvSpPr>
          <p:cNvPr id="41" name="Text 14"/>
          <p:cNvSpPr/>
          <p:nvPr/>
        </p:nvSpPr>
        <p:spPr>
          <a:xfrm>
            <a:off x="6438900" y="249555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국가가 일괄적으로 탄소 배출에 대한 세율 부과하는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경제적 제재 수단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으로 기업이 환경 부담 비용 부담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553200" y="3181350"/>
            <a:ext cx="6035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세금 활용: 기후 변화 해소, 재생에너지 사업, 탄소감축 설비 투자 등 재분배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6877050" y="3600450"/>
            <a:ext cx="54644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영향: 국내 기업의 탄소 경쟁력을 약화시키는 구조적인 문제가 발생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6877050" y="3867150"/>
            <a:ext cx="54644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BF는 경쟁력을 유지하기 위해 반대로 보호 조치해야 함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6400800" y="459105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탄소세 부과 현황</a:t>
            </a:r>
            <a:endParaRPr lang="en-US" sz="1350" dirty="0"/>
          </a:p>
        </p:txBody>
      </p:sp>
      <p:sp>
        <p:nvSpPr>
          <p:cNvPr id="46" name="Text 19"/>
          <p:cNvSpPr/>
          <p:nvPr/>
        </p:nvSpPr>
        <p:spPr>
          <a:xfrm>
            <a:off x="6781800" y="4933950"/>
            <a:ext cx="8256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</a:t>
            </a:r>
            <a:endParaRPr lang="en-US" sz="1200" dirty="0"/>
          </a:p>
        </p:txBody>
      </p:sp>
      <p:sp>
        <p:nvSpPr>
          <p:cNvPr id="47" name="Text 20"/>
          <p:cNvSpPr/>
          <p:nvPr/>
        </p:nvSpPr>
        <p:spPr>
          <a:xfrm>
            <a:off x="6781800" y="5162550"/>
            <a:ext cx="9908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세율 29-55영라</a:t>
            </a:r>
            <a:endParaRPr lang="en-US" sz="900" dirty="0"/>
          </a:p>
        </p:txBody>
      </p:sp>
      <p:sp>
        <p:nvSpPr>
          <p:cNvPr id="48" name="Text 21"/>
          <p:cNvSpPr/>
          <p:nvPr/>
        </p:nvSpPr>
        <p:spPr>
          <a:xfrm>
            <a:off x="8140898" y="4933950"/>
            <a:ext cx="6390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한국</a:t>
            </a:r>
            <a:endParaRPr lang="en-US" sz="1200" dirty="0"/>
          </a:p>
        </p:txBody>
      </p:sp>
      <p:sp>
        <p:nvSpPr>
          <p:cNvPr id="49" name="Text 22"/>
          <p:cNvSpPr/>
          <p:nvPr/>
        </p:nvSpPr>
        <p:spPr>
          <a:xfrm>
            <a:off x="8140898" y="5162550"/>
            <a:ext cx="76688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세율 10영라</a:t>
            </a:r>
            <a:endParaRPr lang="en-US" sz="900" dirty="0"/>
          </a:p>
        </p:txBody>
      </p:sp>
      <p:sp>
        <p:nvSpPr>
          <p:cNvPr id="50" name="Text 23"/>
          <p:cNvSpPr/>
          <p:nvPr/>
        </p:nvSpPr>
        <p:spPr>
          <a:xfrm>
            <a:off x="9313366" y="4933950"/>
            <a:ext cx="7222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미국</a:t>
            </a:r>
            <a:endParaRPr lang="en-US" sz="1200" dirty="0"/>
          </a:p>
        </p:txBody>
      </p:sp>
      <p:sp>
        <p:nvSpPr>
          <p:cNvPr id="51" name="Text 24"/>
          <p:cNvSpPr/>
          <p:nvPr/>
        </p:nvSpPr>
        <p:spPr>
          <a:xfrm>
            <a:off x="9313366" y="5162550"/>
            <a:ext cx="86671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연방세율 없음</a:t>
            </a:r>
            <a:endParaRPr lang="en-US" sz="900" dirty="0"/>
          </a:p>
        </p:txBody>
      </p:sp>
      <p:sp>
        <p:nvSpPr>
          <p:cNvPr id="52" name="Text 25"/>
          <p:cNvSpPr/>
          <p:nvPr/>
        </p:nvSpPr>
        <p:spPr>
          <a:xfrm>
            <a:off x="10569029" y="4933950"/>
            <a:ext cx="7897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세계 평균</a:t>
            </a:r>
            <a:endParaRPr lang="en-US" sz="1200" dirty="0"/>
          </a:p>
        </p:txBody>
      </p:sp>
      <p:sp>
        <p:nvSpPr>
          <p:cNvPr id="53" name="Text 26"/>
          <p:cNvSpPr/>
          <p:nvPr/>
        </p:nvSpPr>
        <p:spPr>
          <a:xfrm>
            <a:off x="10569029" y="5162550"/>
            <a:ext cx="78974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세율 10영라</a:t>
            </a:r>
            <a:endParaRPr lang="en-US" sz="900" dirty="0"/>
          </a:p>
        </p:txBody>
      </p:sp>
      <p:sp>
        <p:nvSpPr>
          <p:cNvPr id="54" name="Text 27"/>
          <p:cNvSpPr/>
          <p:nvPr/>
        </p:nvSpPr>
        <p:spPr>
          <a:xfrm>
            <a:off x="457200" y="6381750"/>
            <a:ext cx="1127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 장기계획: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탄소국경조정과 국가별 탄소세에 대한 체계적 접근을 통해 유럽 시장에서 경쟁력 확보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115824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668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3" y="1181100"/>
            <a:ext cx="21907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057400"/>
            <a:ext cx="5638800" cy="44386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2479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038" y="238125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009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581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9243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44958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2057400"/>
            <a:ext cx="5638800" cy="44386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2479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1775" y="238125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0099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352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695700"/>
            <a:ext cx="5257800" cy="1524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02500" y="422910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2050" y="44386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1263" y="457200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72611" y="42291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82161" y="44386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2259" y="45720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88239" y="4229100"/>
            <a:ext cx="571500" cy="571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88264" y="4438650"/>
            <a:ext cx="1714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92370" y="457200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37069" y="4229100"/>
            <a:ext cx="571500" cy="571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46619" y="443865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설계 철학과 고려사항</a:t>
            </a:r>
            <a:endParaRPr lang="en-US" sz="2250" dirty="0"/>
          </a:p>
        </p:txBody>
      </p:sp>
      <p:sp>
        <p:nvSpPr>
          <p:cNvPr id="33" name="Text 1"/>
          <p:cNvSpPr/>
          <p:nvPr/>
        </p:nvSpPr>
        <p:spPr>
          <a:xfrm>
            <a:off x="1219200" y="1066800"/>
            <a:ext cx="57292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설계 철학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1219200" y="1371600"/>
            <a:ext cx="68751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"어떻게 하면 실제 기업 환경에서 바로 활용 가능한 구조를 만들 수 있을까"</a:t>
            </a:r>
            <a:endParaRPr lang="en-US" sz="1350" dirty="0"/>
          </a:p>
        </p:txBody>
      </p:sp>
      <p:sp>
        <p:nvSpPr>
          <p:cNvPr id="35" name="Text 3"/>
          <p:cNvSpPr/>
          <p:nvPr/>
        </p:nvSpPr>
        <p:spPr>
          <a:xfrm>
            <a:off x="1181100" y="2400300"/>
            <a:ext cx="19084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데이터베이스 설계</a:t>
            </a:r>
            <a:endParaRPr lang="en-US" sz="1500" dirty="0"/>
          </a:p>
        </p:txBody>
      </p:sp>
      <p:sp>
        <p:nvSpPr>
          <p:cNvPr id="36" name="Text 4"/>
          <p:cNvSpPr/>
          <p:nvPr/>
        </p:nvSpPr>
        <p:spPr>
          <a:xfrm>
            <a:off x="723900" y="29718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 정보, 연료 종류, 이동 거리, 운행 목적 등을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명확히 분리하여 정규화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723900" y="3543300"/>
            <a:ext cx="43780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1과 Scope 3을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명확히 구분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할 수 있도록 설계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723900" y="38862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연·월·일 단위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로 집계가 가능하도록 설계하여 목표 대비 실적 비교와 추세 분석 가능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723900" y="44577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협력사·고객사·사내 차량이 혼재하는 문제를 해결하기 위해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유형과 운행 목적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을 기준으로 한 분류 체계 추가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7124700" y="2400300"/>
            <a:ext cx="19881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 경험 최적화</a:t>
            </a:r>
            <a:endParaRPr lang="en-US" sz="1500" dirty="0"/>
          </a:p>
        </p:txBody>
      </p:sp>
      <p:sp>
        <p:nvSpPr>
          <p:cNvPr id="41" name="Text 9"/>
          <p:cNvSpPr/>
          <p:nvPr/>
        </p:nvSpPr>
        <p:spPr>
          <a:xfrm>
            <a:off x="6667500" y="2971800"/>
            <a:ext cx="56494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입력 부담을 줄이기 위해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드롭다운 선택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과 기본값 설정을 통해 단순화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6667500" y="3314700"/>
            <a:ext cx="5278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실제 사용자 입장에서 입력 부담이 과도해질 수 있다는 점을 고려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6591300" y="38481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디자인 프로세스</a:t>
            </a:r>
            <a:endParaRPr lang="en-US" sz="1350" dirty="0"/>
          </a:p>
        </p:txBody>
      </p:sp>
      <p:sp>
        <p:nvSpPr>
          <p:cNvPr id="44" name="Text 12"/>
          <p:cNvSpPr/>
          <p:nvPr/>
        </p:nvSpPr>
        <p:spPr>
          <a:xfrm>
            <a:off x="6471895" y="4876800"/>
            <a:ext cx="14328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초기 단순 합산 구조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8212946" y="4876800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문제 인식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9243030" y="4876800"/>
            <a:ext cx="10619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분류 체계 추가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10617384" y="4876800"/>
            <a:ext cx="10110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최적화된 구조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714500"/>
            <a:ext cx="5638800" cy="2343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9050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2009775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838450"/>
            <a:ext cx="5257800" cy="419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3409950"/>
            <a:ext cx="28575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14725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210050"/>
            <a:ext cx="5638800" cy="1790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714500"/>
            <a:ext cx="5638800" cy="2571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9050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1775" y="20097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067050"/>
            <a:ext cx="5257800" cy="419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638550"/>
            <a:ext cx="32385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3743325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4438650"/>
            <a:ext cx="5638800" cy="1143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97205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5010150"/>
            <a:ext cx="1524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59898" y="4972050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36098" y="5010150"/>
            <a:ext cx="15240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32366" y="497205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08566" y="5010150"/>
            <a:ext cx="1524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88029" y="497205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64229" y="5010150"/>
            <a:ext cx="15240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4800" y="6229350"/>
            <a:ext cx="11582400" cy="533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CBAM과 탄소세 개념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304800" y="8763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European Union의 탄소 관련 정책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304800" y="1219200"/>
            <a:ext cx="11582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EU가 신속히 확대하는 탄소 규제로 국내기업과 탄소 경쟁력 확보 필요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1085850" y="2009775"/>
            <a:ext cx="28637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CBAM (탄소국경조정제도)</a:t>
            </a:r>
            <a:endParaRPr lang="en-US" sz="1500" dirty="0"/>
          </a:p>
        </p:txBody>
      </p:sp>
      <p:sp>
        <p:nvSpPr>
          <p:cNvPr id="31" name="Text 4"/>
          <p:cNvSpPr/>
          <p:nvPr/>
        </p:nvSpPr>
        <p:spPr>
          <a:xfrm>
            <a:off x="495300" y="249555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EU가 도입한 새로운 탄소 규제로, 특정 수입품에 대한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탄소세 부과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 베이스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609600" y="2952750"/>
            <a:ext cx="6035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 과세 대상: 철강, 알루미늄, 시멘트, 전기, 화학 제품 등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895350" y="3371850"/>
            <a:ext cx="4624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시기: 2023년부터 부분 시행 중, 2026년 본격 시행 예정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895350" y="3638550"/>
            <a:ext cx="4624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현대정밀과 같은 철강, 전자 기기 제조업체에 큰 영향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457200" y="436245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CBAM 운용 방식</a:t>
            </a:r>
            <a:endParaRPr lang="en-US" sz="1350" dirty="0"/>
          </a:p>
        </p:txBody>
      </p:sp>
      <p:sp>
        <p:nvSpPr>
          <p:cNvPr id="36" name="Text 9"/>
          <p:cNvSpPr/>
          <p:nvPr/>
        </p:nvSpPr>
        <p:spPr>
          <a:xfrm>
            <a:off x="457200" y="470535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 업체는 온실가스 배출량을 모니터링하고 정기적으로 신고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457200" y="501015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입체 화물은 ETS 규제 활용 구매 가능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457200" y="531495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규제를 만족시키지 않은 입상화물은 탄소세 부과 후 매수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457200" y="561975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BF 가격은 베이스 가격에 부가세 포함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7029450" y="2009775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탄소세 (Carbon Tax)</a:t>
            </a:r>
            <a:endParaRPr lang="en-US" sz="1500" dirty="0"/>
          </a:p>
        </p:txBody>
      </p:sp>
      <p:sp>
        <p:nvSpPr>
          <p:cNvPr id="41" name="Text 14"/>
          <p:cNvSpPr/>
          <p:nvPr/>
        </p:nvSpPr>
        <p:spPr>
          <a:xfrm>
            <a:off x="6438900" y="249555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국가가 일괄적으로 탄소 배출에 대한 세율 부과하는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경제적 제재 수단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으로 기업이 환경 부담 비용 부담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553200" y="3181350"/>
            <a:ext cx="6035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세금 활용: 기후 변화 해소, 재생에너지 사업, 탄소감축 설비 투자 등 재분배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6877050" y="3600450"/>
            <a:ext cx="54644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영향: 국내 기업의 탄소 경쟁력을 약화시키는 구조적인 문제가 발생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6877050" y="3867150"/>
            <a:ext cx="54644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BF는 경쟁력을 유지하기 위해 반대로 보호 조치해야 함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6400800" y="459105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탄소세 부과 현황</a:t>
            </a:r>
            <a:endParaRPr lang="en-US" sz="1350" dirty="0"/>
          </a:p>
        </p:txBody>
      </p:sp>
      <p:sp>
        <p:nvSpPr>
          <p:cNvPr id="46" name="Text 19"/>
          <p:cNvSpPr/>
          <p:nvPr/>
        </p:nvSpPr>
        <p:spPr>
          <a:xfrm>
            <a:off x="6781800" y="4933950"/>
            <a:ext cx="8256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</a:t>
            </a:r>
            <a:endParaRPr lang="en-US" sz="1200" dirty="0"/>
          </a:p>
        </p:txBody>
      </p:sp>
      <p:sp>
        <p:nvSpPr>
          <p:cNvPr id="47" name="Text 20"/>
          <p:cNvSpPr/>
          <p:nvPr/>
        </p:nvSpPr>
        <p:spPr>
          <a:xfrm>
            <a:off x="6781800" y="5162550"/>
            <a:ext cx="9908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세율 29-55영라</a:t>
            </a:r>
            <a:endParaRPr lang="en-US" sz="900" dirty="0"/>
          </a:p>
        </p:txBody>
      </p:sp>
      <p:sp>
        <p:nvSpPr>
          <p:cNvPr id="48" name="Text 21"/>
          <p:cNvSpPr/>
          <p:nvPr/>
        </p:nvSpPr>
        <p:spPr>
          <a:xfrm>
            <a:off x="8140898" y="4933950"/>
            <a:ext cx="6390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한국</a:t>
            </a:r>
            <a:endParaRPr lang="en-US" sz="1200" dirty="0"/>
          </a:p>
        </p:txBody>
      </p:sp>
      <p:sp>
        <p:nvSpPr>
          <p:cNvPr id="49" name="Text 22"/>
          <p:cNvSpPr/>
          <p:nvPr/>
        </p:nvSpPr>
        <p:spPr>
          <a:xfrm>
            <a:off x="8140898" y="5162550"/>
            <a:ext cx="76688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세율 10영라</a:t>
            </a:r>
            <a:endParaRPr lang="en-US" sz="900" dirty="0"/>
          </a:p>
        </p:txBody>
      </p:sp>
      <p:sp>
        <p:nvSpPr>
          <p:cNvPr id="50" name="Text 23"/>
          <p:cNvSpPr/>
          <p:nvPr/>
        </p:nvSpPr>
        <p:spPr>
          <a:xfrm>
            <a:off x="9313366" y="4933950"/>
            <a:ext cx="7222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미국</a:t>
            </a:r>
            <a:endParaRPr lang="en-US" sz="1200" dirty="0"/>
          </a:p>
        </p:txBody>
      </p:sp>
      <p:sp>
        <p:nvSpPr>
          <p:cNvPr id="51" name="Text 24"/>
          <p:cNvSpPr/>
          <p:nvPr/>
        </p:nvSpPr>
        <p:spPr>
          <a:xfrm>
            <a:off x="9313366" y="5162550"/>
            <a:ext cx="86671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연방세율 없음</a:t>
            </a:r>
            <a:endParaRPr lang="en-US" sz="900" dirty="0"/>
          </a:p>
        </p:txBody>
      </p:sp>
      <p:sp>
        <p:nvSpPr>
          <p:cNvPr id="52" name="Text 25"/>
          <p:cNvSpPr/>
          <p:nvPr/>
        </p:nvSpPr>
        <p:spPr>
          <a:xfrm>
            <a:off x="10569029" y="4933950"/>
            <a:ext cx="8104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세계 평균</a:t>
            </a:r>
            <a:endParaRPr lang="en-US" sz="1200" dirty="0"/>
          </a:p>
        </p:txBody>
      </p:sp>
      <p:sp>
        <p:nvSpPr>
          <p:cNvPr id="53" name="Text 26"/>
          <p:cNvSpPr/>
          <p:nvPr/>
        </p:nvSpPr>
        <p:spPr>
          <a:xfrm>
            <a:off x="10569029" y="5162550"/>
            <a:ext cx="81045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세율 10 영라</a:t>
            </a:r>
            <a:endParaRPr lang="en-US" sz="900" dirty="0"/>
          </a:p>
        </p:txBody>
      </p:sp>
      <p:sp>
        <p:nvSpPr>
          <p:cNvPr id="54" name="Text 27"/>
          <p:cNvSpPr/>
          <p:nvPr/>
        </p:nvSpPr>
        <p:spPr>
          <a:xfrm>
            <a:off x="457200" y="6381750"/>
            <a:ext cx="1127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 장기계획: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탄소국경조정과 국가별 탄소세에 대한 체계적 접근을 통해 유럽 시장에서 경쟁력 확보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115824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668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3" y="1181100"/>
            <a:ext cx="21907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057400"/>
            <a:ext cx="5638800" cy="44386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2479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038" y="238125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009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581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9243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44958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2057400"/>
            <a:ext cx="5638800" cy="44386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2479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1775" y="238125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0099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352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695700"/>
            <a:ext cx="5257800" cy="1524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02500" y="422910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2050" y="44386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1263" y="457200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72611" y="42291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82161" y="44386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2259" y="45720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88239" y="4229100"/>
            <a:ext cx="571500" cy="571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88264" y="4438650"/>
            <a:ext cx="1714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92370" y="457200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37069" y="4229100"/>
            <a:ext cx="571500" cy="571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46619" y="443865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설계 철학과 고민</a:t>
            </a:r>
            <a:endParaRPr lang="en-US" sz="2250" dirty="0"/>
          </a:p>
        </p:txBody>
      </p:sp>
      <p:sp>
        <p:nvSpPr>
          <p:cNvPr id="33" name="Text 1"/>
          <p:cNvSpPr/>
          <p:nvPr/>
        </p:nvSpPr>
        <p:spPr>
          <a:xfrm>
            <a:off x="1219200" y="1066800"/>
            <a:ext cx="57292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설계 철학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1219200" y="1371600"/>
            <a:ext cx="68751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"어떻게 하면 실제 기업 환경에서 바로 활용 가능한 구조를 만들 수 있을까"</a:t>
            </a:r>
            <a:endParaRPr lang="en-US" sz="1350" dirty="0"/>
          </a:p>
        </p:txBody>
      </p:sp>
      <p:sp>
        <p:nvSpPr>
          <p:cNvPr id="35" name="Text 3"/>
          <p:cNvSpPr/>
          <p:nvPr/>
        </p:nvSpPr>
        <p:spPr>
          <a:xfrm>
            <a:off x="1181100" y="2400300"/>
            <a:ext cx="19084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데이터베이스 설계</a:t>
            </a:r>
            <a:endParaRPr lang="en-US" sz="1500" dirty="0"/>
          </a:p>
        </p:txBody>
      </p:sp>
      <p:sp>
        <p:nvSpPr>
          <p:cNvPr id="36" name="Text 4"/>
          <p:cNvSpPr/>
          <p:nvPr/>
        </p:nvSpPr>
        <p:spPr>
          <a:xfrm>
            <a:off x="723900" y="29718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 정보, 연료 종류, 이동 거리, 운행 목적 등을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명확히 분리하여 정규화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723900" y="3543300"/>
            <a:ext cx="43780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1과 Scope 3을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명확히 구분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할 수 있도록 설계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723900" y="38862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연·월·일 단위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로 집계가 가능하도록 설계하여 목표 대비 실적 비교와 추세 분석 가능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723900" y="44577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협력사·고객사·사내 차량이 혼재하는 문제를 해결하기 위해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유형과 운행 목적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을 기준으로 한 분류 체계 추가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7124700" y="2400300"/>
            <a:ext cx="19881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 경험 최적화</a:t>
            </a:r>
            <a:endParaRPr lang="en-US" sz="1500" dirty="0"/>
          </a:p>
        </p:txBody>
      </p:sp>
      <p:sp>
        <p:nvSpPr>
          <p:cNvPr id="41" name="Text 9"/>
          <p:cNvSpPr/>
          <p:nvPr/>
        </p:nvSpPr>
        <p:spPr>
          <a:xfrm>
            <a:off x="6667500" y="2971800"/>
            <a:ext cx="56494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입력 부담을 줄이기 위해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드롭다운 선택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과 기본값 설정을 통해 단순화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6667500" y="3314700"/>
            <a:ext cx="5278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실제 사용자 입장에서 입력 부담이 과도해질 수 있다는 점을 고려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6591300" y="38481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디자인 프로세스</a:t>
            </a:r>
            <a:endParaRPr lang="en-US" sz="1350" dirty="0"/>
          </a:p>
        </p:txBody>
      </p:sp>
      <p:sp>
        <p:nvSpPr>
          <p:cNvPr id="44" name="Text 12"/>
          <p:cNvSpPr/>
          <p:nvPr/>
        </p:nvSpPr>
        <p:spPr>
          <a:xfrm>
            <a:off x="6471895" y="4876800"/>
            <a:ext cx="14328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초기 단순 합산 구조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8212946" y="4876800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문제 인식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9243030" y="4876800"/>
            <a:ext cx="10619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분류 체계 추가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10617384" y="4876800"/>
            <a:ext cx="10110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최적화된 구조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1500"/>
            <a:ext cx="2438400" cy="6915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7239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8382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1638300"/>
            <a:ext cx="21336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75260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2057400"/>
            <a:ext cx="21336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21717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2476500"/>
            <a:ext cx="21336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25908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2895600"/>
            <a:ext cx="21336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30099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3314700"/>
            <a:ext cx="21336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34290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35084" y="933450"/>
            <a:ext cx="690116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49384" y="990600"/>
            <a:ext cx="11430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39500" y="876300"/>
            <a:ext cx="3048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15700" y="9810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658600" y="876300"/>
            <a:ext cx="3048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734800" y="9810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67000" y="1562100"/>
            <a:ext cx="2209800" cy="1066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19400" y="2286000"/>
            <a:ext cx="104775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29200" y="1562100"/>
            <a:ext cx="2209800" cy="1066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81600" y="2286000"/>
            <a:ext cx="104775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91400" y="1562100"/>
            <a:ext cx="2209800" cy="1066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43800" y="2286000"/>
            <a:ext cx="104775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53600" y="1562100"/>
            <a:ext cx="2209800" cy="1066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06000" y="2286000"/>
            <a:ext cx="123825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67000" y="2857500"/>
            <a:ext cx="4533900" cy="30670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43611" y="3086100"/>
            <a:ext cx="114300" cy="1143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65874" y="3086100"/>
            <a:ext cx="114300" cy="1143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02437" y="3086100"/>
            <a:ext cx="114300" cy="1143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819400" y="3390900"/>
            <a:ext cx="4229100" cy="23812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738539" y="4238625"/>
            <a:ext cx="390525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29500" y="2857500"/>
            <a:ext cx="4533900" cy="30670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442674" y="3067050"/>
            <a:ext cx="13335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145887" y="3067050"/>
            <a:ext cx="13335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581900" y="3390900"/>
            <a:ext cx="4229100" cy="23812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24851" y="4238625"/>
            <a:ext cx="342900" cy="3810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667000" y="6496050"/>
            <a:ext cx="2997101" cy="7620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781300" y="6610350"/>
            <a:ext cx="342900" cy="3810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857500" y="6715125"/>
            <a:ext cx="19050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16501" y="6496050"/>
            <a:ext cx="2997250" cy="7620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930801" y="6610350"/>
            <a:ext cx="323850" cy="3810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007001" y="6715125"/>
            <a:ext cx="171450" cy="1524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966150" y="6496050"/>
            <a:ext cx="2997101" cy="7620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080450" y="6610350"/>
            <a:ext cx="304800" cy="3810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156650" y="6715125"/>
            <a:ext cx="152400" cy="152400"/>
          </a:xfrm>
          <a:prstGeom prst="rect">
            <a:avLst/>
          </a:prstGeom>
        </p:spPr>
      </p:pic>
      <p:sp>
        <p:nvSpPr>
          <p:cNvPr id="51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대시보드 사용자 인터페이스</a:t>
            </a:r>
            <a:endParaRPr lang="en-US" sz="2250" dirty="0"/>
          </a:p>
        </p:txBody>
      </p:sp>
      <p:sp>
        <p:nvSpPr>
          <p:cNvPr id="52" name="Text 1"/>
          <p:cNvSpPr/>
          <p:nvPr/>
        </p:nvSpPr>
        <p:spPr>
          <a:xfrm>
            <a:off x="-60960" y="114300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</a:t>
            </a:r>
            <a:endParaRPr lang="en-US" sz="1050" dirty="0"/>
          </a:p>
        </p:txBody>
      </p:sp>
      <p:sp>
        <p:nvSpPr>
          <p:cNvPr id="53" name="Text 2"/>
          <p:cNvSpPr/>
          <p:nvPr/>
        </p:nvSpPr>
        <p:spPr>
          <a:xfrm>
            <a:off x="590550" y="17145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대시보드</a:t>
            </a:r>
            <a:endParaRPr lang="en-US" sz="1200" dirty="0"/>
          </a:p>
        </p:txBody>
      </p:sp>
      <p:sp>
        <p:nvSpPr>
          <p:cNvPr id="54" name="Text 3"/>
          <p:cNvSpPr/>
          <p:nvPr/>
        </p:nvSpPr>
        <p:spPr>
          <a:xfrm>
            <a:off x="571500" y="2133600"/>
            <a:ext cx="7897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관리</a:t>
            </a:r>
            <a:endParaRPr lang="en-US" sz="1200" dirty="0"/>
          </a:p>
        </p:txBody>
      </p:sp>
      <p:sp>
        <p:nvSpPr>
          <p:cNvPr id="55" name="Text 4"/>
          <p:cNvSpPr/>
          <p:nvPr/>
        </p:nvSpPr>
        <p:spPr>
          <a:xfrm>
            <a:off x="590550" y="2552700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분석</a:t>
            </a:r>
            <a:endParaRPr lang="en-US" sz="1200" dirty="0"/>
          </a:p>
        </p:txBody>
      </p:sp>
      <p:sp>
        <p:nvSpPr>
          <p:cNvPr id="56" name="Text 5"/>
          <p:cNvSpPr/>
          <p:nvPr/>
        </p:nvSpPr>
        <p:spPr>
          <a:xfrm>
            <a:off x="571500" y="2971800"/>
            <a:ext cx="548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보고서</a:t>
            </a:r>
            <a:endParaRPr lang="en-US" sz="1200" dirty="0"/>
          </a:p>
        </p:txBody>
      </p:sp>
      <p:sp>
        <p:nvSpPr>
          <p:cNvPr id="57" name="Text 6"/>
          <p:cNvSpPr/>
          <p:nvPr/>
        </p:nvSpPr>
        <p:spPr>
          <a:xfrm>
            <a:off x="571500" y="3390900"/>
            <a:ext cx="36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설정</a:t>
            </a:r>
            <a:endParaRPr lang="en-US" sz="1200" dirty="0"/>
          </a:p>
        </p:txBody>
      </p:sp>
      <p:sp>
        <p:nvSpPr>
          <p:cNvPr id="58" name="Text 7"/>
          <p:cNvSpPr/>
          <p:nvPr/>
        </p:nvSpPr>
        <p:spPr>
          <a:xfrm>
            <a:off x="2667000" y="800100"/>
            <a:ext cx="302984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탄소 배출 대시보드</a:t>
            </a:r>
            <a:endParaRPr lang="en-US" sz="1800" dirty="0"/>
          </a:p>
        </p:txBody>
      </p:sp>
      <p:sp>
        <p:nvSpPr>
          <p:cNvPr id="59" name="Text 8"/>
          <p:cNvSpPr/>
          <p:nvPr/>
        </p:nvSpPr>
        <p:spPr>
          <a:xfrm>
            <a:off x="2667000" y="1104900"/>
            <a:ext cx="3029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실시간 탄소 배출 데이터와 분석</a:t>
            </a:r>
            <a:endParaRPr lang="en-US" sz="1200" dirty="0"/>
          </a:p>
        </p:txBody>
      </p:sp>
      <p:sp>
        <p:nvSpPr>
          <p:cNvPr id="60" name="Text 9"/>
          <p:cNvSpPr/>
          <p:nvPr/>
        </p:nvSpPr>
        <p:spPr>
          <a:xfrm>
            <a:off x="9081492" y="857250"/>
            <a:ext cx="123929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조회 기간</a:t>
            </a:r>
            <a:endParaRPr lang="en-US" sz="1050" dirty="0"/>
          </a:p>
        </p:txBody>
      </p:sp>
      <p:sp>
        <p:nvSpPr>
          <p:cNvPr id="61" name="Text 10"/>
          <p:cNvSpPr/>
          <p:nvPr/>
        </p:nvSpPr>
        <p:spPr>
          <a:xfrm>
            <a:off x="8833634" y="1047750"/>
            <a:ext cx="148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2023년 1월 - 3월</a:t>
            </a:r>
            <a:endParaRPr lang="en-US" sz="1200" dirty="0"/>
          </a:p>
        </p:txBody>
      </p:sp>
      <p:sp>
        <p:nvSpPr>
          <p:cNvPr id="62" name="Text 11"/>
          <p:cNvSpPr/>
          <p:nvPr/>
        </p:nvSpPr>
        <p:spPr>
          <a:xfrm>
            <a:off x="10744200" y="990600"/>
            <a:ext cx="3200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월간</a:t>
            </a:r>
            <a:endParaRPr lang="en-US" sz="1050" dirty="0"/>
          </a:p>
        </p:txBody>
      </p:sp>
      <p:sp>
        <p:nvSpPr>
          <p:cNvPr id="63" name="Text 12"/>
          <p:cNvSpPr/>
          <p:nvPr/>
        </p:nvSpPr>
        <p:spPr>
          <a:xfrm>
            <a:off x="2819400" y="1714500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총 배출량</a:t>
            </a:r>
            <a:endParaRPr lang="en-US" sz="1050" dirty="0"/>
          </a:p>
        </p:txBody>
      </p:sp>
      <p:sp>
        <p:nvSpPr>
          <p:cNvPr id="64" name="Text 13"/>
          <p:cNvSpPr/>
          <p:nvPr/>
        </p:nvSpPr>
        <p:spPr>
          <a:xfrm>
            <a:off x="2819400" y="1943100"/>
            <a:ext cx="6768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32.8</a:t>
            </a:r>
            <a:endParaRPr lang="en-US" sz="1800" dirty="0"/>
          </a:p>
        </p:txBody>
      </p:sp>
      <p:sp>
        <p:nvSpPr>
          <p:cNvPr id="65" name="Text 14"/>
          <p:cNvSpPr/>
          <p:nvPr/>
        </p:nvSpPr>
        <p:spPr>
          <a:xfrm>
            <a:off x="3459659" y="2009775"/>
            <a:ext cx="4273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吨/월</a:t>
            </a:r>
            <a:endParaRPr lang="en-US" sz="1200" dirty="0"/>
          </a:p>
        </p:txBody>
      </p:sp>
      <p:sp>
        <p:nvSpPr>
          <p:cNvPr id="66" name="Text 15"/>
          <p:cNvSpPr/>
          <p:nvPr/>
        </p:nvSpPr>
        <p:spPr>
          <a:xfrm>
            <a:off x="2962275" y="2305050"/>
            <a:ext cx="139588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12% 저감 목표 달성률</a:t>
            </a:r>
            <a:endParaRPr lang="en-US" sz="900" dirty="0"/>
          </a:p>
        </p:txBody>
      </p:sp>
      <p:sp>
        <p:nvSpPr>
          <p:cNvPr id="67" name="Text 16"/>
          <p:cNvSpPr/>
          <p:nvPr/>
        </p:nvSpPr>
        <p:spPr>
          <a:xfrm>
            <a:off x="5181600" y="1714500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주행 거리</a:t>
            </a:r>
            <a:endParaRPr lang="en-US" sz="1050" dirty="0"/>
          </a:p>
        </p:txBody>
      </p:sp>
      <p:sp>
        <p:nvSpPr>
          <p:cNvPr id="68" name="Text 17"/>
          <p:cNvSpPr/>
          <p:nvPr/>
        </p:nvSpPr>
        <p:spPr>
          <a:xfrm>
            <a:off x="5181600" y="1943100"/>
            <a:ext cx="10587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25,680</a:t>
            </a:r>
            <a:endParaRPr lang="en-US" sz="1800" dirty="0"/>
          </a:p>
        </p:txBody>
      </p:sp>
      <p:sp>
        <p:nvSpPr>
          <p:cNvPr id="69" name="Text 18"/>
          <p:cNvSpPr/>
          <p:nvPr/>
        </p:nvSpPr>
        <p:spPr>
          <a:xfrm>
            <a:off x="6140053" y="2009775"/>
            <a:ext cx="5286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km/월</a:t>
            </a:r>
            <a:endParaRPr lang="en-US" sz="1200" dirty="0"/>
          </a:p>
        </p:txBody>
      </p:sp>
      <p:sp>
        <p:nvSpPr>
          <p:cNvPr id="70" name="Text 19"/>
          <p:cNvSpPr/>
          <p:nvPr/>
        </p:nvSpPr>
        <p:spPr>
          <a:xfrm>
            <a:off x="5324475" y="2305050"/>
            <a:ext cx="66651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5.3% 증가</a:t>
            </a:r>
            <a:endParaRPr lang="en-US" sz="900" dirty="0"/>
          </a:p>
        </p:txBody>
      </p:sp>
      <p:sp>
        <p:nvSpPr>
          <p:cNvPr id="71" name="Text 20"/>
          <p:cNvSpPr/>
          <p:nvPr/>
        </p:nvSpPr>
        <p:spPr>
          <a:xfrm>
            <a:off x="7543800" y="1714500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연료 효율</a:t>
            </a:r>
            <a:endParaRPr lang="en-US" sz="1050" dirty="0"/>
          </a:p>
        </p:txBody>
      </p:sp>
      <p:sp>
        <p:nvSpPr>
          <p:cNvPr id="72" name="Text 21"/>
          <p:cNvSpPr/>
          <p:nvPr/>
        </p:nvSpPr>
        <p:spPr>
          <a:xfrm>
            <a:off x="7543800" y="1943100"/>
            <a:ext cx="6768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0.82</a:t>
            </a:r>
            <a:endParaRPr lang="en-US" sz="1800" dirty="0"/>
          </a:p>
        </p:txBody>
      </p:sp>
      <p:sp>
        <p:nvSpPr>
          <p:cNvPr id="73" name="Text 22"/>
          <p:cNvSpPr/>
          <p:nvPr/>
        </p:nvSpPr>
        <p:spPr>
          <a:xfrm>
            <a:off x="8184059" y="2009775"/>
            <a:ext cx="7115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km/리터</a:t>
            </a:r>
            <a:endParaRPr lang="en-US" sz="1200" dirty="0"/>
          </a:p>
        </p:txBody>
      </p:sp>
      <p:sp>
        <p:nvSpPr>
          <p:cNvPr id="74" name="Text 23"/>
          <p:cNvSpPr/>
          <p:nvPr/>
        </p:nvSpPr>
        <p:spPr>
          <a:xfrm>
            <a:off x="7686675" y="2305050"/>
            <a:ext cx="66651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3.1% 향상</a:t>
            </a:r>
            <a:endParaRPr lang="en-US" sz="900" dirty="0"/>
          </a:p>
        </p:txBody>
      </p:sp>
      <p:sp>
        <p:nvSpPr>
          <p:cNvPr id="75" name="Text 24"/>
          <p:cNvSpPr/>
          <p:nvPr/>
        </p:nvSpPr>
        <p:spPr>
          <a:xfrm>
            <a:off x="9906000" y="1714500"/>
            <a:ext cx="190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비용</a:t>
            </a:r>
            <a:endParaRPr lang="en-US" sz="1050" dirty="0"/>
          </a:p>
        </p:txBody>
      </p:sp>
      <p:sp>
        <p:nvSpPr>
          <p:cNvPr id="76" name="Text 25"/>
          <p:cNvSpPr/>
          <p:nvPr/>
        </p:nvSpPr>
        <p:spPr>
          <a:xfrm>
            <a:off x="9906000" y="1943100"/>
            <a:ext cx="86778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8,200</a:t>
            </a:r>
            <a:endParaRPr lang="en-US" sz="1800" dirty="0"/>
          </a:p>
        </p:txBody>
      </p:sp>
      <p:sp>
        <p:nvSpPr>
          <p:cNvPr id="77" name="Text 26"/>
          <p:cNvSpPr/>
          <p:nvPr/>
        </p:nvSpPr>
        <p:spPr>
          <a:xfrm>
            <a:off x="10705356" y="2009775"/>
            <a:ext cx="6102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영라/톤</a:t>
            </a:r>
            <a:endParaRPr lang="en-US" sz="1200" dirty="0"/>
          </a:p>
        </p:txBody>
      </p:sp>
      <p:sp>
        <p:nvSpPr>
          <p:cNvPr id="78" name="Text 27"/>
          <p:cNvSpPr/>
          <p:nvPr/>
        </p:nvSpPr>
        <p:spPr>
          <a:xfrm>
            <a:off x="10067925" y="2305050"/>
            <a:ext cx="72955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탄소세 절감</a:t>
            </a:r>
            <a:endParaRPr lang="en-US" sz="900" dirty="0"/>
          </a:p>
        </p:txBody>
      </p:sp>
      <p:sp>
        <p:nvSpPr>
          <p:cNvPr id="79" name="Text 28"/>
          <p:cNvSpPr/>
          <p:nvPr/>
        </p:nvSpPr>
        <p:spPr>
          <a:xfrm>
            <a:off x="2819400" y="3009900"/>
            <a:ext cx="20666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원요소 분석</a:t>
            </a:r>
            <a:endParaRPr lang="en-US" sz="1350" dirty="0"/>
          </a:p>
        </p:txBody>
      </p:sp>
      <p:sp>
        <p:nvSpPr>
          <p:cNvPr id="80" name="Text 29"/>
          <p:cNvSpPr/>
          <p:nvPr/>
        </p:nvSpPr>
        <p:spPr>
          <a:xfrm>
            <a:off x="4996011" y="3067050"/>
            <a:ext cx="59239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사내 차량</a:t>
            </a:r>
            <a:endParaRPr lang="en-US" sz="900" dirty="0"/>
          </a:p>
        </p:txBody>
      </p:sp>
      <p:sp>
        <p:nvSpPr>
          <p:cNvPr id="81" name="Text 30"/>
          <p:cNvSpPr/>
          <p:nvPr/>
        </p:nvSpPr>
        <p:spPr>
          <a:xfrm>
            <a:off x="5718274" y="3067050"/>
            <a:ext cx="72955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 차량</a:t>
            </a:r>
            <a:endParaRPr lang="en-US" sz="900" dirty="0"/>
          </a:p>
        </p:txBody>
      </p:sp>
      <p:sp>
        <p:nvSpPr>
          <p:cNvPr id="82" name="Text 31"/>
          <p:cNvSpPr/>
          <p:nvPr/>
        </p:nvSpPr>
        <p:spPr>
          <a:xfrm>
            <a:off x="6554837" y="3067050"/>
            <a:ext cx="59239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고객 방문</a:t>
            </a:r>
            <a:endParaRPr lang="en-US" sz="900" dirty="0"/>
          </a:p>
        </p:txBody>
      </p:sp>
      <p:sp>
        <p:nvSpPr>
          <p:cNvPr id="83" name="Text 32"/>
          <p:cNvSpPr/>
          <p:nvPr/>
        </p:nvSpPr>
        <p:spPr>
          <a:xfrm>
            <a:off x="4235663" y="4695825"/>
            <a:ext cx="1396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원형 차트 시각화</a:t>
            </a:r>
            <a:endParaRPr lang="en-US" sz="1200" dirty="0"/>
          </a:p>
        </p:txBody>
      </p:sp>
      <p:sp>
        <p:nvSpPr>
          <p:cNvPr id="84" name="Text 33"/>
          <p:cNvSpPr/>
          <p:nvPr/>
        </p:nvSpPr>
        <p:spPr>
          <a:xfrm>
            <a:off x="7581900" y="3009900"/>
            <a:ext cx="13778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월별 배출 추이</a:t>
            </a:r>
            <a:endParaRPr lang="en-US" sz="1350" dirty="0"/>
          </a:p>
        </p:txBody>
      </p:sp>
      <p:sp>
        <p:nvSpPr>
          <p:cNvPr id="85" name="Text 34"/>
          <p:cNvSpPr/>
          <p:nvPr/>
        </p:nvSpPr>
        <p:spPr>
          <a:xfrm>
            <a:off x="10614124" y="3067050"/>
            <a:ext cx="45523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지난 달</a:t>
            </a:r>
            <a:endParaRPr lang="en-US" sz="900" dirty="0"/>
          </a:p>
        </p:txBody>
      </p:sp>
      <p:sp>
        <p:nvSpPr>
          <p:cNvPr id="86" name="Text 35"/>
          <p:cNvSpPr/>
          <p:nvPr/>
        </p:nvSpPr>
        <p:spPr>
          <a:xfrm>
            <a:off x="11317337" y="3067050"/>
            <a:ext cx="59239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올해 현재</a:t>
            </a:r>
            <a:endParaRPr lang="en-US" sz="900" dirty="0"/>
          </a:p>
        </p:txBody>
      </p:sp>
      <p:sp>
        <p:nvSpPr>
          <p:cNvPr id="87" name="Text 36"/>
          <p:cNvSpPr/>
          <p:nvPr/>
        </p:nvSpPr>
        <p:spPr>
          <a:xfrm>
            <a:off x="8998163" y="4695825"/>
            <a:ext cx="1396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라인 차트 시각화</a:t>
            </a:r>
            <a:endParaRPr lang="en-US" sz="1200" dirty="0"/>
          </a:p>
        </p:txBody>
      </p:sp>
      <p:sp>
        <p:nvSpPr>
          <p:cNvPr id="88" name="Text 37"/>
          <p:cNvSpPr/>
          <p:nvPr/>
        </p:nvSpPr>
        <p:spPr>
          <a:xfrm>
            <a:off x="2667000" y="6153150"/>
            <a:ext cx="929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감축 제안</a:t>
            </a:r>
            <a:endParaRPr lang="en-US" sz="1350" dirty="0"/>
          </a:p>
        </p:txBody>
      </p:sp>
      <p:sp>
        <p:nvSpPr>
          <p:cNvPr id="89" name="Text 38"/>
          <p:cNvSpPr/>
          <p:nvPr/>
        </p:nvSpPr>
        <p:spPr>
          <a:xfrm>
            <a:off x="3238500" y="6610350"/>
            <a:ext cx="23113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대체 교통 수단 활용</a:t>
            </a:r>
            <a:endParaRPr lang="en-US" sz="1050" dirty="0"/>
          </a:p>
        </p:txBody>
      </p:sp>
      <p:sp>
        <p:nvSpPr>
          <p:cNvPr id="90" name="Text 39"/>
          <p:cNvSpPr/>
          <p:nvPr/>
        </p:nvSpPr>
        <p:spPr>
          <a:xfrm>
            <a:off x="3238500" y="6838950"/>
            <a:ext cx="23113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지능형 대중교통 이용으로 배출량 15% 절감 예상 가능</a:t>
            </a:r>
            <a:endParaRPr lang="en-US" sz="900" dirty="0"/>
          </a:p>
        </p:txBody>
      </p:sp>
      <p:sp>
        <p:nvSpPr>
          <p:cNvPr id="91" name="Text 40"/>
          <p:cNvSpPr/>
          <p:nvPr/>
        </p:nvSpPr>
        <p:spPr>
          <a:xfrm>
            <a:off x="6368951" y="6610350"/>
            <a:ext cx="20722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전기차 전환 제안</a:t>
            </a:r>
            <a:endParaRPr lang="en-US" sz="1050" dirty="0"/>
          </a:p>
        </p:txBody>
      </p:sp>
      <p:sp>
        <p:nvSpPr>
          <p:cNvPr id="92" name="Text 41"/>
          <p:cNvSpPr/>
          <p:nvPr/>
        </p:nvSpPr>
        <p:spPr>
          <a:xfrm>
            <a:off x="6368951" y="6838950"/>
            <a:ext cx="248673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전기차로 교체 시 배출량 80% 감소 효과</a:t>
            </a:r>
            <a:endParaRPr lang="en-US" sz="900" dirty="0"/>
          </a:p>
        </p:txBody>
      </p:sp>
      <p:sp>
        <p:nvSpPr>
          <p:cNvPr id="93" name="Text 42"/>
          <p:cNvSpPr/>
          <p:nvPr/>
        </p:nvSpPr>
        <p:spPr>
          <a:xfrm>
            <a:off x="9499550" y="6610350"/>
            <a:ext cx="19996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최적화된 경로 설계</a:t>
            </a:r>
            <a:endParaRPr lang="en-US" sz="1050" dirty="0"/>
          </a:p>
        </p:txBody>
      </p:sp>
      <p:sp>
        <p:nvSpPr>
          <p:cNvPr id="94" name="Text 43"/>
          <p:cNvSpPr/>
          <p:nvPr/>
        </p:nvSpPr>
        <p:spPr>
          <a:xfrm>
            <a:off x="9499550" y="6838950"/>
            <a:ext cx="239958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최단경로 기반 주행으로 연료절감 10%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838200"/>
            <a:ext cx="6766471" cy="5695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111" y="3057525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0371" y="1257300"/>
            <a:ext cx="443478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2771" y="1409700"/>
            <a:ext cx="41910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071" y="15240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0371" y="2324100"/>
            <a:ext cx="443478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2771" y="2476500"/>
            <a:ext cx="41910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7071" y="25908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0371" y="3238500"/>
            <a:ext cx="443478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42771" y="3390900"/>
            <a:ext cx="447675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7071" y="3505200"/>
            <a:ext cx="2190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0371" y="4152900"/>
            <a:ext cx="443478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2771" y="4305300"/>
            <a:ext cx="419100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7071" y="44196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시연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1294061" y="3781425"/>
            <a:ext cx="47116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시연 영상 재생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822900" y="4124325"/>
            <a:ext cx="565392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시스템의 주요 기능과 사용자 인터페이스를 시연합니다</a:t>
            </a:r>
            <a:endParaRPr lang="en-US" sz="1050" dirty="0"/>
          </a:p>
        </p:txBody>
      </p:sp>
      <p:sp>
        <p:nvSpPr>
          <p:cNvPr id="22" name="Text 3"/>
          <p:cNvSpPr/>
          <p:nvPr/>
        </p:nvSpPr>
        <p:spPr>
          <a:xfrm>
            <a:off x="7490371" y="838200"/>
            <a:ext cx="4434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 기능 시연</a:t>
            </a:r>
            <a:endParaRPr lang="en-US" sz="1800" dirty="0"/>
          </a:p>
        </p:txBody>
      </p:sp>
      <p:sp>
        <p:nvSpPr>
          <p:cNvPr id="23" name="Text 4"/>
          <p:cNvSpPr/>
          <p:nvPr/>
        </p:nvSpPr>
        <p:spPr>
          <a:xfrm>
            <a:off x="8176171" y="1409700"/>
            <a:ext cx="3596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 관리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8176171" y="1676400"/>
            <a:ext cx="35965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유형, 출입 시간, 이동 거리 등 기본 정보를 자동으로 기록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8176171" y="2476500"/>
            <a:ext cx="35333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배출량 계산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8176171" y="2743200"/>
            <a:ext cx="42399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연료 종류, 이동 거리, 차량 성능에 따라 정확한 배출량 계산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8204746" y="3390900"/>
            <a:ext cx="32728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시각화</a:t>
            </a:r>
            <a:endParaRPr lang="en-US" sz="1350" dirty="0"/>
          </a:p>
        </p:txBody>
      </p:sp>
      <p:sp>
        <p:nvSpPr>
          <p:cNvPr id="28" name="Text 9"/>
          <p:cNvSpPr/>
          <p:nvPr/>
        </p:nvSpPr>
        <p:spPr>
          <a:xfrm>
            <a:off x="8204746" y="3657600"/>
            <a:ext cx="3927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유형, 운행 목적별로 분류하여 탄소 배출량 시각화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8176171" y="4305300"/>
            <a:ext cx="32243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검색 및 필터링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8176171" y="4572000"/>
            <a:ext cx="38692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기간, 차량 유형, 운행 목적별로 데이터 검색 및 필터링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47800"/>
            <a:ext cx="56388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764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8288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47800"/>
            <a:ext cx="5638800" cy="1828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16764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925" y="18288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3581400"/>
            <a:ext cx="563880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8100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3962400"/>
            <a:ext cx="1714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581400"/>
            <a:ext cx="5638800" cy="1828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38100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8925" y="396240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9200" y="5876925"/>
            <a:ext cx="9753600" cy="285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향후 개선 방향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304800" y="876300"/>
            <a:ext cx="11582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시스템의 향후 개선 및 확장 계획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295400" y="16764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배출량 기반 예측 모델 도입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295400" y="20193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历史 탄소 배출 데이터를 분석하여 향후 추세를 예측할 수 있는 AI 모델 도입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1314450" y="25908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단기 및 장기 예측 capabilities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1314450" y="28194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비정상적 배출량 패턴 감지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7239000" y="16764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ERP 및 IoT 시스템과의 연동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7239000" y="20193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기존 시스템과의 원활한 통합을 위해 API 개발 및 데이터 교환 표준화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258050" y="25908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자동화된 데이터 수집 시스템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7258050" y="28194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실시간 데이터 동기화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1295400" y="381000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환경에서도 확인 가능한 대시보드 제공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1295400" y="41529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기기에서도 효율적으로 데이터를 확인할 수 있도록 반응형 웹 디자인 적용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1314450" y="47244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최적화 UI/UX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1314450" y="49530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알림 및 경고 기능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7239000" y="3810000"/>
            <a:ext cx="5095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 감축 활동 관리 및 평가 기능 추가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7239000" y="4152900"/>
            <a:ext cx="5095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협력사의 탄소 감축 활동을 추적하고 평가할 수 있는 기능 개발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7258050" y="4495800"/>
            <a:ext cx="44365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협력사별 탄소 배출 통계 관리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7258050" y="4724400"/>
            <a:ext cx="44365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감축 목표 설정 및 진척도 추적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304800" y="6019800"/>
            <a:ext cx="1158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시스템의 지속적인 발전을 위해 지속적으로 개선 방향을 확대하고 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76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1066800"/>
            <a:ext cx="342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876300"/>
            <a:ext cx="10591800" cy="2628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2286000"/>
            <a:ext cx="3276600" cy="990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6400" y="2476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2286000"/>
            <a:ext cx="3276600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5400" y="2476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0" y="2286000"/>
            <a:ext cx="3276600" cy="99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4400" y="2476500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3886200"/>
            <a:ext cx="11582400" cy="1485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96600" y="4248150"/>
            <a:ext cx="76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63288" y="4438650"/>
            <a:ext cx="428625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마무리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524000" y="1104900"/>
            <a:ext cx="10134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목표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524000" y="1524000"/>
            <a:ext cx="10134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시스템은 단순한 탄소 배출 모니터링을 넘어, </a:t>
            </a:r>
            <a:r>
              <a:rPr lang="en-US" sz="13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기업의 탄소중립 전략을 지원하는 의사결정 도구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를 목표로 합니다.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1905000" y="2438400"/>
            <a:ext cx="17621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기반 의사결정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676400" y="2743200"/>
            <a:ext cx="2971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정확한 탄소 배출 데이터를 기반으로 한 전략적 의사결정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5334000" y="2438400"/>
            <a:ext cx="115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탄소중립 지원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5105400" y="2743200"/>
            <a:ext cx="3566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국가 및 지역별 탄소 규제에 적절히 대응</a:t>
            </a:r>
            <a:endParaRPr lang="en-US" sz="1050" dirty="0"/>
          </a:p>
        </p:txBody>
      </p:sp>
      <p:sp>
        <p:nvSpPr>
          <p:cNvPr id="24" name="Text 7"/>
          <p:cNvSpPr/>
          <p:nvPr/>
        </p:nvSpPr>
        <p:spPr>
          <a:xfrm>
            <a:off x="8801100" y="2438400"/>
            <a:ext cx="9801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ESG 신뢰성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8534400" y="2743200"/>
            <a:ext cx="2971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국제 환경 인증 및 보고를 위한 신뢰성 있는 데이터 확보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533400" y="4114800"/>
            <a:ext cx="10134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27" name="Text 10"/>
          <p:cNvSpPr/>
          <p:nvPr/>
        </p:nvSpPr>
        <p:spPr>
          <a:xfrm>
            <a:off x="533400" y="4495800"/>
            <a:ext cx="12161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시스템이 기업의 탄소 중립 전략 수립과 실행에 긍정적인 역할을 하길 바랍니다.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533400" y="4914900"/>
            <a:ext cx="1013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질문 있으신가요?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1860</Words>
  <Application>Microsoft Office PowerPoint</Application>
  <PresentationFormat>와이드스크린</PresentationFormat>
  <Paragraphs>329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류민우</cp:lastModifiedBy>
  <cp:revision>2</cp:revision>
  <dcterms:created xsi:type="dcterms:W3CDTF">2026-01-13T10:20:36Z</dcterms:created>
  <dcterms:modified xsi:type="dcterms:W3CDTF">2026-01-13T11:04:38Z</dcterms:modified>
</cp:coreProperties>
</file>