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8" r:id="rId2"/>
  </p:sldIdLst>
  <p:sldSz cx="6858000" cy="9144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4056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025AF6B-F0AD-4229-81FE-A6A9A6C18193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9525"/>
            <a:ext cx="25892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A6F3B67-1349-4FF8-9F12-72CA0B44ED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87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1pPr>
    <a:lvl2pPr marL="316520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2pPr>
    <a:lvl3pPr marL="633039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3pPr>
    <a:lvl4pPr marL="949559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4pPr>
    <a:lvl5pPr marL="1266078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5pPr>
    <a:lvl6pPr marL="1582598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6pPr>
    <a:lvl7pPr marL="1899117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7pPr>
    <a:lvl8pPr marL="2215637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8pPr>
    <a:lvl9pPr marL="2532156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>
            <a:extLst>
              <a:ext uri="{FF2B5EF4-FFF2-40B4-BE49-F238E27FC236}">
                <a16:creationId xmlns:a16="http://schemas.microsoft.com/office/drawing/2014/main" id="{01FB1209-8FC4-4349-A114-E7DA33F3F5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슬라이드 노트 개체 틀 2">
            <a:extLst>
              <a:ext uri="{FF2B5EF4-FFF2-40B4-BE49-F238E27FC236}">
                <a16:creationId xmlns:a16="http://schemas.microsoft.com/office/drawing/2014/main" id="{1301B16D-3D55-477B-837E-04AE64FBFE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124" name="슬라이드 번호 개체 틀 3">
            <a:extLst>
              <a:ext uri="{FF2B5EF4-FFF2-40B4-BE49-F238E27FC236}">
                <a16:creationId xmlns:a16="http://schemas.microsoft.com/office/drawing/2014/main" id="{532F9FF4-27E0-45B0-9C1F-A3E2663E4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804986" indent="-309610"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238441" indent="-247688"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733817" indent="-247688"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229193" indent="-247688"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E6A93BB-0B8A-4DF1-8455-0D63D66A55BC}" type="slidenum">
              <a:rPr lang="ko-KR" altLang="en-US" sz="130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 sz="13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757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8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337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117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77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030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00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20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90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95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891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D9DF8-48F1-447A-A07E-D864DEEAAF04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88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06">
            <a:extLst>
              <a:ext uri="{FF2B5EF4-FFF2-40B4-BE49-F238E27FC236}">
                <a16:creationId xmlns:a16="http://schemas.microsoft.com/office/drawing/2014/main" id="{FD5BF23E-41B4-487A-952A-4728FE1F2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79" y="406803"/>
            <a:ext cx="6065359" cy="701353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799" tIns="9399" rIns="18799" bIns="9399" anchor="ctr"/>
          <a:lstStyle>
            <a:lvl1pPr marL="69850" indent="-69850" latinLnBrk="1">
              <a:spcBef>
                <a:spcPct val="20000"/>
              </a:spcBef>
              <a:buChar char="•"/>
              <a:defRPr kumimoji="1" sz="12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10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ts val="60"/>
              </a:spcBef>
              <a:spcAft>
                <a:spcPts val="60"/>
              </a:spcAft>
              <a:buFont typeface="Wingdings" panose="05000000000000000000" pitchFamily="2" charset="2"/>
              <a:buChar char="§"/>
            </a:pPr>
            <a:endParaRPr kumimoji="0" lang="en-US" altLang="ko-KR" sz="737"/>
          </a:p>
          <a:p>
            <a:pPr>
              <a:spcBef>
                <a:spcPts val="60"/>
              </a:spcBef>
              <a:spcAft>
                <a:spcPts val="60"/>
              </a:spcAft>
              <a:buFont typeface="Wingdings" panose="05000000000000000000" pitchFamily="2" charset="2"/>
              <a:buChar char="§"/>
            </a:pPr>
            <a:endParaRPr lang="ko-KR" altLang="en-US" sz="737"/>
          </a:p>
        </p:txBody>
      </p:sp>
      <p:sp>
        <p:nvSpPr>
          <p:cNvPr id="4101" name="Rectangle 206">
            <a:extLst>
              <a:ext uri="{FF2B5EF4-FFF2-40B4-BE49-F238E27FC236}">
                <a16:creationId xmlns:a16="http://schemas.microsoft.com/office/drawing/2014/main" id="{3CFF430D-B485-46A6-A0F3-80F09B8D3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24" y="1461904"/>
            <a:ext cx="6073422" cy="2633846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799" tIns="9399" rIns="18799" bIns="9399" anchor="ctr"/>
          <a:lstStyle>
            <a:lvl1pPr latinLnBrk="1">
              <a:spcBef>
                <a:spcPct val="20000"/>
              </a:spcBef>
              <a:buChar char="•"/>
              <a:defRPr kumimoji="1" sz="12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10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753"/>
          </a:p>
        </p:txBody>
      </p:sp>
      <p:grpSp>
        <p:nvGrpSpPr>
          <p:cNvPr id="4102" name="그룹 83">
            <a:extLst>
              <a:ext uri="{FF2B5EF4-FFF2-40B4-BE49-F238E27FC236}">
                <a16:creationId xmlns:a16="http://schemas.microsoft.com/office/drawing/2014/main" id="{57BEA6EC-1CD6-4AB7-B190-318CEF2B2CB1}"/>
              </a:ext>
            </a:extLst>
          </p:cNvPr>
          <p:cNvGrpSpPr>
            <a:grpSpLocks/>
          </p:cNvGrpSpPr>
          <p:nvPr/>
        </p:nvGrpSpPr>
        <p:grpSpPr bwMode="auto">
          <a:xfrm>
            <a:off x="349754" y="266901"/>
            <a:ext cx="6158492" cy="283432"/>
            <a:chOff x="815307" y="4478724"/>
            <a:chExt cx="20787393" cy="793287"/>
          </a:xfrm>
        </p:grpSpPr>
        <p:grpSp>
          <p:nvGrpSpPr>
            <p:cNvPr id="4119" name="Group 52">
              <a:extLst>
                <a:ext uri="{FF2B5EF4-FFF2-40B4-BE49-F238E27FC236}">
                  <a16:creationId xmlns:a16="http://schemas.microsoft.com/office/drawing/2014/main" id="{46164744-7337-43AE-B1FB-FD472E9EAC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906" y="4575124"/>
              <a:ext cx="20659794" cy="696887"/>
              <a:chOff x="412" y="1981"/>
              <a:chExt cx="4994" cy="234"/>
            </a:xfrm>
          </p:grpSpPr>
          <p:sp>
            <p:nvSpPr>
              <p:cNvPr id="4122" name="AutoShape 53">
                <a:extLst>
                  <a:ext uri="{FF2B5EF4-FFF2-40B4-BE49-F238E27FC236}">
                    <a16:creationId xmlns:a16="http://schemas.microsoft.com/office/drawing/2014/main" id="{F35D687B-511E-45CD-9CBF-6FE4439A7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981"/>
                <a:ext cx="4987" cy="234"/>
              </a:xfrm>
              <a:prstGeom prst="roundRect">
                <a:avLst>
                  <a:gd name="adj" fmla="val 41921"/>
                </a:avLst>
              </a:prstGeom>
              <a:gradFill rotWithShape="1">
                <a:gsLst>
                  <a:gs pos="0">
                    <a:srgbClr val="73E6F8"/>
                  </a:gs>
                  <a:gs pos="100000">
                    <a:srgbClr val="0CAEE6"/>
                  </a:gs>
                </a:gsLst>
                <a:lin ang="5400000" scaled="1"/>
              </a:gradFill>
              <a:ln>
                <a:noFill/>
              </a:ln>
              <a:effectLst>
                <a:prstShdw prst="shdw17" dist="17961" dir="13500000">
                  <a:srgbClr val="0989B7"/>
                </a:prstShdw>
              </a:effectLst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4123" name="AutoShape 54">
                <a:extLst>
                  <a:ext uri="{FF2B5EF4-FFF2-40B4-BE49-F238E27FC236}">
                    <a16:creationId xmlns:a16="http://schemas.microsoft.com/office/drawing/2014/main" id="{40334EBC-EEBA-4014-9158-E0C96BB0C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1998"/>
                <a:ext cx="4758" cy="7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bg1">
                      <a:alpha val="89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4" name="AutoShape 55">
                <a:extLst>
                  <a:ext uri="{FF2B5EF4-FFF2-40B4-BE49-F238E27FC236}">
                    <a16:creationId xmlns:a16="http://schemas.microsoft.com/office/drawing/2014/main" id="{39CCE2A7-DA83-4C5B-AD55-ED8DF9C3F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" y="1981"/>
                <a:ext cx="4987" cy="234"/>
              </a:xfrm>
              <a:prstGeom prst="roundRect">
                <a:avLst>
                  <a:gd name="adj" fmla="val 4192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 defTabSz="3084513" eaLnBrk="0" hangingPunct="0">
                  <a:spcBef>
                    <a:spcPct val="20000"/>
                  </a:spcBef>
                  <a:buChar char="•"/>
                  <a:defRPr kumimoji="1" sz="151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1541463" indent="-1349375" defTabSz="3084513" eaLnBrk="0" hangingPunct="0">
                  <a:spcBef>
                    <a:spcPct val="20000"/>
                  </a:spcBef>
                  <a:buChar char="–"/>
                  <a:defRPr kumimoji="1" sz="1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3084513" indent="-1079500" defTabSz="3084513" eaLnBrk="0" hangingPunct="0">
                  <a:spcBef>
                    <a:spcPct val="20000"/>
                  </a:spcBef>
                  <a:buChar char="•"/>
                  <a:defRPr kumimoji="1" sz="113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4627563" indent="-1081088" defTabSz="3084513" eaLnBrk="0" hangingPunct="0">
                  <a:spcBef>
                    <a:spcPct val="20000"/>
                  </a:spcBef>
                  <a:buChar char="–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6169025" indent="-1081088" defTabSz="3084513" eaLnBrk="0" hangingPunct="0">
                  <a:spcBef>
                    <a:spcPct val="20000"/>
                  </a:spcBef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66262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70834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75406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79978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en-US" sz="1473" dirty="0"/>
              </a:p>
            </p:txBody>
          </p:sp>
        </p:grpSp>
        <p:sp>
          <p:nvSpPr>
            <p:cNvPr id="4120" name="AutoShape 64">
              <a:extLst>
                <a:ext uri="{FF2B5EF4-FFF2-40B4-BE49-F238E27FC236}">
                  <a16:creationId xmlns:a16="http://schemas.microsoft.com/office/drawing/2014/main" id="{21145ABA-C3F0-4AE4-9B37-AA9406D757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0000">
              <a:off x="815307" y="4478724"/>
              <a:ext cx="597278" cy="782124"/>
            </a:xfrm>
            <a:prstGeom prst="foldedCorner">
              <a:avLst>
                <a:gd name="adj" fmla="val 25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2700000" scaled="1"/>
            </a:gradFill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32000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14">
                  <a:solidFill>
                    <a:schemeClr val="accent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</a:p>
          </p:txBody>
        </p:sp>
        <p:sp>
          <p:nvSpPr>
            <p:cNvPr id="4121" name="Rectangle 69">
              <a:extLst>
                <a:ext uri="{FF2B5EF4-FFF2-40B4-BE49-F238E27FC236}">
                  <a16:creationId xmlns:a16="http://schemas.microsoft.com/office/drawing/2014/main" id="{AACB7F5E-5ADB-4395-8764-30DA986A9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053" y="4575124"/>
              <a:ext cx="3859733" cy="586686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1016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프로젝트 주제</a:t>
              </a:r>
              <a:endParaRPr lang="en-US" altLang="ko-KR" sz="1016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4C8B05D-8966-4B83-887E-08C06CAEE3D9}"/>
              </a:ext>
            </a:extLst>
          </p:cNvPr>
          <p:cNvSpPr/>
          <p:nvPr/>
        </p:nvSpPr>
        <p:spPr>
          <a:xfrm>
            <a:off x="465062" y="589844"/>
            <a:ext cx="5999238" cy="4656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99" tIns="9399" rIns="18799" bIns="9399" anchor="ctr"/>
          <a:lstStyle>
            <a:defPPr>
              <a:defRPr lang="ko-KR"/>
            </a:defPPr>
            <a:lvl1pPr marL="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54254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085098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2764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17019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712742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25529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79784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34038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j-ea"/>
              </a:rPr>
              <a:t> 프로젝트명</a:t>
            </a:r>
            <a:r>
              <a:rPr lang="en-US" altLang="ko-KR" sz="1200" b="1" dirty="0">
                <a:solidFill>
                  <a:schemeClr val="tx1"/>
                </a:solidFill>
                <a:latin typeface="+mj-ea"/>
              </a:rPr>
              <a:t> :</a:t>
            </a:r>
            <a:r>
              <a:rPr lang="ko-KR" altLang="en-US" sz="12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j-ea"/>
              </a:rPr>
              <a:t>『 </a:t>
            </a:r>
            <a:r>
              <a:rPr lang="ko-KR" altLang="en-US" sz="1200" b="1" dirty="0">
                <a:solidFill>
                  <a:schemeClr val="tx1"/>
                </a:solidFill>
                <a:latin typeface="+mj-ea"/>
              </a:rPr>
              <a:t>출입차량 탄소배출 모니터링 </a:t>
            </a:r>
            <a:r>
              <a:rPr lang="en-US" altLang="ko-KR" sz="1200" b="1" dirty="0">
                <a:solidFill>
                  <a:schemeClr val="tx1"/>
                </a:solidFill>
                <a:latin typeface="+mj-ea"/>
              </a:rPr>
              <a:t>』  </a:t>
            </a:r>
          </a:p>
        </p:txBody>
      </p:sp>
      <p:grpSp>
        <p:nvGrpSpPr>
          <p:cNvPr id="4105" name="그룹 83">
            <a:extLst>
              <a:ext uri="{FF2B5EF4-FFF2-40B4-BE49-F238E27FC236}">
                <a16:creationId xmlns:a16="http://schemas.microsoft.com/office/drawing/2014/main" id="{98FD380B-51A6-48F8-B4B5-3C741D87FD8F}"/>
              </a:ext>
            </a:extLst>
          </p:cNvPr>
          <p:cNvGrpSpPr>
            <a:grpSpLocks/>
          </p:cNvGrpSpPr>
          <p:nvPr/>
        </p:nvGrpSpPr>
        <p:grpSpPr bwMode="auto">
          <a:xfrm>
            <a:off x="349754" y="1238546"/>
            <a:ext cx="6158492" cy="283432"/>
            <a:chOff x="815307" y="4478724"/>
            <a:chExt cx="20787393" cy="793287"/>
          </a:xfrm>
        </p:grpSpPr>
        <p:grpSp>
          <p:nvGrpSpPr>
            <p:cNvPr id="4113" name="Group 52">
              <a:extLst>
                <a:ext uri="{FF2B5EF4-FFF2-40B4-BE49-F238E27FC236}">
                  <a16:creationId xmlns:a16="http://schemas.microsoft.com/office/drawing/2014/main" id="{BF1933BD-634F-4E67-86B0-1C8F146774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906" y="4575124"/>
              <a:ext cx="20659794" cy="696887"/>
              <a:chOff x="412" y="1981"/>
              <a:chExt cx="4994" cy="234"/>
            </a:xfrm>
          </p:grpSpPr>
          <p:sp>
            <p:nvSpPr>
              <p:cNvPr id="4116" name="AutoShape 53">
                <a:extLst>
                  <a:ext uri="{FF2B5EF4-FFF2-40B4-BE49-F238E27FC236}">
                    <a16:creationId xmlns:a16="http://schemas.microsoft.com/office/drawing/2014/main" id="{9FABBC61-686A-43A8-804B-9884B71CF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981"/>
                <a:ext cx="4987" cy="234"/>
              </a:xfrm>
              <a:prstGeom prst="roundRect">
                <a:avLst>
                  <a:gd name="adj" fmla="val 41921"/>
                </a:avLst>
              </a:prstGeom>
              <a:gradFill rotWithShape="1">
                <a:gsLst>
                  <a:gs pos="0">
                    <a:srgbClr val="73E6F8"/>
                  </a:gs>
                  <a:gs pos="100000">
                    <a:srgbClr val="0CAEE6"/>
                  </a:gs>
                </a:gsLst>
                <a:lin ang="5400000" scaled="1"/>
              </a:gradFill>
              <a:ln>
                <a:noFill/>
              </a:ln>
              <a:effectLst>
                <a:prstShdw prst="shdw17" dist="17961" dir="13500000">
                  <a:srgbClr val="0989B7"/>
                </a:prstShdw>
              </a:effectLst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4117" name="AutoShape 54">
                <a:extLst>
                  <a:ext uri="{FF2B5EF4-FFF2-40B4-BE49-F238E27FC236}">
                    <a16:creationId xmlns:a16="http://schemas.microsoft.com/office/drawing/2014/main" id="{82E1580E-CC9E-434E-9AB0-F2C0D679A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1998"/>
                <a:ext cx="4758" cy="7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bg1">
                      <a:alpha val="89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53" name="AutoShape 55">
                <a:extLst>
                  <a:ext uri="{FF2B5EF4-FFF2-40B4-BE49-F238E27FC236}">
                    <a16:creationId xmlns:a16="http://schemas.microsoft.com/office/drawing/2014/main" id="{C6F9D9FD-2D21-4EE9-8002-B89FB3059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" y="1981"/>
                <a:ext cx="4987" cy="234"/>
              </a:xfrm>
              <a:prstGeom prst="roundRect">
                <a:avLst>
                  <a:gd name="adj" fmla="val 4192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 defTabSz="3084513" eaLnBrk="0" hangingPunct="0">
                  <a:spcBef>
                    <a:spcPct val="20000"/>
                  </a:spcBef>
                  <a:buChar char="•"/>
                  <a:defRPr kumimoji="1" sz="151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1541463" indent="-1349375" defTabSz="3084513" eaLnBrk="0" hangingPunct="0">
                  <a:spcBef>
                    <a:spcPct val="20000"/>
                  </a:spcBef>
                  <a:buChar char="–"/>
                  <a:defRPr kumimoji="1" sz="1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3084513" indent="-1079500" defTabSz="3084513" eaLnBrk="0" hangingPunct="0">
                  <a:spcBef>
                    <a:spcPct val="20000"/>
                  </a:spcBef>
                  <a:buChar char="•"/>
                  <a:defRPr kumimoji="1" sz="113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4627563" indent="-1081088" defTabSz="3084513" eaLnBrk="0" hangingPunct="0">
                  <a:spcBef>
                    <a:spcPct val="20000"/>
                  </a:spcBef>
                  <a:buChar char="–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6169025" indent="-1081088" defTabSz="3084513" eaLnBrk="0" hangingPunct="0">
                  <a:spcBef>
                    <a:spcPct val="20000"/>
                  </a:spcBef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66262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70834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75406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79978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en-US" sz="1473"/>
              </a:p>
            </p:txBody>
          </p:sp>
        </p:grpSp>
        <p:sp>
          <p:nvSpPr>
            <p:cNvPr id="4114" name="AutoShape 64">
              <a:extLst>
                <a:ext uri="{FF2B5EF4-FFF2-40B4-BE49-F238E27FC236}">
                  <a16:creationId xmlns:a16="http://schemas.microsoft.com/office/drawing/2014/main" id="{47A33130-9E47-4103-8E1B-F031E9006F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0000">
              <a:off x="815307" y="4478724"/>
              <a:ext cx="597278" cy="782124"/>
            </a:xfrm>
            <a:prstGeom prst="foldedCorner">
              <a:avLst>
                <a:gd name="adj" fmla="val 25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2700000" scaled="1"/>
            </a:gradFill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32000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14">
                  <a:solidFill>
                    <a:schemeClr val="accent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</a:p>
          </p:txBody>
        </p:sp>
        <p:sp>
          <p:nvSpPr>
            <p:cNvPr id="4115" name="Rectangle 69">
              <a:extLst>
                <a:ext uri="{FF2B5EF4-FFF2-40B4-BE49-F238E27FC236}">
                  <a16:creationId xmlns:a16="http://schemas.microsoft.com/office/drawing/2014/main" id="{272C3281-2C1C-4755-BE08-9920FB7ED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053" y="4575124"/>
              <a:ext cx="3859733" cy="586686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1016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개발 배경 및 목표</a:t>
              </a:r>
              <a:endParaRPr lang="en-US" altLang="ko-KR" sz="1016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8E7328D-394B-4CE9-8E7B-6ED4F0D60CA8}"/>
              </a:ext>
            </a:extLst>
          </p:cNvPr>
          <p:cNvSpPr/>
          <p:nvPr/>
        </p:nvSpPr>
        <p:spPr>
          <a:xfrm>
            <a:off x="465062" y="1581646"/>
            <a:ext cx="5999238" cy="2466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99" tIns="9399" rIns="18799" bIns="9399" anchor="ctr"/>
          <a:lstStyle>
            <a:defPPr>
              <a:defRPr lang="ko-KR"/>
            </a:defPPr>
            <a:lvl1pPr marL="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54254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085098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2764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17019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712742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25529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79784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34038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● 개발 배경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지구 온난화 등 세계적 기후 재해로 인해 글로벌 및 정부의 환경 규제 강화로 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경영 전략 변화 필요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유럽 수출에 대응하여 탄소 배출 관리가 필요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● 프로젝트 목표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본 프로젝트로 대략적인 탄소 배출량 데이터를 수집하고 이를 바탕으로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배출 감축 목표 설정 등 고도화 기반 마련 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en-US" altLang="ko-KR" sz="1200" dirty="0" err="1">
                <a:solidFill>
                  <a:schemeClr val="tx1"/>
                </a:solidFill>
                <a:latin typeface="맑은 고딕" pitchFamily="50" charset="-127"/>
              </a:rPr>
              <a:t>SBTi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2028 (Science Based Targets initiative) =&gt; CO2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배출 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50%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감축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22" name="Rectangle 206">
            <a:extLst>
              <a:ext uri="{FF2B5EF4-FFF2-40B4-BE49-F238E27FC236}">
                <a16:creationId xmlns:a16="http://schemas.microsoft.com/office/drawing/2014/main" id="{4BD2D023-E516-461D-82BD-1B9B57F31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30" y="4327393"/>
            <a:ext cx="6065359" cy="1569682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799" tIns="9399" rIns="18799" bIns="9399" anchor="ctr"/>
          <a:lstStyle>
            <a:lvl1pPr marL="69850" indent="-69850" latinLnBrk="1">
              <a:spcBef>
                <a:spcPct val="20000"/>
              </a:spcBef>
              <a:buChar char="•"/>
              <a:defRPr kumimoji="1" sz="12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10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ts val="60"/>
              </a:spcBef>
              <a:spcAft>
                <a:spcPts val="60"/>
              </a:spcAft>
              <a:buFont typeface="Wingdings" panose="05000000000000000000" pitchFamily="2" charset="2"/>
              <a:buChar char="§"/>
            </a:pPr>
            <a:endParaRPr kumimoji="0" lang="en-US" altLang="ko-KR" sz="737"/>
          </a:p>
          <a:p>
            <a:pPr>
              <a:spcBef>
                <a:spcPts val="60"/>
              </a:spcBef>
              <a:spcAft>
                <a:spcPts val="60"/>
              </a:spcAft>
              <a:buFont typeface="Wingdings" panose="05000000000000000000" pitchFamily="2" charset="2"/>
              <a:buChar char="§"/>
            </a:pPr>
            <a:endParaRPr lang="ko-KR" altLang="en-US" sz="737"/>
          </a:p>
        </p:txBody>
      </p:sp>
      <p:grpSp>
        <p:nvGrpSpPr>
          <p:cNvPr id="23" name="그룹 83">
            <a:extLst>
              <a:ext uri="{FF2B5EF4-FFF2-40B4-BE49-F238E27FC236}">
                <a16:creationId xmlns:a16="http://schemas.microsoft.com/office/drawing/2014/main" id="{568AF3B5-A37E-46C4-A345-BEECF909AA04}"/>
              </a:ext>
            </a:extLst>
          </p:cNvPr>
          <p:cNvGrpSpPr>
            <a:grpSpLocks/>
          </p:cNvGrpSpPr>
          <p:nvPr/>
        </p:nvGrpSpPr>
        <p:grpSpPr bwMode="auto">
          <a:xfrm>
            <a:off x="316605" y="4173558"/>
            <a:ext cx="6158492" cy="283432"/>
            <a:chOff x="815307" y="4478724"/>
            <a:chExt cx="20787393" cy="793287"/>
          </a:xfrm>
        </p:grpSpPr>
        <p:grpSp>
          <p:nvGrpSpPr>
            <p:cNvPr id="24" name="Group 52">
              <a:extLst>
                <a:ext uri="{FF2B5EF4-FFF2-40B4-BE49-F238E27FC236}">
                  <a16:creationId xmlns:a16="http://schemas.microsoft.com/office/drawing/2014/main" id="{92229142-3C6D-4407-80D8-E1B906388A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906" y="4575124"/>
              <a:ext cx="20659794" cy="696887"/>
              <a:chOff x="412" y="1981"/>
              <a:chExt cx="4994" cy="234"/>
            </a:xfrm>
          </p:grpSpPr>
          <p:sp>
            <p:nvSpPr>
              <p:cNvPr id="27" name="AutoShape 53">
                <a:extLst>
                  <a:ext uri="{FF2B5EF4-FFF2-40B4-BE49-F238E27FC236}">
                    <a16:creationId xmlns:a16="http://schemas.microsoft.com/office/drawing/2014/main" id="{C08416EA-8BFA-4370-8627-4878206C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981"/>
                <a:ext cx="4987" cy="234"/>
              </a:xfrm>
              <a:prstGeom prst="roundRect">
                <a:avLst>
                  <a:gd name="adj" fmla="val 41921"/>
                </a:avLst>
              </a:prstGeom>
              <a:gradFill rotWithShape="1">
                <a:gsLst>
                  <a:gs pos="0">
                    <a:srgbClr val="73E6F8"/>
                  </a:gs>
                  <a:gs pos="100000">
                    <a:srgbClr val="0CAEE6"/>
                  </a:gs>
                </a:gsLst>
                <a:lin ang="5400000" scaled="1"/>
              </a:gradFill>
              <a:ln>
                <a:noFill/>
              </a:ln>
              <a:effectLst>
                <a:prstShdw prst="shdw17" dist="17961" dir="13500000">
                  <a:srgbClr val="0989B7"/>
                </a:prstShdw>
              </a:effectLst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28" name="AutoShape 54">
                <a:extLst>
                  <a:ext uri="{FF2B5EF4-FFF2-40B4-BE49-F238E27FC236}">
                    <a16:creationId xmlns:a16="http://schemas.microsoft.com/office/drawing/2014/main" id="{50BAB2FD-CF7E-44EE-B431-8B391853C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1998"/>
                <a:ext cx="4758" cy="7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bg1">
                      <a:alpha val="89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29" name="AutoShape 55">
                <a:extLst>
                  <a:ext uri="{FF2B5EF4-FFF2-40B4-BE49-F238E27FC236}">
                    <a16:creationId xmlns:a16="http://schemas.microsoft.com/office/drawing/2014/main" id="{A2435A87-9818-444A-8371-591200CB3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" y="1981"/>
                <a:ext cx="4987" cy="234"/>
              </a:xfrm>
              <a:prstGeom prst="roundRect">
                <a:avLst>
                  <a:gd name="adj" fmla="val 4192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 defTabSz="3084513" eaLnBrk="0" hangingPunct="0">
                  <a:spcBef>
                    <a:spcPct val="20000"/>
                  </a:spcBef>
                  <a:buChar char="•"/>
                  <a:defRPr kumimoji="1" sz="151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1541463" indent="-1349375" defTabSz="3084513" eaLnBrk="0" hangingPunct="0">
                  <a:spcBef>
                    <a:spcPct val="20000"/>
                  </a:spcBef>
                  <a:buChar char="–"/>
                  <a:defRPr kumimoji="1" sz="1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3084513" indent="-1079500" defTabSz="3084513" eaLnBrk="0" hangingPunct="0">
                  <a:spcBef>
                    <a:spcPct val="20000"/>
                  </a:spcBef>
                  <a:buChar char="•"/>
                  <a:defRPr kumimoji="1" sz="113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4627563" indent="-1081088" defTabSz="3084513" eaLnBrk="0" hangingPunct="0">
                  <a:spcBef>
                    <a:spcPct val="20000"/>
                  </a:spcBef>
                  <a:buChar char="–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6169025" indent="-1081088" defTabSz="3084513" eaLnBrk="0" hangingPunct="0">
                  <a:spcBef>
                    <a:spcPct val="20000"/>
                  </a:spcBef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66262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70834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75406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79978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en-US" sz="1473" dirty="0"/>
              </a:p>
            </p:txBody>
          </p:sp>
        </p:grpSp>
        <p:sp>
          <p:nvSpPr>
            <p:cNvPr id="25" name="AutoShape 64">
              <a:extLst>
                <a:ext uri="{FF2B5EF4-FFF2-40B4-BE49-F238E27FC236}">
                  <a16:creationId xmlns:a16="http://schemas.microsoft.com/office/drawing/2014/main" id="{6CFDD1A5-F85D-47E7-A4E6-E3F201095F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0000">
              <a:off x="815307" y="4478724"/>
              <a:ext cx="597278" cy="782124"/>
            </a:xfrm>
            <a:prstGeom prst="foldedCorner">
              <a:avLst>
                <a:gd name="adj" fmla="val 25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2700000" scaled="1"/>
            </a:gradFill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32000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14">
                  <a:solidFill>
                    <a:schemeClr val="accent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3</a:t>
              </a:r>
            </a:p>
          </p:txBody>
        </p:sp>
        <p:sp>
          <p:nvSpPr>
            <p:cNvPr id="26" name="Rectangle 69">
              <a:extLst>
                <a:ext uri="{FF2B5EF4-FFF2-40B4-BE49-F238E27FC236}">
                  <a16:creationId xmlns:a16="http://schemas.microsoft.com/office/drawing/2014/main" id="{24F2B445-5F45-42C2-8D8E-26358FAA5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053" y="4575124"/>
              <a:ext cx="3859733" cy="586686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1016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주요기능</a:t>
              </a:r>
              <a:endParaRPr lang="en-US" altLang="ko-KR" sz="1016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5F145E-0A50-45A4-85CA-EE23F069CF8A}"/>
              </a:ext>
            </a:extLst>
          </p:cNvPr>
          <p:cNvSpPr/>
          <p:nvPr/>
        </p:nvSpPr>
        <p:spPr>
          <a:xfrm>
            <a:off x="431913" y="4486823"/>
            <a:ext cx="5999238" cy="1357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99" tIns="9399" rIns="18799" bIns="9399" anchor="ctr"/>
          <a:lstStyle>
            <a:defPPr>
              <a:defRPr lang="ko-KR"/>
            </a:defPPr>
            <a:lvl1pPr marL="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54254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085098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2764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17019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712742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25529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79784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34038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주요기능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출입차량의 기준정보와 출입기록을 토대로 탄소배출량을 나누는 기준에서 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  Scope 1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과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Scope 3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를 구분하여 모니터링 할 수 있음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협력사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운행 목적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공급 고객 등 각 항목별로 조회하여 탄소배출량 </a:t>
            </a:r>
            <a:r>
              <a:rPr lang="ko-KR" altLang="en-US" sz="1200" dirty="0" err="1">
                <a:solidFill>
                  <a:schemeClr val="tx1"/>
                </a:solidFill>
                <a:latin typeface="맑은 고딕" pitchFamily="50" charset="-127"/>
              </a:rPr>
              <a:t>증감량에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원인이 되는 항목을 쉽게 파악하고 관리 할 수 있음 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45" name="Rectangle 206">
            <a:extLst>
              <a:ext uri="{FF2B5EF4-FFF2-40B4-BE49-F238E27FC236}">
                <a16:creationId xmlns:a16="http://schemas.microsoft.com/office/drawing/2014/main" id="{B37D1E1A-8BA1-4B9C-8270-C62374153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143" y="5998432"/>
            <a:ext cx="6073422" cy="2860604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799" tIns="9399" rIns="18799" bIns="9399" anchor="ctr"/>
          <a:lstStyle>
            <a:lvl1pPr latinLnBrk="1">
              <a:spcBef>
                <a:spcPct val="20000"/>
              </a:spcBef>
              <a:buChar char="•"/>
              <a:defRPr kumimoji="1" sz="12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10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753"/>
          </a:p>
        </p:txBody>
      </p:sp>
      <p:grpSp>
        <p:nvGrpSpPr>
          <p:cNvPr id="46" name="그룹 83">
            <a:extLst>
              <a:ext uri="{FF2B5EF4-FFF2-40B4-BE49-F238E27FC236}">
                <a16:creationId xmlns:a16="http://schemas.microsoft.com/office/drawing/2014/main" id="{A9E19F41-051C-42F1-A497-F3CD84513DD2}"/>
              </a:ext>
            </a:extLst>
          </p:cNvPr>
          <p:cNvGrpSpPr>
            <a:grpSpLocks/>
          </p:cNvGrpSpPr>
          <p:nvPr/>
        </p:nvGrpSpPr>
        <p:grpSpPr bwMode="auto">
          <a:xfrm>
            <a:off x="314073" y="5951254"/>
            <a:ext cx="6158492" cy="283432"/>
            <a:chOff x="815307" y="4478724"/>
            <a:chExt cx="20787393" cy="793287"/>
          </a:xfrm>
        </p:grpSpPr>
        <p:grpSp>
          <p:nvGrpSpPr>
            <p:cNvPr id="47" name="Group 52">
              <a:extLst>
                <a:ext uri="{FF2B5EF4-FFF2-40B4-BE49-F238E27FC236}">
                  <a16:creationId xmlns:a16="http://schemas.microsoft.com/office/drawing/2014/main" id="{9F74BF44-11CE-4362-A107-796778D202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906" y="4575124"/>
              <a:ext cx="20659794" cy="696887"/>
              <a:chOff x="412" y="1981"/>
              <a:chExt cx="4994" cy="234"/>
            </a:xfrm>
          </p:grpSpPr>
          <p:sp>
            <p:nvSpPr>
              <p:cNvPr id="50" name="AutoShape 53">
                <a:extLst>
                  <a:ext uri="{FF2B5EF4-FFF2-40B4-BE49-F238E27FC236}">
                    <a16:creationId xmlns:a16="http://schemas.microsoft.com/office/drawing/2014/main" id="{72387BCD-8362-4221-A858-BA6FAC898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981"/>
                <a:ext cx="4987" cy="234"/>
              </a:xfrm>
              <a:prstGeom prst="roundRect">
                <a:avLst>
                  <a:gd name="adj" fmla="val 41921"/>
                </a:avLst>
              </a:prstGeom>
              <a:gradFill rotWithShape="1">
                <a:gsLst>
                  <a:gs pos="0">
                    <a:srgbClr val="73E6F8"/>
                  </a:gs>
                  <a:gs pos="100000">
                    <a:srgbClr val="0CAEE6"/>
                  </a:gs>
                </a:gsLst>
                <a:lin ang="5400000" scaled="1"/>
              </a:gradFill>
              <a:ln>
                <a:noFill/>
              </a:ln>
              <a:effectLst>
                <a:prstShdw prst="shdw17" dist="17961" dir="13500000">
                  <a:srgbClr val="0989B7"/>
                </a:prstShdw>
              </a:effectLst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51" name="AutoShape 54">
                <a:extLst>
                  <a:ext uri="{FF2B5EF4-FFF2-40B4-BE49-F238E27FC236}">
                    <a16:creationId xmlns:a16="http://schemas.microsoft.com/office/drawing/2014/main" id="{F5210536-CC6B-4D77-8AC4-D04C4CBD3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1998"/>
                <a:ext cx="4758" cy="7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bg1">
                      <a:alpha val="89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52" name="AutoShape 55">
                <a:extLst>
                  <a:ext uri="{FF2B5EF4-FFF2-40B4-BE49-F238E27FC236}">
                    <a16:creationId xmlns:a16="http://schemas.microsoft.com/office/drawing/2014/main" id="{BFCA4C63-530E-4B4B-98BC-837E34AA3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" y="1981"/>
                <a:ext cx="4987" cy="234"/>
              </a:xfrm>
              <a:prstGeom prst="roundRect">
                <a:avLst>
                  <a:gd name="adj" fmla="val 4192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 defTabSz="3084513" eaLnBrk="0" hangingPunct="0">
                  <a:spcBef>
                    <a:spcPct val="20000"/>
                  </a:spcBef>
                  <a:buChar char="•"/>
                  <a:defRPr kumimoji="1" sz="151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1541463" indent="-1349375" defTabSz="3084513" eaLnBrk="0" hangingPunct="0">
                  <a:spcBef>
                    <a:spcPct val="20000"/>
                  </a:spcBef>
                  <a:buChar char="–"/>
                  <a:defRPr kumimoji="1" sz="1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3084513" indent="-1079500" defTabSz="3084513" eaLnBrk="0" hangingPunct="0">
                  <a:spcBef>
                    <a:spcPct val="20000"/>
                  </a:spcBef>
                  <a:buChar char="•"/>
                  <a:defRPr kumimoji="1" sz="113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4627563" indent="-1081088" defTabSz="3084513" eaLnBrk="0" hangingPunct="0">
                  <a:spcBef>
                    <a:spcPct val="20000"/>
                  </a:spcBef>
                  <a:buChar char="–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6169025" indent="-1081088" defTabSz="3084513" eaLnBrk="0" hangingPunct="0">
                  <a:spcBef>
                    <a:spcPct val="20000"/>
                  </a:spcBef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66262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70834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75406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79978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en-US" sz="1473"/>
              </a:p>
            </p:txBody>
          </p:sp>
        </p:grpSp>
        <p:sp>
          <p:nvSpPr>
            <p:cNvPr id="48" name="AutoShape 64">
              <a:extLst>
                <a:ext uri="{FF2B5EF4-FFF2-40B4-BE49-F238E27FC236}">
                  <a16:creationId xmlns:a16="http://schemas.microsoft.com/office/drawing/2014/main" id="{027E5C31-3B5C-4D35-8B66-A84E69D961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0000">
              <a:off x="815307" y="4478724"/>
              <a:ext cx="597278" cy="782124"/>
            </a:xfrm>
            <a:prstGeom prst="foldedCorner">
              <a:avLst>
                <a:gd name="adj" fmla="val 25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2700000" scaled="1"/>
            </a:gradFill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32000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14">
                  <a:solidFill>
                    <a:schemeClr val="accent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4</a:t>
              </a:r>
            </a:p>
          </p:txBody>
        </p:sp>
        <p:sp>
          <p:nvSpPr>
            <p:cNvPr id="49" name="Rectangle 69">
              <a:extLst>
                <a:ext uri="{FF2B5EF4-FFF2-40B4-BE49-F238E27FC236}">
                  <a16:creationId xmlns:a16="http://schemas.microsoft.com/office/drawing/2014/main" id="{D43F689F-FAD5-4419-ADB0-F73F3B723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053" y="4575124"/>
              <a:ext cx="3859733" cy="586686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1016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결과물 </a:t>
              </a:r>
              <a:endParaRPr lang="en-US" altLang="ko-KR" sz="1016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F4A9E8C-C26D-43E1-AC6D-01A779F726ED}"/>
              </a:ext>
            </a:extLst>
          </p:cNvPr>
          <p:cNvSpPr/>
          <p:nvPr/>
        </p:nvSpPr>
        <p:spPr>
          <a:xfrm>
            <a:off x="429381" y="6323308"/>
            <a:ext cx="5999238" cy="2498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99" tIns="9399" rIns="18799" bIns="9399" anchor="ctr"/>
          <a:lstStyle>
            <a:defPPr>
              <a:defRPr lang="ko-KR"/>
            </a:defPPr>
            <a:lvl1pPr marL="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54254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085098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2764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17019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712742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25529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79784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34038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endParaRPr lang="en-US" altLang="ko-KR" sz="121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21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 descr="텍스트, 스크린샷, 멀티미디어 소프트웨어, 소프트웨어이(가) 표시된 사진">
            <a:extLst>
              <a:ext uri="{FF2B5EF4-FFF2-40B4-BE49-F238E27FC236}">
                <a16:creationId xmlns:a16="http://schemas.microsoft.com/office/drawing/2014/main" id="{566CCD9D-3116-0329-9EA1-CC8327A0C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56" y="6323308"/>
            <a:ext cx="5516004" cy="249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77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532</TotalTime>
  <Words>139</Words>
  <Application>Microsoft Office PowerPoint</Application>
  <PresentationFormat>화면 슬라이드 쇼(4:3)</PresentationFormat>
  <Paragraphs>23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HY견고딕</vt:lpstr>
      <vt:lpstr>HY헤드라인M</vt:lpstr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pland</dc:creator>
  <cp:lastModifiedBy>석민 홍</cp:lastModifiedBy>
  <cp:revision>53</cp:revision>
  <cp:lastPrinted>2026-01-05T11:29:44Z</cp:lastPrinted>
  <dcterms:created xsi:type="dcterms:W3CDTF">2023-09-26T07:30:27Z</dcterms:created>
  <dcterms:modified xsi:type="dcterms:W3CDTF">2026-01-09T08:48:40Z</dcterms:modified>
</cp:coreProperties>
</file>